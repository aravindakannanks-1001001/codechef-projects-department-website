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presentation.xml" ContentType="application/vnd.openxmlformats-officedocument.presentationml.presentation.main+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71" r:id="rId110"/>
    <p:sldId id="367" r:id="rId111"/>
    <p:sldId id="368" r:id="rId112"/>
    <p:sldId id="369" r:id="rId113"/>
    <p:sldId id="370" r:id="rId114"/>
    <p:sldId id="364" r:id="rId115"/>
    <p:sldId id="365" r:id="rId116"/>
    <p:sldId id="366" r:id="rId1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27"/>
  </p:normalViewPr>
  <p:slideViewPr>
    <p:cSldViewPr>
      <p:cViewPr varScale="1">
        <p:scale>
          <a:sx n="93" d="100"/>
          <a:sy n="93" d="100"/>
        </p:scale>
        <p:origin x="456"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customXml" Target="../customXml/item2.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customXml" Target="../customXml/item3.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2/19/24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2/19/24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2/19/24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2/19/24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JavaScript</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Introduction</a:t>
            </a:r>
            <a:endParaRPr lang="en-US" dirty="0"/>
          </a:p>
        </p:txBody>
      </p:sp>
      <p:sp>
        <p:nvSpPr>
          <p:cNvPr id="3" name="Content Placeholder 2"/>
          <p:cNvSpPr>
            <a:spLocks noGrp="1"/>
          </p:cNvSpPr>
          <p:nvPr>
            <p:ph idx="1"/>
          </p:nvPr>
        </p:nvSpPr>
        <p:spPr/>
        <p:txBody>
          <a:bodyPr/>
          <a:lstStyle/>
          <a:p>
            <a:pPr algn="just"/>
            <a:r>
              <a:rPr lang="en-US" dirty="0"/>
              <a:t>JavaScript is the world's most popular programming language. It is the language for HTML and the web, for servers, PCs, laptops, tablets, smart phones, and more.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is a Scripting Language</a:t>
            </a:r>
            <a:endParaRPr lang="en-US" dirty="0"/>
          </a:p>
        </p:txBody>
      </p:sp>
      <p:sp>
        <p:nvSpPr>
          <p:cNvPr id="3" name="Content Placeholder 2"/>
          <p:cNvSpPr>
            <a:spLocks noGrp="1"/>
          </p:cNvSpPr>
          <p:nvPr>
            <p:ph idx="1"/>
          </p:nvPr>
        </p:nvSpPr>
        <p:spPr/>
        <p:txBody>
          <a:bodyPr/>
          <a:lstStyle/>
          <a:p>
            <a:pPr algn="just"/>
            <a:r>
              <a:rPr lang="en-US" dirty="0"/>
              <a:t>A scripting language is a lightweight programming language.</a:t>
            </a:r>
          </a:p>
          <a:p>
            <a:pPr algn="just"/>
            <a:r>
              <a:rPr lang="en-US" dirty="0"/>
              <a:t>JavaScript is programming code that can be inserted into HTML pages.</a:t>
            </a:r>
          </a:p>
          <a:p>
            <a:pPr algn="just"/>
            <a:r>
              <a:rPr lang="en-US" dirty="0"/>
              <a:t>JavaScript inserted into HTML pages, can be executed by all modern web browsers. </a:t>
            </a:r>
          </a:p>
          <a:p>
            <a:pPr algn="just"/>
            <a:r>
              <a:rPr lang="en-US" dirty="0"/>
              <a:t>JavaScript is easy to learn.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JavaScript: Writing Into HTML Output</a:t>
            </a:r>
            <a:endParaRPr lang="en-US" dirty="0"/>
          </a:p>
        </p:txBody>
      </p:sp>
      <p:sp>
        <p:nvSpPr>
          <p:cNvPr id="3" name="Content Placeholder 2"/>
          <p:cNvSpPr>
            <a:spLocks noGrp="1"/>
          </p:cNvSpPr>
          <p:nvPr>
            <p:ph idx="1"/>
          </p:nvPr>
        </p:nvSpPr>
        <p:spPr/>
        <p:txBody>
          <a:bodyPr/>
          <a:lstStyle/>
          <a:p>
            <a:pPr>
              <a:buNone/>
            </a:pPr>
            <a:r>
              <a:rPr lang="en-US" b="1" dirty="0"/>
              <a:t>    Example</a:t>
            </a:r>
          </a:p>
          <a:p>
            <a:r>
              <a:rPr lang="en-US" sz="2800" dirty="0" err="1"/>
              <a:t>document.write</a:t>
            </a:r>
            <a:r>
              <a:rPr lang="en-US" sz="2800" dirty="0"/>
              <a:t>("&lt;h1&gt;This is a heading&lt;/h1&gt;"); </a:t>
            </a:r>
            <a:br>
              <a:rPr lang="en-US" sz="2800" dirty="0"/>
            </a:br>
            <a:r>
              <a:rPr lang="en-US" sz="2800" dirty="0" err="1"/>
              <a:t>document.write</a:t>
            </a:r>
            <a:r>
              <a:rPr lang="en-US" sz="2800" dirty="0"/>
              <a:t>("&lt;p&gt;This is a paragraph&lt;/p&gt;");</a:t>
            </a:r>
          </a:p>
          <a:p>
            <a:endParaRPr lang="en-US" sz="2800" dirty="0"/>
          </a:p>
          <a:p>
            <a:pPr algn="just"/>
            <a:r>
              <a:rPr lang="en-US" dirty="0"/>
              <a:t>You can only use </a:t>
            </a:r>
            <a:r>
              <a:rPr lang="en-US" dirty="0" err="1"/>
              <a:t>document.write</a:t>
            </a:r>
            <a:r>
              <a:rPr lang="en-US" dirty="0"/>
              <a:t> in the HTML output. If you use it after the document has loaded, the whole document will be overwritten. </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Reacting to Events</a:t>
            </a:r>
            <a:endParaRPr lang="en-US" dirty="0"/>
          </a:p>
        </p:txBody>
      </p:sp>
      <p:sp>
        <p:nvSpPr>
          <p:cNvPr id="3" name="Content Placeholder 2"/>
          <p:cNvSpPr>
            <a:spLocks noGrp="1"/>
          </p:cNvSpPr>
          <p:nvPr>
            <p:ph idx="1"/>
          </p:nvPr>
        </p:nvSpPr>
        <p:spPr/>
        <p:txBody>
          <a:bodyPr>
            <a:normAutofit/>
          </a:bodyPr>
          <a:lstStyle/>
          <a:p>
            <a:r>
              <a:rPr lang="en-US" sz="2800" dirty="0"/>
              <a:t>&lt;button type="button" </a:t>
            </a:r>
            <a:r>
              <a:rPr lang="en-US" sz="2800" dirty="0" err="1"/>
              <a:t>onclick</a:t>
            </a:r>
            <a:r>
              <a:rPr lang="en-US" sz="2800" dirty="0"/>
              <a:t>="alert('Welcome!')"&gt;Click Me!&lt;/button&gt;</a:t>
            </a:r>
          </a:p>
          <a:p>
            <a:endParaRPr lang="en-US" sz="2800" dirty="0"/>
          </a:p>
          <a:p>
            <a:endParaRPr lang="en-US" sz="2800" dirty="0"/>
          </a:p>
          <a:p>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JavaScript: Changing HTML Content</a:t>
            </a:r>
            <a:endParaRPr lang="en-US" dirty="0"/>
          </a:p>
        </p:txBody>
      </p:sp>
      <p:sp>
        <p:nvSpPr>
          <p:cNvPr id="3" name="Content Placeholder 2"/>
          <p:cNvSpPr>
            <a:spLocks noGrp="1"/>
          </p:cNvSpPr>
          <p:nvPr>
            <p:ph idx="1"/>
          </p:nvPr>
        </p:nvSpPr>
        <p:spPr/>
        <p:txBody>
          <a:bodyPr>
            <a:normAutofit lnSpcReduction="10000"/>
          </a:bodyPr>
          <a:lstStyle/>
          <a:p>
            <a:pPr algn="just"/>
            <a:r>
              <a:rPr lang="en-US" dirty="0"/>
              <a:t>Using JavaScript to manipulate the content of HTML elements is a very powerful functionality.</a:t>
            </a:r>
          </a:p>
          <a:p>
            <a:pPr algn="just"/>
            <a:r>
              <a:rPr lang="en-US" dirty="0"/>
              <a:t>You will often see </a:t>
            </a:r>
            <a:r>
              <a:rPr lang="en-US" b="1" dirty="0" err="1"/>
              <a:t>document.getElementById</a:t>
            </a:r>
            <a:r>
              <a:rPr lang="en-US" b="1" dirty="0"/>
              <a:t>("</a:t>
            </a:r>
            <a:r>
              <a:rPr lang="en-US" b="1" i="1" dirty="0"/>
              <a:t>some id</a:t>
            </a:r>
            <a:r>
              <a:rPr lang="en-US" b="1" dirty="0"/>
              <a:t>")</a:t>
            </a:r>
            <a:r>
              <a:rPr lang="en-US" dirty="0"/>
              <a:t>. This is defined in the HTML DOM.</a:t>
            </a:r>
          </a:p>
          <a:p>
            <a:pPr algn="just"/>
            <a:r>
              <a:rPr lang="en-US" dirty="0"/>
              <a:t>The DOM (</a:t>
            </a:r>
            <a:r>
              <a:rPr lang="en-US" b="1" dirty="0"/>
              <a:t>D</a:t>
            </a:r>
            <a:r>
              <a:rPr lang="en-US" dirty="0"/>
              <a:t>ocument </a:t>
            </a:r>
            <a:r>
              <a:rPr lang="en-US" b="1" dirty="0"/>
              <a:t>O</a:t>
            </a:r>
            <a:r>
              <a:rPr lang="en-US" dirty="0"/>
              <a:t>bject </a:t>
            </a:r>
            <a:r>
              <a:rPr lang="en-US" b="1" dirty="0"/>
              <a:t>M</a:t>
            </a:r>
            <a:r>
              <a:rPr lang="en-US" dirty="0"/>
              <a:t>odel) is the official W3C standard for accessing HTML elements. </a:t>
            </a:r>
          </a:p>
          <a:p>
            <a:pPr algn="just"/>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Changing HTML Images</a:t>
            </a:r>
            <a:endParaRPr lang="en-US" dirty="0"/>
          </a:p>
        </p:txBody>
      </p:sp>
      <p:sp>
        <p:nvSpPr>
          <p:cNvPr id="3" name="Content Placeholder 2"/>
          <p:cNvSpPr>
            <a:spLocks noGrp="1"/>
          </p:cNvSpPr>
          <p:nvPr>
            <p:ph idx="1"/>
          </p:nvPr>
        </p:nvSpPr>
        <p:spPr/>
        <p:txBody>
          <a:bodyPr/>
          <a:lstStyle/>
          <a:p>
            <a:pPr algn="just"/>
            <a:r>
              <a:rPr lang="en-US" dirty="0"/>
              <a:t>This example dynamically changes the source (</a:t>
            </a:r>
            <a:r>
              <a:rPr lang="en-US" dirty="0" err="1"/>
              <a:t>src</a:t>
            </a:r>
            <a:r>
              <a:rPr lang="en-US" dirty="0"/>
              <a:t>) attribute of an HTML &lt;image&gt; element</a:t>
            </a:r>
          </a:p>
          <a:p>
            <a:pPr algn="just"/>
            <a:r>
              <a:rPr lang="en-US" dirty="0"/>
              <a:t>JavaScript can change most of the attributes of any HTML element, not only images.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Changing HTML Styles</a:t>
            </a:r>
            <a:endParaRPr lang="en-US" dirty="0"/>
          </a:p>
        </p:txBody>
      </p:sp>
      <p:sp>
        <p:nvSpPr>
          <p:cNvPr id="3" name="Content Placeholder 2"/>
          <p:cNvSpPr>
            <a:spLocks noGrp="1"/>
          </p:cNvSpPr>
          <p:nvPr>
            <p:ph idx="1"/>
          </p:nvPr>
        </p:nvSpPr>
        <p:spPr/>
        <p:txBody>
          <a:bodyPr/>
          <a:lstStyle/>
          <a:p>
            <a:pPr algn="just"/>
            <a:r>
              <a:rPr lang="en-US" dirty="0"/>
              <a:t>Changing the style of an HTML element, is a variant of changing an HTML attribute. </a:t>
            </a:r>
          </a:p>
          <a:p>
            <a:r>
              <a:rPr lang="en-US" b="1" dirty="0"/>
              <a:t>Example</a:t>
            </a:r>
          </a:p>
          <a:p>
            <a:r>
              <a:rPr lang="en-US" dirty="0"/>
              <a:t>x=</a:t>
            </a:r>
            <a:r>
              <a:rPr lang="en-US" dirty="0" err="1"/>
              <a:t>document.getElementById</a:t>
            </a:r>
            <a:r>
              <a:rPr lang="en-US" dirty="0"/>
              <a:t>("demo")  //Find the element </a:t>
            </a:r>
            <a:br>
              <a:rPr lang="en-US" dirty="0"/>
            </a:br>
            <a:r>
              <a:rPr lang="en-US" dirty="0" err="1"/>
              <a:t>x.style.color</a:t>
            </a:r>
            <a:r>
              <a:rPr lang="en-US" dirty="0"/>
              <a:t>="#ff0000";           //Change the style</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Validate Input</a:t>
            </a:r>
            <a:endParaRPr lang="en-US" dirty="0"/>
          </a:p>
        </p:txBody>
      </p:sp>
      <p:sp>
        <p:nvSpPr>
          <p:cNvPr id="3" name="Content Placeholder 2"/>
          <p:cNvSpPr>
            <a:spLocks noGrp="1"/>
          </p:cNvSpPr>
          <p:nvPr>
            <p:ph idx="1"/>
          </p:nvPr>
        </p:nvSpPr>
        <p:spPr/>
        <p:txBody>
          <a:bodyPr/>
          <a:lstStyle/>
          <a:p>
            <a:pPr algn="just"/>
            <a:r>
              <a:rPr lang="en-US" dirty="0"/>
              <a:t>JavaScript is commonly used to validate input.</a:t>
            </a:r>
          </a:p>
          <a:p>
            <a:pPr>
              <a:buNone/>
            </a:pPr>
            <a:r>
              <a:rPr lang="en-US" b="1" dirty="0"/>
              <a:t>    Example</a:t>
            </a:r>
          </a:p>
          <a:p>
            <a:r>
              <a:rPr lang="en-US" dirty="0"/>
              <a:t>if </a:t>
            </a:r>
            <a:r>
              <a:rPr lang="en-US" dirty="0" err="1"/>
              <a:t>isNaN</a:t>
            </a:r>
            <a:r>
              <a:rPr lang="en-US" dirty="0"/>
              <a:t>(x) {alert("Not Numeric")};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Did You Know?</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t>JavaScript and Java are two completely different languages, in both concept and design.</a:t>
            </a:r>
            <a:br>
              <a:rPr lang="en-US" dirty="0"/>
            </a:br>
            <a:r>
              <a:rPr lang="en-US" dirty="0"/>
              <a:t>Java (invented by Sun) is a more complex programming language in the same category as C.</a:t>
            </a:r>
            <a:br>
              <a:rPr lang="en-US" dirty="0"/>
            </a:br>
            <a:endParaRPr lang="en-US" dirty="0"/>
          </a:p>
          <a:p>
            <a:r>
              <a:rPr lang="en-US" dirty="0"/>
              <a:t>ECMA-262 is the official name of the JavaScript standard.</a:t>
            </a:r>
            <a:br>
              <a:rPr lang="en-US" dirty="0"/>
            </a:br>
            <a:endParaRPr lang="en-US" dirty="0"/>
          </a:p>
          <a:p>
            <a:pPr algn="just"/>
            <a:r>
              <a:rPr lang="en-US" dirty="0"/>
              <a:t>JavaScript was invented by Brendan </a:t>
            </a:r>
            <a:r>
              <a:rPr lang="en-US" dirty="0" err="1"/>
              <a:t>Eich</a:t>
            </a:r>
            <a:r>
              <a:rPr lang="en-US" dirty="0"/>
              <a:t>. It appeared in Netscape (a no longer existing browser) in 1995, and has been adopted by ECMA (a standard association) since 1997.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How To</a:t>
            </a:r>
            <a:endParaRPr lang="en-US" dirty="0"/>
          </a:p>
        </p:txBody>
      </p:sp>
      <p:sp>
        <p:nvSpPr>
          <p:cNvPr id="3" name="Content Placeholder 2"/>
          <p:cNvSpPr>
            <a:spLocks noGrp="1"/>
          </p:cNvSpPr>
          <p:nvPr>
            <p:ph idx="1"/>
          </p:nvPr>
        </p:nvSpPr>
        <p:spPr/>
        <p:txBody>
          <a:bodyPr/>
          <a:lstStyle/>
          <a:p>
            <a:pPr algn="just"/>
            <a:r>
              <a:rPr lang="en-US" dirty="0" err="1"/>
              <a:t>JavaScripts</a:t>
            </a:r>
            <a:r>
              <a:rPr lang="en-US" dirty="0"/>
              <a:t> in HTML must be inserted between &lt;script&gt; and &lt;/script&gt; tags.</a:t>
            </a:r>
          </a:p>
          <a:p>
            <a:pPr algn="just"/>
            <a:r>
              <a:rPr lang="en-US" dirty="0" err="1"/>
              <a:t>JavaScripts</a:t>
            </a:r>
            <a:r>
              <a:rPr lang="en-US" dirty="0"/>
              <a:t> can be put in the &lt;body&gt; and in the &lt;head&gt; section of an HTML page.</a:t>
            </a:r>
          </a:p>
          <a:p>
            <a:pPr algn="just"/>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&lt;script&gt; Tag</a:t>
            </a:r>
            <a:endParaRPr lang="en-US" dirty="0"/>
          </a:p>
        </p:txBody>
      </p:sp>
      <p:sp>
        <p:nvSpPr>
          <p:cNvPr id="3" name="Content Placeholder 2"/>
          <p:cNvSpPr>
            <a:spLocks noGrp="1"/>
          </p:cNvSpPr>
          <p:nvPr>
            <p:ph idx="1"/>
          </p:nvPr>
        </p:nvSpPr>
        <p:spPr/>
        <p:txBody>
          <a:bodyPr>
            <a:normAutofit/>
          </a:bodyPr>
          <a:lstStyle/>
          <a:p>
            <a:pPr algn="just"/>
            <a:r>
              <a:rPr lang="en-US" dirty="0"/>
              <a:t>To insert a JavaScript into an HTML page, use the &lt;script&gt; tag.</a:t>
            </a:r>
          </a:p>
          <a:p>
            <a:pPr algn="just"/>
            <a:r>
              <a:rPr lang="en-US" dirty="0"/>
              <a:t>The &lt;script&gt; and &lt;/script&gt; tells where the JavaScript starts and ends.</a:t>
            </a:r>
          </a:p>
          <a:p>
            <a:pPr algn="just"/>
            <a:r>
              <a:rPr lang="en-US" dirty="0"/>
              <a:t>The lines between the &lt;script&gt; and &lt;/script&gt; contain the JavaScript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&lt;script&gt; Tag</a:t>
            </a:r>
            <a:endParaRPr lang="en-US" dirty="0"/>
          </a:p>
        </p:txBody>
      </p:sp>
      <p:sp>
        <p:nvSpPr>
          <p:cNvPr id="3" name="Content Placeholder 2"/>
          <p:cNvSpPr>
            <a:spLocks noGrp="1"/>
          </p:cNvSpPr>
          <p:nvPr>
            <p:ph idx="1"/>
          </p:nvPr>
        </p:nvSpPr>
        <p:spPr/>
        <p:txBody>
          <a:bodyPr/>
          <a:lstStyle/>
          <a:p>
            <a:r>
              <a:rPr lang="en-US" dirty="0"/>
              <a:t>&lt;script&gt;</a:t>
            </a:r>
            <a:br>
              <a:rPr lang="en-US" dirty="0"/>
            </a:br>
            <a:r>
              <a:rPr lang="en-US" dirty="0"/>
              <a:t>alert("My First JavaScript");</a:t>
            </a:r>
            <a:br>
              <a:rPr lang="en-US" dirty="0"/>
            </a:br>
            <a:r>
              <a:rPr lang="en-US" dirty="0"/>
              <a:t>&lt;/script&gt;</a:t>
            </a:r>
          </a:p>
          <a:p>
            <a:pPr algn="just"/>
            <a:r>
              <a:rPr lang="en-US" dirty="0"/>
              <a:t>You don't have to understand the code above. Just take it for a fact, that the browser will interpret and execute the JavaScript code between the &lt;script&gt; and &lt;/script&gt; tags.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&lt;script&gt; Tag</a:t>
            </a:r>
            <a:endParaRPr lang="en-US" dirty="0"/>
          </a:p>
        </p:txBody>
      </p:sp>
      <p:sp>
        <p:nvSpPr>
          <p:cNvPr id="3" name="Content Placeholder 2"/>
          <p:cNvSpPr>
            <a:spLocks noGrp="1"/>
          </p:cNvSpPr>
          <p:nvPr>
            <p:ph idx="1"/>
          </p:nvPr>
        </p:nvSpPr>
        <p:spPr/>
        <p:txBody>
          <a:bodyPr/>
          <a:lstStyle/>
          <a:p>
            <a:pPr algn="just"/>
            <a:r>
              <a:rPr lang="en-US" dirty="0"/>
              <a:t>Note: Old examples may have type="text/</a:t>
            </a:r>
            <a:r>
              <a:rPr lang="en-US" dirty="0" err="1"/>
              <a:t>javascript</a:t>
            </a:r>
            <a:r>
              <a:rPr lang="en-US" dirty="0"/>
              <a:t>" in the &lt;script&gt; tag. This is no longer required. JavaScript is the default scripting language in all modern browsers and in HTML5.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in &lt;body&gt;</a:t>
            </a:r>
            <a:endParaRPr lang="en-US" dirty="0"/>
          </a:p>
        </p:txBody>
      </p:sp>
      <p:sp>
        <p:nvSpPr>
          <p:cNvPr id="3" name="Content Placeholder 2"/>
          <p:cNvSpPr>
            <a:spLocks noGrp="1"/>
          </p:cNvSpPr>
          <p:nvPr>
            <p:ph idx="1"/>
          </p:nvPr>
        </p:nvSpPr>
        <p:spPr/>
        <p:txBody>
          <a:bodyPr>
            <a:normAutofit fontScale="70000" lnSpcReduction="20000"/>
          </a:bodyPr>
          <a:lstStyle/>
          <a:p>
            <a:r>
              <a:rPr lang="en-US" dirty="0"/>
              <a:t>In this example, JavaScript writes into the HTML &lt;body&gt; while the page loads:</a:t>
            </a:r>
          </a:p>
          <a:p>
            <a:r>
              <a:rPr lang="en-US" dirty="0"/>
              <a:t>&lt;!DOCTYPE html&gt;</a:t>
            </a:r>
            <a:br>
              <a:rPr lang="en-US" dirty="0"/>
            </a:br>
            <a:r>
              <a:rPr lang="en-US" dirty="0"/>
              <a:t>&lt;html&gt;</a:t>
            </a:r>
            <a:br>
              <a:rPr lang="en-US" dirty="0"/>
            </a:br>
            <a:r>
              <a:rPr lang="en-US" dirty="0"/>
              <a:t>&lt;body&gt;</a:t>
            </a:r>
            <a:br>
              <a:rPr lang="en-US" dirty="0"/>
            </a:br>
            <a:r>
              <a:rPr lang="en-US" dirty="0"/>
              <a:t>.</a:t>
            </a:r>
            <a:br>
              <a:rPr lang="en-US" dirty="0"/>
            </a:br>
            <a:r>
              <a:rPr lang="en-US" dirty="0"/>
              <a:t>.</a:t>
            </a:r>
            <a:br>
              <a:rPr lang="en-US" dirty="0"/>
            </a:br>
            <a:r>
              <a:rPr lang="en-US" dirty="0"/>
              <a:t>&lt;script&gt;</a:t>
            </a:r>
            <a:br>
              <a:rPr lang="en-US" dirty="0"/>
            </a:br>
            <a:r>
              <a:rPr lang="en-US" dirty="0" err="1"/>
              <a:t>document.write</a:t>
            </a:r>
            <a:r>
              <a:rPr lang="en-US" dirty="0"/>
              <a:t>("&lt;h1&gt;This is a heading&lt;/h1&gt;");</a:t>
            </a:r>
            <a:br>
              <a:rPr lang="en-US" dirty="0"/>
            </a:br>
            <a:r>
              <a:rPr lang="en-US" dirty="0" err="1"/>
              <a:t>document.write</a:t>
            </a:r>
            <a:r>
              <a:rPr lang="en-US" dirty="0"/>
              <a:t>("&lt;p&gt;This is a paragraph&lt;/p&gt;");</a:t>
            </a:r>
            <a:br>
              <a:rPr lang="en-US" dirty="0"/>
            </a:br>
            <a:r>
              <a:rPr lang="en-US" dirty="0"/>
              <a:t>&lt;/script&gt;</a:t>
            </a:r>
            <a:br>
              <a:rPr lang="en-US" dirty="0"/>
            </a:br>
            <a:r>
              <a:rPr lang="en-US" dirty="0"/>
              <a:t>.</a:t>
            </a:r>
            <a:br>
              <a:rPr lang="en-US" dirty="0"/>
            </a:br>
            <a:r>
              <a:rPr lang="en-US" dirty="0"/>
              <a:t>.</a:t>
            </a:r>
            <a:br>
              <a:rPr lang="en-US" dirty="0"/>
            </a:br>
            <a:r>
              <a:rPr lang="en-US" dirty="0"/>
              <a:t>&lt;/body&gt;</a:t>
            </a:r>
            <a:br>
              <a:rPr lang="en-US" dirty="0"/>
            </a:br>
            <a:r>
              <a:rPr lang="en-US" dirty="0"/>
              <a:t>&lt;/html&gt;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Functions and Events</a:t>
            </a:r>
            <a:endParaRPr lang="en-US" dirty="0"/>
          </a:p>
        </p:txBody>
      </p:sp>
      <p:sp>
        <p:nvSpPr>
          <p:cNvPr id="3" name="Content Placeholder 2"/>
          <p:cNvSpPr>
            <a:spLocks noGrp="1"/>
          </p:cNvSpPr>
          <p:nvPr>
            <p:ph idx="1"/>
          </p:nvPr>
        </p:nvSpPr>
        <p:spPr/>
        <p:txBody>
          <a:bodyPr/>
          <a:lstStyle/>
          <a:p>
            <a:pPr algn="just"/>
            <a:r>
              <a:rPr lang="en-US" dirty="0"/>
              <a:t>The JavaScript statements in the example above, are executed while the page loads.</a:t>
            </a:r>
          </a:p>
          <a:p>
            <a:pPr algn="just"/>
            <a:r>
              <a:rPr lang="en-US" dirty="0"/>
              <a:t>More often, we want to execute code when an </a:t>
            </a:r>
            <a:r>
              <a:rPr lang="en-US" b="1" dirty="0"/>
              <a:t>event</a:t>
            </a:r>
            <a:r>
              <a:rPr lang="en-US" dirty="0"/>
              <a:t> occurs, like when the user clicks a button.</a:t>
            </a:r>
          </a:p>
          <a:p>
            <a:pPr algn="just"/>
            <a:r>
              <a:rPr lang="en-US" dirty="0"/>
              <a:t>If we put JavaScript code inside a </a:t>
            </a:r>
            <a:r>
              <a:rPr lang="en-US" b="1" dirty="0"/>
              <a:t>function</a:t>
            </a:r>
            <a:r>
              <a:rPr lang="en-US" dirty="0"/>
              <a:t>, we can call that function when an event occurs.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in &lt;head&gt; or &lt;body&gt;</a:t>
            </a:r>
            <a:endParaRPr lang="en-US" dirty="0"/>
          </a:p>
        </p:txBody>
      </p:sp>
      <p:sp>
        <p:nvSpPr>
          <p:cNvPr id="3" name="Content Placeholder 2"/>
          <p:cNvSpPr>
            <a:spLocks noGrp="1"/>
          </p:cNvSpPr>
          <p:nvPr>
            <p:ph idx="1"/>
          </p:nvPr>
        </p:nvSpPr>
        <p:spPr/>
        <p:txBody>
          <a:bodyPr/>
          <a:lstStyle/>
          <a:p>
            <a:pPr algn="just"/>
            <a:r>
              <a:rPr lang="en-US" dirty="0"/>
              <a:t>You can place an unlimited number of scripts in an HTML document.</a:t>
            </a:r>
          </a:p>
          <a:p>
            <a:pPr algn="just"/>
            <a:r>
              <a:rPr lang="en-US" dirty="0"/>
              <a:t>Scripts can be in the &lt;body&gt; or in the &lt;head&gt; section of HTML, and/or in both.</a:t>
            </a:r>
          </a:p>
          <a:p>
            <a:pPr algn="just"/>
            <a:r>
              <a:rPr lang="en-US" dirty="0"/>
              <a:t>It is a common practice to put functions in the &lt;head&gt; section, or at the bottom of the page. This way they are all in one place and do not interfere with page content.</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 JavaScript Function in &lt;head&gt;</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a:t>&lt;!DOCTYPE html&gt;</a:t>
            </a:r>
          </a:p>
          <a:p>
            <a:pPr>
              <a:buNone/>
            </a:pPr>
            <a:r>
              <a:rPr lang="en-US" dirty="0"/>
              <a:t>&lt;html&gt;</a:t>
            </a:r>
          </a:p>
          <a:p>
            <a:pPr>
              <a:buNone/>
            </a:pPr>
            <a:r>
              <a:rPr lang="en-US" dirty="0"/>
              <a:t>&lt;head&gt;</a:t>
            </a:r>
            <a:br>
              <a:rPr lang="en-US" dirty="0"/>
            </a:br>
            <a:r>
              <a:rPr lang="en-US" dirty="0"/>
              <a:t>&lt;script&gt;</a:t>
            </a:r>
            <a:br>
              <a:rPr lang="en-US" dirty="0"/>
            </a:br>
            <a:r>
              <a:rPr lang="en-US" dirty="0"/>
              <a:t>function </a:t>
            </a:r>
            <a:r>
              <a:rPr lang="en-US" dirty="0" err="1"/>
              <a:t>myFunction</a:t>
            </a:r>
            <a:r>
              <a:rPr lang="en-US" dirty="0"/>
              <a:t>()</a:t>
            </a:r>
            <a:br>
              <a:rPr lang="en-US" dirty="0"/>
            </a:br>
            <a:r>
              <a:rPr lang="en-US" dirty="0"/>
              <a:t>{</a:t>
            </a:r>
            <a:br>
              <a:rPr lang="en-US" dirty="0"/>
            </a:br>
            <a:r>
              <a:rPr lang="en-US" dirty="0" err="1"/>
              <a:t>document.getElementById</a:t>
            </a:r>
            <a:r>
              <a:rPr lang="en-US" dirty="0"/>
              <a:t>("demo").</a:t>
            </a:r>
            <a:r>
              <a:rPr lang="en-US" dirty="0" err="1"/>
              <a:t>innerHTML</a:t>
            </a:r>
            <a:r>
              <a:rPr lang="en-US" dirty="0"/>
              <a:t>="My First JavaScript Function";</a:t>
            </a:r>
            <a:br>
              <a:rPr lang="en-US" dirty="0"/>
            </a:br>
            <a:r>
              <a:rPr lang="en-US" dirty="0"/>
              <a:t>}</a:t>
            </a:r>
            <a:br>
              <a:rPr lang="en-US" dirty="0"/>
            </a:br>
            <a:r>
              <a:rPr lang="en-US" dirty="0"/>
              <a:t>&lt;/script&gt;</a:t>
            </a:r>
          </a:p>
          <a:p>
            <a:pPr>
              <a:buNone/>
            </a:pPr>
            <a:r>
              <a:rPr lang="en-US" dirty="0"/>
              <a:t>&lt;/head&gt;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JavaScript Function in &lt;head&gt;</a:t>
            </a:r>
            <a:endParaRPr lang="en-US" dirty="0"/>
          </a:p>
        </p:txBody>
      </p:sp>
      <p:sp>
        <p:nvSpPr>
          <p:cNvPr id="3" name="Content Placeholder 2"/>
          <p:cNvSpPr>
            <a:spLocks noGrp="1"/>
          </p:cNvSpPr>
          <p:nvPr>
            <p:ph idx="1"/>
          </p:nvPr>
        </p:nvSpPr>
        <p:spPr/>
        <p:txBody>
          <a:bodyPr/>
          <a:lstStyle/>
          <a:p>
            <a:pPr>
              <a:buNone/>
            </a:pPr>
            <a:r>
              <a:rPr lang="en-US" dirty="0"/>
              <a:t>&lt;body&gt;</a:t>
            </a:r>
          </a:p>
          <a:p>
            <a:pPr>
              <a:buNone/>
            </a:pPr>
            <a:r>
              <a:rPr lang="en-US" dirty="0"/>
              <a:t>&lt;h1&gt;My Web Page&lt;/h1&gt;</a:t>
            </a:r>
          </a:p>
          <a:p>
            <a:pPr>
              <a:buNone/>
            </a:pPr>
            <a:r>
              <a:rPr lang="en-US" dirty="0"/>
              <a:t>&lt;p id="demo"&gt;A Paragraph&lt;/p&gt;</a:t>
            </a:r>
          </a:p>
          <a:p>
            <a:pPr>
              <a:buNone/>
            </a:pPr>
            <a:r>
              <a:rPr lang="en-US" dirty="0"/>
              <a:t>&lt;button type="button" </a:t>
            </a:r>
            <a:r>
              <a:rPr lang="en-US" dirty="0" err="1"/>
              <a:t>onclick</a:t>
            </a:r>
            <a:r>
              <a:rPr lang="en-US" dirty="0"/>
              <a:t>="</a:t>
            </a:r>
            <a:r>
              <a:rPr lang="en-US" dirty="0" err="1"/>
              <a:t>myFunction</a:t>
            </a:r>
            <a:r>
              <a:rPr lang="en-US" dirty="0"/>
              <a:t>()"&gt;Try it&lt;/button&gt;</a:t>
            </a:r>
          </a:p>
          <a:p>
            <a:pPr>
              <a:buNone/>
            </a:pPr>
            <a:r>
              <a:rPr lang="en-US" dirty="0"/>
              <a:t>&lt;/body&gt;</a:t>
            </a:r>
            <a:br>
              <a:rPr lang="en-US" dirty="0"/>
            </a:br>
            <a:r>
              <a:rPr lang="en-US" dirty="0"/>
              <a:t>&lt;/html&gt;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 JavaScript Function in &lt;body&gt;</a:t>
            </a:r>
            <a:endParaRPr lang="en-US" dirty="0"/>
          </a:p>
        </p:txBody>
      </p:sp>
      <p:sp>
        <p:nvSpPr>
          <p:cNvPr id="3" name="Content Placeholder 2"/>
          <p:cNvSpPr>
            <a:spLocks noGrp="1"/>
          </p:cNvSpPr>
          <p:nvPr>
            <p:ph idx="1"/>
          </p:nvPr>
        </p:nvSpPr>
        <p:spPr/>
        <p:txBody>
          <a:bodyPr/>
          <a:lstStyle/>
          <a:p>
            <a:pPr>
              <a:buNone/>
            </a:pPr>
            <a:r>
              <a:rPr lang="en-US" dirty="0"/>
              <a:t>&lt;!DOCTYPE html&gt;</a:t>
            </a:r>
            <a:br>
              <a:rPr lang="en-US" dirty="0"/>
            </a:br>
            <a:r>
              <a:rPr lang="en-US" dirty="0"/>
              <a:t>&lt;html&gt;</a:t>
            </a:r>
            <a:br>
              <a:rPr lang="en-US" dirty="0"/>
            </a:br>
            <a:r>
              <a:rPr lang="en-US" dirty="0"/>
              <a:t>&lt;body&gt; &lt;h1&gt;My Web Page&lt;/h1&gt;</a:t>
            </a:r>
          </a:p>
          <a:p>
            <a:pPr>
              <a:buNone/>
            </a:pPr>
            <a:r>
              <a:rPr lang="en-US" dirty="0"/>
              <a:t>&lt;p id="demo"&gt;A Paragraph&lt;/p&gt;</a:t>
            </a:r>
          </a:p>
          <a:p>
            <a:pPr>
              <a:buNone/>
            </a:pPr>
            <a:r>
              <a:rPr lang="en-US" dirty="0"/>
              <a:t>&lt;button type="button" </a:t>
            </a:r>
            <a:r>
              <a:rPr lang="en-US" dirty="0" err="1"/>
              <a:t>onclick</a:t>
            </a:r>
            <a:r>
              <a:rPr lang="en-US" dirty="0"/>
              <a:t>="</a:t>
            </a:r>
            <a:r>
              <a:rPr lang="en-US" dirty="0" err="1"/>
              <a:t>myFunction</a:t>
            </a:r>
            <a:r>
              <a:rPr lang="en-US" dirty="0"/>
              <a:t>()"&gt;Try it&lt;/button&gt;</a:t>
            </a:r>
          </a:p>
          <a:p>
            <a:pPr>
              <a:buNone/>
            </a:pPr>
            <a:r>
              <a:rPr lang="en-US" dirty="0"/>
              <a:t>&lt;script&gt;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JavaScript Function in &lt;body&gt;</a:t>
            </a:r>
            <a:endParaRPr lang="en-US" dirty="0"/>
          </a:p>
        </p:txBody>
      </p:sp>
      <p:sp>
        <p:nvSpPr>
          <p:cNvPr id="3" name="Content Placeholder 2"/>
          <p:cNvSpPr>
            <a:spLocks noGrp="1"/>
          </p:cNvSpPr>
          <p:nvPr>
            <p:ph idx="1"/>
          </p:nvPr>
        </p:nvSpPr>
        <p:spPr/>
        <p:txBody>
          <a:bodyPr/>
          <a:lstStyle/>
          <a:p>
            <a:pPr>
              <a:buNone/>
            </a:pPr>
            <a:r>
              <a:rPr lang="en-US" dirty="0"/>
              <a:t>function </a:t>
            </a:r>
            <a:r>
              <a:rPr lang="en-US" dirty="0" err="1"/>
              <a:t>myFunction</a:t>
            </a:r>
            <a:r>
              <a:rPr lang="en-US" dirty="0"/>
              <a:t>()</a:t>
            </a:r>
            <a:br>
              <a:rPr lang="en-US" dirty="0"/>
            </a:br>
            <a:r>
              <a:rPr lang="en-US" dirty="0"/>
              <a:t>{</a:t>
            </a:r>
            <a:br>
              <a:rPr lang="en-US" dirty="0"/>
            </a:br>
            <a:r>
              <a:rPr lang="en-US" dirty="0" err="1"/>
              <a:t>document.getElementById</a:t>
            </a:r>
            <a:r>
              <a:rPr lang="en-US" dirty="0"/>
              <a:t>("demo").</a:t>
            </a:r>
            <a:r>
              <a:rPr lang="en-US" dirty="0" err="1"/>
              <a:t>innerHTML</a:t>
            </a:r>
            <a:r>
              <a:rPr lang="en-US" dirty="0"/>
              <a:t>="My First JavaScript Function";</a:t>
            </a:r>
            <a:br>
              <a:rPr lang="en-US" dirty="0"/>
            </a:br>
            <a:r>
              <a:rPr lang="en-US" dirty="0"/>
              <a:t>}</a:t>
            </a:r>
          </a:p>
          <a:p>
            <a:pPr>
              <a:buNone/>
            </a:pPr>
            <a:r>
              <a:rPr lang="en-US" dirty="0"/>
              <a:t>&lt;/script&gt;</a:t>
            </a:r>
          </a:p>
          <a:p>
            <a:pPr>
              <a:buNone/>
            </a:pPr>
            <a:r>
              <a:rPr lang="en-US" dirty="0"/>
              <a:t>&lt;/body&gt;</a:t>
            </a:r>
          </a:p>
          <a:p>
            <a:pPr>
              <a:buNone/>
            </a:pPr>
            <a:r>
              <a:rPr lang="en-US" dirty="0"/>
              <a:t>&lt;/html&gt;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External </a:t>
            </a:r>
            <a:r>
              <a:rPr lang="en-US" b="1" dirty="0" err="1"/>
              <a:t>JavaScripts</a:t>
            </a:r>
            <a:endParaRPr lang="en-US" dirty="0"/>
          </a:p>
        </p:txBody>
      </p:sp>
      <p:sp>
        <p:nvSpPr>
          <p:cNvPr id="3" name="Content Placeholder 2"/>
          <p:cNvSpPr>
            <a:spLocks noGrp="1"/>
          </p:cNvSpPr>
          <p:nvPr>
            <p:ph idx="1"/>
          </p:nvPr>
        </p:nvSpPr>
        <p:spPr/>
        <p:txBody>
          <a:bodyPr/>
          <a:lstStyle/>
          <a:p>
            <a:pPr algn="just"/>
            <a:r>
              <a:rPr lang="en-US" dirty="0"/>
              <a:t>Scripts can also be placed in external files. External files often contain code to be used by several different web pages. </a:t>
            </a:r>
          </a:p>
          <a:p>
            <a:pPr algn="just"/>
            <a:r>
              <a:rPr lang="en-US" dirty="0"/>
              <a:t>External JavaScript files have the file extension .</a:t>
            </a:r>
            <a:r>
              <a:rPr lang="en-US" dirty="0" err="1"/>
              <a:t>js</a:t>
            </a:r>
            <a:r>
              <a:rPr lang="en-US" dirty="0"/>
              <a:t>.</a:t>
            </a:r>
          </a:p>
          <a:p>
            <a:pPr algn="just"/>
            <a:r>
              <a:rPr lang="en-US" dirty="0"/>
              <a:t>To use an external script, point to the .</a:t>
            </a:r>
            <a:r>
              <a:rPr lang="en-US" dirty="0" err="1"/>
              <a:t>js</a:t>
            </a:r>
            <a:r>
              <a:rPr lang="en-US" dirty="0"/>
              <a:t> file in the "</a:t>
            </a:r>
            <a:r>
              <a:rPr lang="en-US" dirty="0" err="1"/>
              <a:t>src</a:t>
            </a:r>
            <a:r>
              <a:rPr lang="en-US" dirty="0"/>
              <a:t>" attribute of the &lt;script&gt; tag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You can place the script in the &lt;head&gt; or &lt;body&gt; as you like. The script will behave as if it was located exactly where you put the &lt;script&gt; tag in the document.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Variables</a:t>
            </a:r>
            <a:endParaRPr lang="en-US" dirty="0"/>
          </a:p>
        </p:txBody>
      </p:sp>
      <p:sp>
        <p:nvSpPr>
          <p:cNvPr id="3" name="Content Placeholder 2"/>
          <p:cNvSpPr>
            <a:spLocks noGrp="1"/>
          </p:cNvSpPr>
          <p:nvPr>
            <p:ph idx="1"/>
          </p:nvPr>
        </p:nvSpPr>
        <p:spPr/>
        <p:txBody>
          <a:bodyPr/>
          <a:lstStyle/>
          <a:p>
            <a:pPr algn="just"/>
            <a:r>
              <a:rPr lang="en-US" dirty="0"/>
              <a:t>JavaScript variables are "containers" for storing information:</a:t>
            </a:r>
          </a:p>
          <a:p>
            <a:r>
              <a:rPr lang="en-US" b="1" dirty="0"/>
              <a:t>Example</a:t>
            </a:r>
          </a:p>
          <a:p>
            <a:r>
              <a:rPr lang="en-US" dirty="0" err="1"/>
              <a:t>var</a:t>
            </a:r>
            <a:r>
              <a:rPr lang="en-US" dirty="0"/>
              <a:t> x=5;</a:t>
            </a:r>
            <a:br>
              <a:rPr lang="en-US" dirty="0"/>
            </a:br>
            <a:r>
              <a:rPr lang="en-US" dirty="0" err="1"/>
              <a:t>var</a:t>
            </a:r>
            <a:r>
              <a:rPr lang="en-US" dirty="0"/>
              <a:t> y=6;</a:t>
            </a:r>
            <a:br>
              <a:rPr lang="en-US" dirty="0"/>
            </a:br>
            <a:r>
              <a:rPr lang="en-US" dirty="0" err="1"/>
              <a:t>var</a:t>
            </a:r>
            <a:r>
              <a:rPr lang="en-US" dirty="0"/>
              <a:t> z=</a:t>
            </a:r>
            <a:r>
              <a:rPr lang="en-US" dirty="0" err="1"/>
              <a:t>x+y</a:t>
            </a:r>
            <a:r>
              <a:rPr lang="en-US" dirty="0"/>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Much Like Algebra</a:t>
            </a:r>
            <a:endParaRPr lang="en-US" dirty="0"/>
          </a:p>
        </p:txBody>
      </p:sp>
      <p:sp>
        <p:nvSpPr>
          <p:cNvPr id="3" name="Content Placeholder 2"/>
          <p:cNvSpPr>
            <a:spLocks noGrp="1"/>
          </p:cNvSpPr>
          <p:nvPr>
            <p:ph idx="1"/>
          </p:nvPr>
        </p:nvSpPr>
        <p:spPr/>
        <p:txBody>
          <a:bodyPr/>
          <a:lstStyle/>
          <a:p>
            <a:r>
              <a:rPr lang="en-US" dirty="0"/>
              <a:t>x=5</a:t>
            </a:r>
            <a:br>
              <a:rPr lang="en-US" dirty="0"/>
            </a:br>
            <a:r>
              <a:rPr lang="en-US" dirty="0"/>
              <a:t>y=6</a:t>
            </a:r>
            <a:br>
              <a:rPr lang="en-US" dirty="0"/>
            </a:br>
            <a:r>
              <a:rPr lang="en-US" dirty="0"/>
              <a:t>z=</a:t>
            </a:r>
            <a:r>
              <a:rPr lang="en-US" dirty="0" err="1"/>
              <a:t>x+y</a:t>
            </a:r>
            <a:endParaRPr lang="en-US" dirty="0"/>
          </a:p>
          <a:p>
            <a:pPr algn="just"/>
            <a:r>
              <a:rPr lang="en-US" dirty="0"/>
              <a:t>In algebra we use letters (like x) to hold values (like 5).</a:t>
            </a:r>
          </a:p>
          <a:p>
            <a:pPr algn="just"/>
            <a:r>
              <a:rPr lang="en-US" dirty="0"/>
              <a:t>From the expression z=</a:t>
            </a:r>
            <a:r>
              <a:rPr lang="en-US" dirty="0" err="1"/>
              <a:t>x+y</a:t>
            </a:r>
            <a:r>
              <a:rPr lang="en-US" dirty="0"/>
              <a:t> above, we can calculate the value of z to be 11.</a:t>
            </a:r>
          </a:p>
          <a:p>
            <a:pPr algn="just"/>
            <a:r>
              <a:rPr lang="en-US" dirty="0"/>
              <a:t>In JavaScript these letters are called </a:t>
            </a:r>
            <a:r>
              <a:rPr lang="en-US" b="1" dirty="0"/>
              <a:t>variables.</a:t>
            </a:r>
            <a:r>
              <a:rPr lang="en-US" dirty="0"/>
              <a:t> </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Variables</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t>As with algebra, JavaScript variables can be used to hold values (x=5) or expressions (z=</a:t>
            </a:r>
            <a:r>
              <a:rPr lang="en-US" dirty="0" err="1"/>
              <a:t>x+y</a:t>
            </a:r>
            <a:r>
              <a:rPr lang="en-US" dirty="0"/>
              <a:t>).</a:t>
            </a:r>
          </a:p>
          <a:p>
            <a:pPr algn="just"/>
            <a:r>
              <a:rPr lang="en-US" dirty="0"/>
              <a:t>Variable can have short names (like x and y) or more descriptive names (age, sum, </a:t>
            </a:r>
            <a:r>
              <a:rPr lang="en-US" dirty="0" err="1"/>
              <a:t>totalvolume</a:t>
            </a:r>
            <a:r>
              <a:rPr lang="en-US" dirty="0"/>
              <a:t>).</a:t>
            </a:r>
          </a:p>
          <a:p>
            <a:pPr algn="just"/>
            <a:r>
              <a:rPr lang="en-US" dirty="0"/>
              <a:t>Variable names must begin with a letter</a:t>
            </a:r>
          </a:p>
          <a:p>
            <a:pPr algn="just"/>
            <a:r>
              <a:rPr lang="en-US" dirty="0"/>
              <a:t>Variable names can also begin with $ and _ (but we will not use it) </a:t>
            </a:r>
          </a:p>
          <a:p>
            <a:pPr algn="just"/>
            <a:r>
              <a:rPr lang="en-US" dirty="0"/>
              <a:t>Variable names are case sensitive (y and Y are different variables)</a:t>
            </a:r>
          </a:p>
          <a:p>
            <a:pPr algn="just"/>
            <a:r>
              <a:rPr lang="en-US" dirty="0"/>
              <a:t>Both JavaScript statements and JavaScript variables are case-sensitive.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Data Types</a:t>
            </a:r>
            <a:endParaRPr lang="en-US" dirty="0"/>
          </a:p>
        </p:txBody>
      </p:sp>
      <p:sp>
        <p:nvSpPr>
          <p:cNvPr id="3" name="Content Placeholder 2"/>
          <p:cNvSpPr>
            <a:spLocks noGrp="1"/>
          </p:cNvSpPr>
          <p:nvPr>
            <p:ph idx="1"/>
          </p:nvPr>
        </p:nvSpPr>
        <p:spPr/>
        <p:txBody>
          <a:bodyPr>
            <a:normAutofit/>
          </a:bodyPr>
          <a:lstStyle/>
          <a:p>
            <a:pPr algn="just"/>
            <a:r>
              <a:rPr lang="en-US" dirty="0"/>
              <a:t>JavaScript variables can also hold other types of data, like text values (person="John Doe").</a:t>
            </a:r>
          </a:p>
          <a:p>
            <a:pPr algn="just"/>
            <a:r>
              <a:rPr lang="en-US" dirty="0"/>
              <a:t>In JavaScript a text like "John Doe" is called a string.</a:t>
            </a:r>
          </a:p>
          <a:p>
            <a:pPr algn="just"/>
            <a:r>
              <a:rPr lang="en-US" dirty="0"/>
              <a:t>There are many types of JavaScript variables, but for now, just think of numbers and strings. </a:t>
            </a:r>
          </a:p>
          <a:p>
            <a:pPr algn="just"/>
            <a:r>
              <a:rPr lang="en-US" dirty="0"/>
              <a:t>When you assign a text value to a variable, put double or single quotes around the value.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Data Types</a:t>
            </a:r>
            <a:endParaRPr lang="en-US" dirty="0"/>
          </a:p>
        </p:txBody>
      </p:sp>
      <p:sp>
        <p:nvSpPr>
          <p:cNvPr id="3" name="Content Placeholder 2"/>
          <p:cNvSpPr>
            <a:spLocks noGrp="1"/>
          </p:cNvSpPr>
          <p:nvPr>
            <p:ph idx="1"/>
          </p:nvPr>
        </p:nvSpPr>
        <p:spPr/>
        <p:txBody>
          <a:bodyPr/>
          <a:lstStyle/>
          <a:p>
            <a:pPr algn="just"/>
            <a:r>
              <a:rPr lang="en-US" dirty="0"/>
              <a:t>When you assign a numeric value to a variable, do not put quotes around the value. If you put quotes around a numeric value, it will be treated as text.</a:t>
            </a:r>
          </a:p>
          <a:p>
            <a:r>
              <a:rPr lang="en-US" b="1" dirty="0"/>
              <a:t>Example</a:t>
            </a:r>
          </a:p>
          <a:p>
            <a:r>
              <a:rPr lang="en-US" dirty="0" err="1"/>
              <a:t>var</a:t>
            </a:r>
            <a:r>
              <a:rPr lang="en-US" dirty="0"/>
              <a:t> pi=3.14;</a:t>
            </a:r>
            <a:br>
              <a:rPr lang="en-US" dirty="0"/>
            </a:br>
            <a:r>
              <a:rPr lang="en-US" dirty="0" err="1"/>
              <a:t>var</a:t>
            </a:r>
            <a:r>
              <a:rPr lang="en-US" dirty="0"/>
              <a:t> person="John Doe";</a:t>
            </a:r>
            <a:br>
              <a:rPr lang="en-US" dirty="0"/>
            </a:br>
            <a:r>
              <a:rPr lang="en-US" dirty="0" err="1"/>
              <a:t>var</a:t>
            </a:r>
            <a:r>
              <a:rPr lang="en-US" dirty="0"/>
              <a:t> answer='Yes I am!';</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Declaring (Creating) JavaScript Variables</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Creating a variable in JavaScript is most often referred to as "declaring" a variable. </a:t>
            </a:r>
          </a:p>
          <a:p>
            <a:pPr algn="just"/>
            <a:r>
              <a:rPr lang="en-US" dirty="0"/>
              <a:t>You declare JavaScript variables with the </a:t>
            </a:r>
            <a:r>
              <a:rPr lang="en-US" b="1" dirty="0" err="1"/>
              <a:t>var</a:t>
            </a:r>
            <a:r>
              <a:rPr lang="en-US" dirty="0"/>
              <a:t> keyword:</a:t>
            </a:r>
          </a:p>
          <a:p>
            <a:pPr algn="just">
              <a:buNone/>
            </a:pPr>
            <a:r>
              <a:rPr lang="en-US" dirty="0"/>
              <a:t>    </a:t>
            </a:r>
            <a:r>
              <a:rPr lang="en-US" dirty="0" err="1"/>
              <a:t>var</a:t>
            </a:r>
            <a:r>
              <a:rPr lang="en-US" dirty="0"/>
              <a:t> </a:t>
            </a:r>
            <a:r>
              <a:rPr lang="en-US" dirty="0" err="1"/>
              <a:t>carname</a:t>
            </a:r>
            <a:r>
              <a:rPr lang="en-US" dirty="0"/>
              <a:t>; </a:t>
            </a:r>
          </a:p>
          <a:p>
            <a:pPr algn="just"/>
            <a:r>
              <a:rPr lang="en-US" dirty="0"/>
              <a:t>After the declaration, the variable is empty (it has no value).</a:t>
            </a:r>
          </a:p>
          <a:p>
            <a:pPr algn="just"/>
            <a:r>
              <a:rPr lang="en-US" dirty="0"/>
              <a:t>To assign a value to the variable, use the equal sign:</a:t>
            </a:r>
          </a:p>
          <a:p>
            <a:pPr algn="just">
              <a:buNone/>
            </a:pPr>
            <a:r>
              <a:rPr lang="en-US" dirty="0"/>
              <a:t>    </a:t>
            </a:r>
            <a:r>
              <a:rPr lang="en-US" dirty="0" err="1"/>
              <a:t>carname</a:t>
            </a:r>
            <a:r>
              <a:rPr lang="en-US" dirty="0"/>
              <a:t>="Volvo"; </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Declaring (Creating) JavaScript Variables</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a:t>However, you can also assign a value to the variable when you declare it:</a:t>
            </a:r>
          </a:p>
          <a:p>
            <a:pPr algn="just">
              <a:buNone/>
            </a:pPr>
            <a:r>
              <a:rPr lang="en-US" dirty="0"/>
              <a:t>    </a:t>
            </a:r>
            <a:r>
              <a:rPr lang="en-US" dirty="0" err="1"/>
              <a:t>var</a:t>
            </a:r>
            <a:r>
              <a:rPr lang="en-US" dirty="0"/>
              <a:t> </a:t>
            </a:r>
            <a:r>
              <a:rPr lang="en-US" dirty="0" err="1"/>
              <a:t>carname</a:t>
            </a:r>
            <a:r>
              <a:rPr lang="en-US" dirty="0"/>
              <a:t>="Volvo";</a:t>
            </a:r>
          </a:p>
          <a:p>
            <a:pPr algn="just"/>
            <a:r>
              <a:rPr lang="en-US" dirty="0"/>
              <a:t>In the example below we create a variable called </a:t>
            </a:r>
            <a:r>
              <a:rPr lang="en-US" dirty="0" err="1"/>
              <a:t>carname</a:t>
            </a:r>
            <a:r>
              <a:rPr lang="en-US" dirty="0"/>
              <a:t>, assigns the value "Volvo" to it, and put the value inside the HTML paragraph with id="demo":</a:t>
            </a:r>
          </a:p>
          <a:p>
            <a:pPr>
              <a:buNone/>
            </a:pPr>
            <a:r>
              <a:rPr lang="en-US" b="1" dirty="0"/>
              <a:t>    Example</a:t>
            </a:r>
          </a:p>
          <a:p>
            <a:r>
              <a:rPr lang="en-US" dirty="0"/>
              <a:t>&lt;p id="demo"&gt;&lt;/p&gt;</a:t>
            </a:r>
            <a:br>
              <a:rPr lang="en-US" dirty="0"/>
            </a:br>
            <a:r>
              <a:rPr lang="en-US" dirty="0" err="1"/>
              <a:t>var</a:t>
            </a:r>
            <a:r>
              <a:rPr lang="en-US" dirty="0"/>
              <a:t> </a:t>
            </a:r>
            <a:r>
              <a:rPr lang="en-US" dirty="0" err="1"/>
              <a:t>carname</a:t>
            </a:r>
            <a:r>
              <a:rPr lang="en-US" dirty="0"/>
              <a:t>="Volvo";</a:t>
            </a:r>
            <a:br>
              <a:rPr lang="en-US" dirty="0"/>
            </a:br>
            <a:r>
              <a:rPr lang="en-US" dirty="0" err="1"/>
              <a:t>document.getElementById</a:t>
            </a:r>
            <a:r>
              <a:rPr lang="en-US" dirty="0"/>
              <a:t>("demo").</a:t>
            </a:r>
            <a:r>
              <a:rPr lang="en-US" dirty="0" err="1"/>
              <a:t>innerHTML</a:t>
            </a:r>
            <a:r>
              <a:rPr lang="en-US" dirty="0"/>
              <a:t>=</a:t>
            </a:r>
            <a:r>
              <a:rPr lang="en-US" dirty="0" err="1"/>
              <a:t>carname</a:t>
            </a:r>
            <a:r>
              <a:rPr lang="en-US" dirty="0"/>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Note: It's a good programming practice to declare all the variables you will need, in one place, at the beginning of your code.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One Statement, Many Variables</a:t>
            </a:r>
            <a:endParaRPr lang="en-US" dirty="0"/>
          </a:p>
        </p:txBody>
      </p:sp>
      <p:sp>
        <p:nvSpPr>
          <p:cNvPr id="3" name="Content Placeholder 2"/>
          <p:cNvSpPr>
            <a:spLocks noGrp="1"/>
          </p:cNvSpPr>
          <p:nvPr>
            <p:ph idx="1"/>
          </p:nvPr>
        </p:nvSpPr>
        <p:spPr/>
        <p:txBody>
          <a:bodyPr/>
          <a:lstStyle/>
          <a:p>
            <a:pPr algn="just"/>
            <a:r>
              <a:rPr lang="en-US" dirty="0"/>
              <a:t>You can declare many variables in one statement. Just start the statement with </a:t>
            </a:r>
            <a:r>
              <a:rPr lang="en-US" b="1" dirty="0" err="1"/>
              <a:t>var</a:t>
            </a:r>
            <a:r>
              <a:rPr lang="en-US" dirty="0"/>
              <a:t> and separate the variables by comma:</a:t>
            </a:r>
          </a:p>
          <a:p>
            <a:pPr algn="just"/>
            <a:r>
              <a:rPr lang="en-US" dirty="0" err="1"/>
              <a:t>var</a:t>
            </a:r>
            <a:r>
              <a:rPr lang="en-US" dirty="0"/>
              <a:t> </a:t>
            </a:r>
            <a:r>
              <a:rPr lang="en-US" dirty="0" err="1"/>
              <a:t>lastname</a:t>
            </a:r>
            <a:r>
              <a:rPr lang="en-US" dirty="0"/>
              <a:t>="Doe", age=30, job="carpenter"; </a:t>
            </a:r>
          </a:p>
          <a:p>
            <a:pPr algn="just"/>
            <a:r>
              <a:rPr lang="en-US" dirty="0"/>
              <a:t>Your declaration can also span multiple lines: </a:t>
            </a:r>
          </a:p>
          <a:p>
            <a:pPr>
              <a:buNone/>
            </a:pPr>
            <a:r>
              <a:rPr lang="en-US" dirty="0"/>
              <a:t>    </a:t>
            </a:r>
            <a:r>
              <a:rPr lang="en-US" dirty="0" err="1"/>
              <a:t>var</a:t>
            </a:r>
            <a:r>
              <a:rPr lang="en-US" dirty="0"/>
              <a:t> </a:t>
            </a:r>
            <a:r>
              <a:rPr lang="en-US" dirty="0" err="1"/>
              <a:t>lastname</a:t>
            </a:r>
            <a:r>
              <a:rPr lang="en-US" dirty="0"/>
              <a:t>="Doe",</a:t>
            </a:r>
            <a:br>
              <a:rPr lang="en-US" dirty="0"/>
            </a:br>
            <a:r>
              <a:rPr lang="en-US" dirty="0"/>
              <a:t>age=30,</a:t>
            </a:r>
            <a:br>
              <a:rPr lang="en-US" dirty="0"/>
            </a:br>
            <a:r>
              <a:rPr lang="en-US" dirty="0"/>
              <a:t>job="carpenter"; </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Value = undefined</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In computer programs, variables are often declared without a value. The value can be something that has to be calculated, or something that will be provided later, like user input. Variable declared without a value will have the value </a:t>
            </a:r>
            <a:r>
              <a:rPr lang="en-US" b="1" dirty="0"/>
              <a:t>undefined</a:t>
            </a:r>
            <a:r>
              <a:rPr lang="en-US" dirty="0"/>
              <a:t>.</a:t>
            </a:r>
          </a:p>
          <a:p>
            <a:pPr algn="just"/>
            <a:r>
              <a:rPr lang="en-US" dirty="0"/>
              <a:t>The variable </a:t>
            </a:r>
            <a:r>
              <a:rPr lang="en-US" i="1" dirty="0" err="1"/>
              <a:t>carname</a:t>
            </a:r>
            <a:r>
              <a:rPr lang="en-US" dirty="0"/>
              <a:t> will have the value </a:t>
            </a:r>
            <a:r>
              <a:rPr lang="en-US" i="1" dirty="0"/>
              <a:t>undefined</a:t>
            </a:r>
            <a:r>
              <a:rPr lang="en-US" dirty="0"/>
              <a:t> after the execution of the following statement:</a:t>
            </a:r>
          </a:p>
          <a:p>
            <a:pPr>
              <a:buNone/>
            </a:pPr>
            <a:r>
              <a:rPr lang="en-US" dirty="0"/>
              <a:t>    </a:t>
            </a:r>
            <a:r>
              <a:rPr lang="en-US" dirty="0" err="1"/>
              <a:t>var</a:t>
            </a:r>
            <a:r>
              <a:rPr lang="en-US" dirty="0"/>
              <a:t> </a:t>
            </a:r>
            <a:r>
              <a:rPr lang="en-US" dirty="0" err="1"/>
              <a:t>carname</a:t>
            </a:r>
            <a:r>
              <a:rPr lang="en-US" dirty="0"/>
              <a:t>;</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Re-Declaring JavaScript Variables</a:t>
            </a:r>
            <a:endParaRPr lang="en-US" dirty="0"/>
          </a:p>
        </p:txBody>
      </p:sp>
      <p:sp>
        <p:nvSpPr>
          <p:cNvPr id="3" name="Content Placeholder 2"/>
          <p:cNvSpPr>
            <a:spLocks noGrp="1"/>
          </p:cNvSpPr>
          <p:nvPr>
            <p:ph idx="1"/>
          </p:nvPr>
        </p:nvSpPr>
        <p:spPr/>
        <p:txBody>
          <a:bodyPr/>
          <a:lstStyle/>
          <a:p>
            <a:pPr algn="just"/>
            <a:r>
              <a:rPr lang="en-US" dirty="0"/>
              <a:t>If you re-declare a JavaScript variable, it will not lose its value.</a:t>
            </a:r>
          </a:p>
          <a:p>
            <a:pPr algn="just"/>
            <a:r>
              <a:rPr lang="en-US" dirty="0"/>
              <a:t>The value of the variable </a:t>
            </a:r>
            <a:r>
              <a:rPr lang="en-US" i="1" dirty="0" err="1"/>
              <a:t>carname</a:t>
            </a:r>
            <a:r>
              <a:rPr lang="en-US" dirty="0"/>
              <a:t> will still have the value "</a:t>
            </a:r>
            <a:r>
              <a:rPr lang="en-US" i="1" dirty="0"/>
              <a:t>Volvo</a:t>
            </a:r>
            <a:r>
              <a:rPr lang="en-US" dirty="0"/>
              <a:t>" after the execution of the following two statements:</a:t>
            </a:r>
          </a:p>
          <a:p>
            <a:r>
              <a:rPr lang="en-US" dirty="0" err="1"/>
              <a:t>var</a:t>
            </a:r>
            <a:r>
              <a:rPr lang="en-US" dirty="0"/>
              <a:t> </a:t>
            </a:r>
            <a:r>
              <a:rPr lang="en-US" dirty="0" err="1"/>
              <a:t>carname</a:t>
            </a:r>
            <a:r>
              <a:rPr lang="en-US" dirty="0"/>
              <a:t>="Volvo"; </a:t>
            </a:r>
            <a:br>
              <a:rPr lang="en-US" dirty="0"/>
            </a:br>
            <a:r>
              <a:rPr lang="en-US" dirty="0" err="1"/>
              <a:t>var</a:t>
            </a:r>
            <a:r>
              <a:rPr lang="en-US" dirty="0"/>
              <a:t> </a:t>
            </a:r>
            <a:r>
              <a:rPr lang="en-US" dirty="0" err="1"/>
              <a:t>carname</a:t>
            </a:r>
            <a:r>
              <a:rPr lang="en-US" dirty="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Arithmetic</a:t>
            </a:r>
            <a:endParaRPr lang="en-US" dirty="0"/>
          </a:p>
        </p:txBody>
      </p:sp>
      <p:sp>
        <p:nvSpPr>
          <p:cNvPr id="3" name="Content Placeholder 2"/>
          <p:cNvSpPr>
            <a:spLocks noGrp="1"/>
          </p:cNvSpPr>
          <p:nvPr>
            <p:ph idx="1"/>
          </p:nvPr>
        </p:nvSpPr>
        <p:spPr/>
        <p:txBody>
          <a:bodyPr/>
          <a:lstStyle/>
          <a:p>
            <a:pPr algn="just"/>
            <a:r>
              <a:rPr lang="en-US" dirty="0"/>
              <a:t>As with algebra, you can do arithmetic with JavaScript variables, using operators like = and +: </a:t>
            </a:r>
          </a:p>
          <a:p>
            <a:pPr>
              <a:buNone/>
            </a:pPr>
            <a:r>
              <a:rPr lang="en-US" b="1" dirty="0"/>
              <a:t>   Example</a:t>
            </a:r>
          </a:p>
          <a:p>
            <a:r>
              <a:rPr lang="en-US" dirty="0"/>
              <a:t>y=5;</a:t>
            </a:r>
            <a:br>
              <a:rPr lang="en-US" dirty="0"/>
            </a:br>
            <a:r>
              <a:rPr lang="en-US" dirty="0"/>
              <a:t>x=y+2;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Has Dynamic Types</a:t>
            </a:r>
            <a:endParaRPr lang="en-US" dirty="0"/>
          </a:p>
        </p:txBody>
      </p:sp>
      <p:sp>
        <p:nvSpPr>
          <p:cNvPr id="3" name="Content Placeholder 2"/>
          <p:cNvSpPr>
            <a:spLocks noGrp="1"/>
          </p:cNvSpPr>
          <p:nvPr>
            <p:ph idx="1"/>
          </p:nvPr>
        </p:nvSpPr>
        <p:spPr/>
        <p:txBody>
          <a:bodyPr/>
          <a:lstStyle/>
          <a:p>
            <a:pPr algn="just"/>
            <a:r>
              <a:rPr lang="en-US" dirty="0"/>
              <a:t>JavaScript has dynamic types. This means that the same variable can be used as different types:</a:t>
            </a:r>
          </a:p>
          <a:p>
            <a:pPr>
              <a:buNone/>
            </a:pPr>
            <a:r>
              <a:rPr lang="en-US" b="1" dirty="0"/>
              <a:t>   Example</a:t>
            </a:r>
          </a:p>
          <a:p>
            <a:r>
              <a:rPr lang="en-US" dirty="0" err="1"/>
              <a:t>var</a:t>
            </a:r>
            <a:r>
              <a:rPr lang="en-US" dirty="0"/>
              <a:t> x;               // Now x is undefined</a:t>
            </a:r>
            <a:br>
              <a:rPr lang="en-US" dirty="0"/>
            </a:br>
            <a:r>
              <a:rPr lang="en-US" dirty="0" err="1"/>
              <a:t>var</a:t>
            </a:r>
            <a:r>
              <a:rPr lang="en-US" dirty="0"/>
              <a:t> x = 5;           // Now x is a Number</a:t>
            </a:r>
            <a:br>
              <a:rPr lang="en-US" dirty="0"/>
            </a:br>
            <a:r>
              <a:rPr lang="en-US" dirty="0" err="1"/>
              <a:t>var</a:t>
            </a:r>
            <a:r>
              <a:rPr lang="en-US" dirty="0"/>
              <a:t> x = "John";      // Now x is a String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Strings</a:t>
            </a:r>
            <a:endParaRPr lang="en-US" dirty="0"/>
          </a:p>
        </p:txBody>
      </p:sp>
      <p:sp>
        <p:nvSpPr>
          <p:cNvPr id="3" name="Content Placeholder 2"/>
          <p:cNvSpPr>
            <a:spLocks noGrp="1"/>
          </p:cNvSpPr>
          <p:nvPr>
            <p:ph idx="1"/>
          </p:nvPr>
        </p:nvSpPr>
        <p:spPr/>
        <p:txBody>
          <a:bodyPr>
            <a:normAutofit/>
          </a:bodyPr>
          <a:lstStyle/>
          <a:p>
            <a:pPr algn="just"/>
            <a:r>
              <a:rPr lang="en-US" dirty="0"/>
              <a:t>A string is a variable which stores a series of characters like "John Doe".</a:t>
            </a:r>
          </a:p>
          <a:p>
            <a:pPr algn="just"/>
            <a:r>
              <a:rPr lang="en-US" dirty="0"/>
              <a:t>A string can be any text inside quotes. You can use single or double quotes:</a:t>
            </a:r>
            <a:br>
              <a:rPr lang="en-US" dirty="0"/>
            </a:br>
            <a:endParaRPr lang="en-US" dirty="0"/>
          </a:p>
          <a:p>
            <a:pPr>
              <a:buNone/>
            </a:pPr>
            <a:r>
              <a:rPr lang="en-US" b="1" dirty="0"/>
              <a:t>    Example</a:t>
            </a:r>
          </a:p>
          <a:p>
            <a:r>
              <a:rPr lang="en-US" dirty="0" err="1"/>
              <a:t>var</a:t>
            </a:r>
            <a:r>
              <a:rPr lang="en-US" dirty="0"/>
              <a:t> </a:t>
            </a:r>
            <a:r>
              <a:rPr lang="en-US" dirty="0" err="1"/>
              <a:t>carname</a:t>
            </a:r>
            <a:r>
              <a:rPr lang="en-US" dirty="0"/>
              <a:t>="Volvo XC60";</a:t>
            </a:r>
            <a:br>
              <a:rPr lang="en-US" dirty="0"/>
            </a:br>
            <a:r>
              <a:rPr lang="en-US" dirty="0" err="1"/>
              <a:t>var</a:t>
            </a:r>
            <a:r>
              <a:rPr lang="en-US" dirty="0"/>
              <a:t> </a:t>
            </a:r>
            <a:r>
              <a:rPr lang="en-US" dirty="0" err="1"/>
              <a:t>carname</a:t>
            </a:r>
            <a:r>
              <a:rPr lang="en-US" dirty="0"/>
              <a:t>='Volvo XC60';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Strings</a:t>
            </a:r>
            <a:endParaRPr lang="en-US" dirty="0"/>
          </a:p>
        </p:txBody>
      </p:sp>
      <p:sp>
        <p:nvSpPr>
          <p:cNvPr id="3" name="Content Placeholder 2"/>
          <p:cNvSpPr>
            <a:spLocks noGrp="1"/>
          </p:cNvSpPr>
          <p:nvPr>
            <p:ph idx="1"/>
          </p:nvPr>
        </p:nvSpPr>
        <p:spPr/>
        <p:txBody>
          <a:bodyPr/>
          <a:lstStyle/>
          <a:p>
            <a:pPr algn="just"/>
            <a:r>
              <a:rPr lang="en-US" dirty="0"/>
              <a:t>You can use quotes inside a string, as long as they don't match the quotes surrounding the string:</a:t>
            </a:r>
          </a:p>
          <a:p>
            <a:pPr>
              <a:buNone/>
            </a:pPr>
            <a:r>
              <a:rPr lang="en-US" b="1" dirty="0"/>
              <a:t>   Example</a:t>
            </a:r>
          </a:p>
          <a:p>
            <a:r>
              <a:rPr lang="en-US" dirty="0" err="1"/>
              <a:t>var</a:t>
            </a:r>
            <a:r>
              <a:rPr lang="en-US" dirty="0"/>
              <a:t> answer="It's alright";</a:t>
            </a:r>
            <a:br>
              <a:rPr lang="en-US" dirty="0"/>
            </a:br>
            <a:r>
              <a:rPr lang="en-US" dirty="0" err="1"/>
              <a:t>var</a:t>
            </a:r>
            <a:r>
              <a:rPr lang="en-US" dirty="0"/>
              <a:t> answer="He is called 'Johnny'";</a:t>
            </a:r>
            <a:br>
              <a:rPr lang="en-US" dirty="0"/>
            </a:br>
            <a:r>
              <a:rPr lang="en-US" dirty="0" err="1"/>
              <a:t>var</a:t>
            </a:r>
            <a:r>
              <a:rPr lang="en-US" dirty="0"/>
              <a:t> answer='He is called "Johnny"';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Numbers</a:t>
            </a:r>
            <a:endParaRPr lang="en-US" dirty="0"/>
          </a:p>
        </p:txBody>
      </p:sp>
      <p:sp>
        <p:nvSpPr>
          <p:cNvPr id="3" name="Content Placeholder 2"/>
          <p:cNvSpPr>
            <a:spLocks noGrp="1"/>
          </p:cNvSpPr>
          <p:nvPr>
            <p:ph idx="1"/>
          </p:nvPr>
        </p:nvSpPr>
        <p:spPr/>
        <p:txBody>
          <a:bodyPr/>
          <a:lstStyle/>
          <a:p>
            <a:r>
              <a:rPr lang="en-US" dirty="0"/>
              <a:t>JavaScript has only one type of numbers. Numbers can be written with, or without decimals:</a:t>
            </a:r>
            <a:br>
              <a:rPr lang="en-US" dirty="0"/>
            </a:br>
            <a:endParaRPr lang="en-US" dirty="0"/>
          </a:p>
          <a:p>
            <a:pPr>
              <a:buNone/>
            </a:pPr>
            <a:r>
              <a:rPr lang="en-US" b="1" dirty="0"/>
              <a:t>    Example</a:t>
            </a:r>
          </a:p>
          <a:p>
            <a:r>
              <a:rPr lang="en-US" dirty="0" err="1"/>
              <a:t>var</a:t>
            </a:r>
            <a:r>
              <a:rPr lang="en-US" dirty="0"/>
              <a:t> x1=34.00;      // Written with decimals</a:t>
            </a:r>
            <a:br>
              <a:rPr lang="en-US" dirty="0"/>
            </a:br>
            <a:r>
              <a:rPr lang="en-US" dirty="0" err="1"/>
              <a:t>var</a:t>
            </a:r>
            <a:r>
              <a:rPr lang="en-US" dirty="0"/>
              <a:t> x2=34;         // Written without decimals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Extra large or extra small numbers can be written with scientific (exponential) notation:</a:t>
            </a:r>
          </a:p>
          <a:p>
            <a:pPr>
              <a:buNone/>
            </a:pPr>
            <a:r>
              <a:rPr lang="en-US" b="1" dirty="0"/>
              <a:t>    Example</a:t>
            </a:r>
          </a:p>
          <a:p>
            <a:r>
              <a:rPr lang="en-US" dirty="0" err="1"/>
              <a:t>var</a:t>
            </a:r>
            <a:r>
              <a:rPr lang="en-US" dirty="0"/>
              <a:t> y=123e5;      // 12300000</a:t>
            </a:r>
            <a:br>
              <a:rPr lang="en-US" dirty="0"/>
            </a:br>
            <a:r>
              <a:rPr lang="en-US" dirty="0" err="1"/>
              <a:t>var</a:t>
            </a:r>
            <a:r>
              <a:rPr lang="en-US" dirty="0"/>
              <a:t> z=123e-5;     // 0.00123</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Booleans</a:t>
            </a:r>
            <a:endParaRPr lang="en-US" dirty="0"/>
          </a:p>
        </p:txBody>
      </p:sp>
      <p:sp>
        <p:nvSpPr>
          <p:cNvPr id="3" name="Content Placeholder 2"/>
          <p:cNvSpPr>
            <a:spLocks noGrp="1"/>
          </p:cNvSpPr>
          <p:nvPr>
            <p:ph idx="1"/>
          </p:nvPr>
        </p:nvSpPr>
        <p:spPr/>
        <p:txBody>
          <a:bodyPr/>
          <a:lstStyle/>
          <a:p>
            <a:pPr algn="just"/>
            <a:r>
              <a:rPr lang="en-US" dirty="0"/>
              <a:t>Booleans can only have two values: true or false.</a:t>
            </a:r>
          </a:p>
          <a:p>
            <a:pPr>
              <a:buNone/>
            </a:pPr>
            <a:r>
              <a:rPr lang="en-US" dirty="0"/>
              <a:t>    </a:t>
            </a:r>
            <a:r>
              <a:rPr lang="en-US" dirty="0" err="1"/>
              <a:t>var</a:t>
            </a:r>
            <a:r>
              <a:rPr lang="en-US" dirty="0"/>
              <a:t> x=true;</a:t>
            </a:r>
            <a:br>
              <a:rPr lang="en-US" dirty="0"/>
            </a:br>
            <a:r>
              <a:rPr lang="en-US" dirty="0" err="1"/>
              <a:t>var</a:t>
            </a:r>
            <a:r>
              <a:rPr lang="en-US" dirty="0"/>
              <a:t> y=false;</a:t>
            </a:r>
          </a:p>
          <a:p>
            <a:pPr algn="just"/>
            <a:r>
              <a:rPr lang="en-US" dirty="0"/>
              <a:t>Booleans are often used in conditional testing.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Arrays</a:t>
            </a:r>
            <a:endParaRPr lang="en-US" dirty="0"/>
          </a:p>
        </p:txBody>
      </p:sp>
      <p:sp>
        <p:nvSpPr>
          <p:cNvPr id="3" name="Content Placeholder 2"/>
          <p:cNvSpPr>
            <a:spLocks noGrp="1"/>
          </p:cNvSpPr>
          <p:nvPr>
            <p:ph idx="1"/>
          </p:nvPr>
        </p:nvSpPr>
        <p:spPr/>
        <p:txBody>
          <a:bodyPr/>
          <a:lstStyle/>
          <a:p>
            <a:pPr algn="just"/>
            <a:r>
              <a:rPr lang="en-US" dirty="0"/>
              <a:t>The following code creates an Array called cars:</a:t>
            </a:r>
          </a:p>
          <a:p>
            <a:r>
              <a:rPr lang="en-US" dirty="0" err="1"/>
              <a:t>var</a:t>
            </a:r>
            <a:r>
              <a:rPr lang="en-US" dirty="0"/>
              <a:t> cars=new Array();</a:t>
            </a:r>
            <a:br>
              <a:rPr lang="en-US" dirty="0"/>
            </a:br>
            <a:r>
              <a:rPr lang="en-US" dirty="0"/>
              <a:t>cars[0]="Saab";</a:t>
            </a:r>
            <a:br>
              <a:rPr lang="en-US" dirty="0"/>
            </a:br>
            <a:r>
              <a:rPr lang="en-US" dirty="0"/>
              <a:t>cars[1]="Volvo";</a:t>
            </a:r>
            <a:br>
              <a:rPr lang="en-US" dirty="0"/>
            </a:br>
            <a:r>
              <a:rPr lang="en-US" dirty="0"/>
              <a:t>cars[2]="BMW";</a:t>
            </a:r>
          </a:p>
          <a:p>
            <a:pPr>
              <a:buNone/>
            </a:pPr>
            <a:r>
              <a:rPr lang="en-US" dirty="0"/>
              <a:t>   or (condensed array):</a:t>
            </a:r>
          </a:p>
          <a:p>
            <a:r>
              <a:rPr lang="en-US" dirty="0" err="1"/>
              <a:t>var</a:t>
            </a:r>
            <a:r>
              <a:rPr lang="en-US" dirty="0"/>
              <a:t> cars=new Array("</a:t>
            </a:r>
            <a:r>
              <a:rPr lang="en-US" dirty="0" err="1"/>
              <a:t>Saab","Volvo","BMW</a:t>
            </a:r>
            <a:r>
              <a:rPr lang="en-US" dirty="0"/>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    or (literal array):</a:t>
            </a:r>
          </a:p>
          <a:p>
            <a:pPr>
              <a:buNone/>
            </a:pPr>
            <a:r>
              <a:rPr lang="en-US" b="1" dirty="0"/>
              <a:t>    Example</a:t>
            </a:r>
          </a:p>
          <a:p>
            <a:r>
              <a:rPr lang="en-US" dirty="0" err="1"/>
              <a:t>var</a:t>
            </a:r>
            <a:r>
              <a:rPr lang="en-US" dirty="0"/>
              <a:t> cars=["</a:t>
            </a:r>
            <a:r>
              <a:rPr lang="en-US" dirty="0" err="1"/>
              <a:t>Saab","Volvo","BMW</a:t>
            </a:r>
            <a:r>
              <a:rPr lang="en-US" dirty="0"/>
              <a:t>"];</a:t>
            </a:r>
          </a:p>
          <a:p>
            <a:pPr algn="just"/>
            <a:r>
              <a:rPr lang="en-US" dirty="0"/>
              <a:t>Array indexes are zero-based, which means the first item is [0], second is [1], and so on. </a:t>
            </a:r>
          </a:p>
          <a:p>
            <a:pPr>
              <a:buNone/>
            </a:pP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Objects</a:t>
            </a:r>
            <a:endParaRPr lang="en-US" dirty="0"/>
          </a:p>
        </p:txBody>
      </p:sp>
      <p:sp>
        <p:nvSpPr>
          <p:cNvPr id="3" name="Content Placeholder 2"/>
          <p:cNvSpPr>
            <a:spLocks noGrp="1"/>
          </p:cNvSpPr>
          <p:nvPr>
            <p:ph idx="1"/>
          </p:nvPr>
        </p:nvSpPr>
        <p:spPr/>
        <p:txBody>
          <a:bodyPr/>
          <a:lstStyle/>
          <a:p>
            <a:pPr algn="just"/>
            <a:r>
              <a:rPr lang="en-US" dirty="0"/>
              <a:t>An object is delimited by curly braces. Inside the braces the object's properties are defined as name and value pairs (name : value). The properties are separated by commas:</a:t>
            </a:r>
          </a:p>
          <a:p>
            <a:r>
              <a:rPr lang="en-US" dirty="0" err="1"/>
              <a:t>var</a:t>
            </a:r>
            <a:r>
              <a:rPr lang="en-US" dirty="0"/>
              <a:t> person={</a:t>
            </a:r>
            <a:r>
              <a:rPr lang="en-US" dirty="0" err="1"/>
              <a:t>firstname</a:t>
            </a:r>
            <a:r>
              <a:rPr lang="en-US" dirty="0"/>
              <a:t>:"John", </a:t>
            </a:r>
            <a:r>
              <a:rPr lang="en-US" dirty="0" err="1"/>
              <a:t>lastname</a:t>
            </a:r>
            <a:r>
              <a:rPr lang="en-US" dirty="0"/>
              <a:t>:"Doe", id:5566};</a:t>
            </a:r>
          </a:p>
          <a:p>
            <a:pPr algn="just"/>
            <a:r>
              <a:rPr lang="en-US" dirty="0"/>
              <a:t>The object (person) in the example above has 3 properties: </a:t>
            </a:r>
            <a:r>
              <a:rPr lang="en-US" dirty="0" err="1"/>
              <a:t>firstname</a:t>
            </a:r>
            <a:r>
              <a:rPr lang="en-US" dirty="0"/>
              <a:t>, </a:t>
            </a:r>
            <a:r>
              <a:rPr lang="en-US" dirty="0" err="1"/>
              <a:t>lastname</a:t>
            </a:r>
            <a:r>
              <a:rPr lang="en-US" dirty="0"/>
              <a:t>, and id.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t>Spaces and line breaks are not important. Your declaration can span multiple lines: </a:t>
            </a:r>
          </a:p>
          <a:p>
            <a:r>
              <a:rPr lang="en-US" dirty="0" err="1"/>
              <a:t>var</a:t>
            </a:r>
            <a:r>
              <a:rPr lang="en-US" dirty="0"/>
              <a:t> person={</a:t>
            </a:r>
            <a:br>
              <a:rPr lang="en-US" dirty="0"/>
            </a:br>
            <a:r>
              <a:rPr lang="en-US" dirty="0" err="1"/>
              <a:t>firstname</a:t>
            </a:r>
            <a:r>
              <a:rPr lang="en-US" dirty="0"/>
              <a:t> : "John",</a:t>
            </a:r>
            <a:br>
              <a:rPr lang="en-US" dirty="0"/>
            </a:br>
            <a:r>
              <a:rPr lang="en-US" dirty="0" err="1"/>
              <a:t>lastname</a:t>
            </a:r>
            <a:r>
              <a:rPr lang="en-US" dirty="0"/>
              <a:t>  : "Doe",</a:t>
            </a:r>
            <a:br>
              <a:rPr lang="en-US" dirty="0"/>
            </a:br>
            <a:r>
              <a:rPr lang="en-US" dirty="0"/>
              <a:t>id        :  5566</a:t>
            </a:r>
            <a:br>
              <a:rPr lang="en-US" dirty="0"/>
            </a:br>
            <a:r>
              <a:rPr lang="en-US" dirty="0"/>
              <a:t>};</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You can address the object properties in two ways: </a:t>
            </a:r>
          </a:p>
          <a:p>
            <a:pPr>
              <a:buNone/>
            </a:pPr>
            <a:r>
              <a:rPr lang="en-US" b="1" dirty="0"/>
              <a:t>    Example</a:t>
            </a:r>
          </a:p>
          <a:p>
            <a:r>
              <a:rPr lang="en-US" dirty="0"/>
              <a:t>name=</a:t>
            </a:r>
            <a:r>
              <a:rPr lang="en-US" dirty="0" err="1"/>
              <a:t>person.lastname</a:t>
            </a:r>
            <a:r>
              <a:rPr lang="en-US" dirty="0"/>
              <a:t>;</a:t>
            </a:r>
            <a:br>
              <a:rPr lang="en-US" dirty="0"/>
            </a:br>
            <a:r>
              <a:rPr lang="en-US" dirty="0"/>
              <a:t>name=person["</a:t>
            </a:r>
            <a:r>
              <a:rPr lang="en-US" dirty="0" err="1"/>
              <a:t>lastname</a:t>
            </a:r>
            <a:r>
              <a:rPr lang="en-US" dirty="0"/>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Undefined and Null</a:t>
            </a:r>
            <a:endParaRPr lang="en-US" dirty="0"/>
          </a:p>
        </p:txBody>
      </p:sp>
      <p:sp>
        <p:nvSpPr>
          <p:cNvPr id="3" name="Content Placeholder 2"/>
          <p:cNvSpPr>
            <a:spLocks noGrp="1"/>
          </p:cNvSpPr>
          <p:nvPr>
            <p:ph idx="1"/>
          </p:nvPr>
        </p:nvSpPr>
        <p:spPr/>
        <p:txBody>
          <a:bodyPr/>
          <a:lstStyle/>
          <a:p>
            <a:pPr algn="just"/>
            <a:r>
              <a:rPr lang="en-US" b="1" dirty="0"/>
              <a:t>Undefined</a:t>
            </a:r>
            <a:r>
              <a:rPr lang="en-US" dirty="0"/>
              <a:t> is the value of a variable with no value. </a:t>
            </a:r>
          </a:p>
          <a:p>
            <a:pPr algn="just"/>
            <a:r>
              <a:rPr lang="en-US" dirty="0"/>
              <a:t>Variables can be emptied by setting the value to </a:t>
            </a:r>
            <a:r>
              <a:rPr lang="en-US" b="1" dirty="0"/>
              <a:t>null</a:t>
            </a:r>
            <a:r>
              <a:rPr lang="en-US" dirty="0"/>
              <a:t>;</a:t>
            </a:r>
          </a:p>
          <a:p>
            <a:pPr>
              <a:buNone/>
            </a:pPr>
            <a:r>
              <a:rPr lang="en-US" b="1" dirty="0"/>
              <a:t>    Example</a:t>
            </a:r>
          </a:p>
          <a:p>
            <a:r>
              <a:rPr lang="en-US" dirty="0"/>
              <a:t>cars=null;</a:t>
            </a:r>
            <a:br>
              <a:rPr lang="en-US" dirty="0"/>
            </a:br>
            <a:r>
              <a:rPr lang="en-US" dirty="0"/>
              <a:t>person=null;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Declaring Variable Types</a:t>
            </a:r>
            <a:endParaRPr lang="en-US" dirty="0"/>
          </a:p>
        </p:txBody>
      </p:sp>
      <p:sp>
        <p:nvSpPr>
          <p:cNvPr id="3" name="Content Placeholder 2"/>
          <p:cNvSpPr>
            <a:spLocks noGrp="1"/>
          </p:cNvSpPr>
          <p:nvPr>
            <p:ph idx="1"/>
          </p:nvPr>
        </p:nvSpPr>
        <p:spPr/>
        <p:txBody>
          <a:bodyPr>
            <a:normAutofit fontScale="92500"/>
          </a:bodyPr>
          <a:lstStyle/>
          <a:p>
            <a:pPr algn="just"/>
            <a:r>
              <a:rPr lang="en-US" dirty="0"/>
              <a:t>When you declare a new variable, you can declare its type using the "new" keyword: </a:t>
            </a:r>
          </a:p>
          <a:p>
            <a:r>
              <a:rPr lang="en-US" dirty="0" err="1"/>
              <a:t>var</a:t>
            </a:r>
            <a:r>
              <a:rPr lang="en-US" dirty="0"/>
              <a:t> </a:t>
            </a:r>
            <a:r>
              <a:rPr lang="en-US" dirty="0" err="1"/>
              <a:t>carname</a:t>
            </a:r>
            <a:r>
              <a:rPr lang="en-US" dirty="0"/>
              <a:t>=new String;</a:t>
            </a:r>
            <a:br>
              <a:rPr lang="en-US" dirty="0"/>
            </a:br>
            <a:r>
              <a:rPr lang="en-US" dirty="0" err="1"/>
              <a:t>var</a:t>
            </a:r>
            <a:r>
              <a:rPr lang="en-US" dirty="0"/>
              <a:t> x=      new Number;</a:t>
            </a:r>
            <a:br>
              <a:rPr lang="en-US" dirty="0"/>
            </a:br>
            <a:r>
              <a:rPr lang="en-US" dirty="0" err="1"/>
              <a:t>var</a:t>
            </a:r>
            <a:r>
              <a:rPr lang="en-US" dirty="0"/>
              <a:t> y=      new Boolean;</a:t>
            </a:r>
            <a:br>
              <a:rPr lang="en-US" dirty="0"/>
            </a:br>
            <a:r>
              <a:rPr lang="en-US" dirty="0" err="1"/>
              <a:t>var</a:t>
            </a:r>
            <a:r>
              <a:rPr lang="en-US" dirty="0"/>
              <a:t> cars=   new Array;</a:t>
            </a:r>
            <a:br>
              <a:rPr lang="en-US" dirty="0"/>
            </a:br>
            <a:r>
              <a:rPr lang="en-US" dirty="0" err="1"/>
              <a:t>var</a:t>
            </a:r>
            <a:r>
              <a:rPr lang="en-US" dirty="0"/>
              <a:t> person= new Object;</a:t>
            </a:r>
          </a:p>
          <a:p>
            <a:pPr algn="just"/>
            <a:r>
              <a:rPr lang="en-US" dirty="0"/>
              <a:t>Note: JavaScript variables are all objects. When you declare a variable you create a new object.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Conditional Statements</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Very often when you write code, you want to perform different actions for different decisions. You can use conditional statements in your code to do this.</a:t>
            </a:r>
          </a:p>
          <a:p>
            <a:pPr algn="just"/>
            <a:r>
              <a:rPr lang="en-US" dirty="0"/>
              <a:t>In JavaScript we have the following conditional statements:</a:t>
            </a:r>
          </a:p>
          <a:p>
            <a:pPr algn="just"/>
            <a:r>
              <a:rPr lang="en-US" b="1" dirty="0"/>
              <a:t>if statement</a:t>
            </a:r>
            <a:r>
              <a:rPr lang="en-US" dirty="0"/>
              <a:t> - use this statement to execute some code only if a specified condition is true</a:t>
            </a:r>
          </a:p>
          <a:p>
            <a:pPr algn="just"/>
            <a:r>
              <a:rPr lang="en-US" b="1" dirty="0"/>
              <a:t>if...else statement</a:t>
            </a:r>
            <a:r>
              <a:rPr lang="en-US" dirty="0"/>
              <a:t> - use this statement to execute some code if the condition is true and another code if the condition is false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b="1" dirty="0"/>
              <a:t>if...else if....else statement</a:t>
            </a:r>
            <a:r>
              <a:rPr lang="en-US" dirty="0"/>
              <a:t> - use this statement to select one of many blocks of code to be executed</a:t>
            </a:r>
          </a:p>
          <a:p>
            <a:pPr algn="just"/>
            <a:r>
              <a:rPr lang="en-US" b="1" dirty="0"/>
              <a:t>switch statement</a:t>
            </a:r>
            <a:r>
              <a:rPr lang="en-US" dirty="0"/>
              <a:t> - use this statement to select one of many blocks of code to be executed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If Statement</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Use the if statement to execute some code only if a specified condition is true.</a:t>
            </a:r>
          </a:p>
          <a:p>
            <a:r>
              <a:rPr lang="en-US" b="1" dirty="0"/>
              <a:t>Syntax</a:t>
            </a:r>
          </a:p>
          <a:p>
            <a:r>
              <a:rPr lang="en-US" dirty="0"/>
              <a:t>if (</a:t>
            </a:r>
            <a:r>
              <a:rPr lang="en-US" i="1" dirty="0"/>
              <a:t>condition</a:t>
            </a:r>
            <a:r>
              <a:rPr lang="en-US" dirty="0"/>
              <a:t>)</a:t>
            </a:r>
            <a:br>
              <a:rPr lang="en-US" dirty="0"/>
            </a:br>
            <a:r>
              <a:rPr lang="en-US" dirty="0"/>
              <a:t>  {</a:t>
            </a:r>
            <a:br>
              <a:rPr lang="en-US" dirty="0"/>
            </a:br>
            <a:r>
              <a:rPr lang="en-US" i="1" dirty="0"/>
              <a:t>  code to be executed if condition is true</a:t>
            </a:r>
            <a:br>
              <a:rPr lang="en-US" dirty="0"/>
            </a:br>
            <a:r>
              <a:rPr lang="en-US" dirty="0"/>
              <a:t>  }</a:t>
            </a:r>
          </a:p>
          <a:p>
            <a:pPr algn="just"/>
            <a:r>
              <a:rPr lang="en-US" dirty="0"/>
              <a:t>Note that </a:t>
            </a:r>
            <a:r>
              <a:rPr lang="en-US" i="1" dirty="0"/>
              <a:t>if</a:t>
            </a:r>
            <a:r>
              <a:rPr lang="en-US" dirty="0"/>
              <a:t> is written in lowercase letters. Using uppercase letters (IF) will generate a JavaScript error!</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a:t>    Example</a:t>
            </a:r>
          </a:p>
          <a:p>
            <a:r>
              <a:rPr lang="en-US" dirty="0"/>
              <a:t>Make a "Good day" greeting if the time is less than 20:00:</a:t>
            </a:r>
          </a:p>
          <a:p>
            <a:r>
              <a:rPr lang="en-US" dirty="0"/>
              <a:t>if (time&lt;20)</a:t>
            </a:r>
            <a:br>
              <a:rPr lang="en-US" dirty="0"/>
            </a:br>
            <a:r>
              <a:rPr lang="en-US" dirty="0"/>
              <a:t>  {</a:t>
            </a:r>
            <a:br>
              <a:rPr lang="en-US" dirty="0"/>
            </a:br>
            <a:r>
              <a:rPr lang="en-US" dirty="0"/>
              <a:t>  x="Good day";</a:t>
            </a:r>
            <a:br>
              <a:rPr lang="en-US" dirty="0"/>
            </a:br>
            <a:r>
              <a:rPr lang="en-US" dirty="0"/>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If...else Statement</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t>Use the if....else statement to execute some code if a condition is true and another code if the condition is not true.</a:t>
            </a:r>
          </a:p>
          <a:p>
            <a:pPr>
              <a:buNone/>
            </a:pPr>
            <a:r>
              <a:rPr lang="en-US" b="1" dirty="0"/>
              <a:t>     Syntax</a:t>
            </a:r>
          </a:p>
          <a:p>
            <a:r>
              <a:rPr lang="en-US" dirty="0"/>
              <a:t>if (</a:t>
            </a:r>
            <a:r>
              <a:rPr lang="en-US" i="1" dirty="0"/>
              <a:t>condition</a:t>
            </a:r>
            <a:r>
              <a:rPr lang="en-US" dirty="0"/>
              <a:t>)</a:t>
            </a:r>
            <a:br>
              <a:rPr lang="en-US" dirty="0"/>
            </a:br>
            <a:r>
              <a:rPr lang="en-US" dirty="0"/>
              <a:t>  {</a:t>
            </a:r>
            <a:br>
              <a:rPr lang="en-US" dirty="0"/>
            </a:br>
            <a:r>
              <a:rPr lang="en-US" i="1" dirty="0"/>
              <a:t>  code to be executed if condition is true</a:t>
            </a:r>
            <a:br>
              <a:rPr lang="en-US" dirty="0"/>
            </a:br>
            <a:r>
              <a:rPr lang="en-US" dirty="0"/>
              <a:t>  }</a:t>
            </a:r>
            <a:br>
              <a:rPr lang="en-US" dirty="0"/>
            </a:br>
            <a:r>
              <a:rPr lang="en-US" dirty="0"/>
              <a:t>else</a:t>
            </a:r>
            <a:br>
              <a:rPr lang="en-US" dirty="0"/>
            </a:br>
            <a:r>
              <a:rPr lang="en-US" dirty="0"/>
              <a:t>  {</a:t>
            </a:r>
            <a:br>
              <a:rPr lang="en-US" dirty="0"/>
            </a:br>
            <a:r>
              <a:rPr lang="en-US" i="1" dirty="0"/>
              <a:t>  code to be executed if condition is not true</a:t>
            </a:r>
            <a:br>
              <a:rPr lang="en-US" dirty="0"/>
            </a:br>
            <a:r>
              <a:rPr lang="en-US" dirty="0"/>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buNone/>
            </a:pPr>
            <a:r>
              <a:rPr lang="en-US" b="1" dirty="0"/>
              <a:t>     Example</a:t>
            </a:r>
          </a:p>
          <a:p>
            <a:pPr algn="just"/>
            <a:r>
              <a:rPr lang="en-US" dirty="0"/>
              <a:t>If the time is less than 20:00, you will get a "Good day" greeting, otherwise you will get a "Good evening" greeting</a:t>
            </a:r>
          </a:p>
          <a:p>
            <a:r>
              <a:rPr lang="en-US" dirty="0"/>
              <a:t>if (time&lt;20)</a:t>
            </a:r>
            <a:br>
              <a:rPr lang="en-US" dirty="0"/>
            </a:br>
            <a:r>
              <a:rPr lang="en-US" dirty="0"/>
              <a:t>  {</a:t>
            </a:r>
            <a:br>
              <a:rPr lang="en-US" dirty="0"/>
            </a:br>
            <a:r>
              <a:rPr lang="en-US" dirty="0"/>
              <a:t>  x="Good day";</a:t>
            </a:r>
            <a:br>
              <a:rPr lang="en-US" dirty="0"/>
            </a:br>
            <a:r>
              <a:rPr lang="en-US" dirty="0"/>
              <a:t>  }</a:t>
            </a:r>
            <a:br>
              <a:rPr lang="en-US" dirty="0"/>
            </a:br>
            <a:r>
              <a:rPr lang="en-US" dirty="0"/>
              <a:t>else</a:t>
            </a:r>
            <a:br>
              <a:rPr lang="en-US" dirty="0"/>
            </a:br>
            <a:r>
              <a:rPr lang="en-US" dirty="0"/>
              <a:t>  {</a:t>
            </a:r>
            <a:br>
              <a:rPr lang="en-US" dirty="0"/>
            </a:br>
            <a:r>
              <a:rPr lang="en-US" dirty="0"/>
              <a:t>  x="Good evening";</a:t>
            </a:r>
            <a:br>
              <a:rPr lang="en-US" dirty="0"/>
            </a:br>
            <a:r>
              <a:rPr lang="en-US" dirty="0"/>
              <a:t>  }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If...else if...else Statement</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dirty="0"/>
              <a:t>Use the if....else if...else statement to select one of several blocks of code to be executed.</a:t>
            </a:r>
          </a:p>
          <a:p>
            <a:pPr>
              <a:buNone/>
            </a:pPr>
            <a:r>
              <a:rPr lang="en-US" b="1" dirty="0"/>
              <a:t>     Syntax</a:t>
            </a:r>
          </a:p>
          <a:p>
            <a:r>
              <a:rPr lang="en-US" dirty="0"/>
              <a:t>if (</a:t>
            </a:r>
            <a:r>
              <a:rPr lang="en-US" i="1" dirty="0"/>
              <a:t>condition1</a:t>
            </a:r>
            <a:r>
              <a:rPr lang="en-US" dirty="0"/>
              <a:t>)</a:t>
            </a:r>
            <a:br>
              <a:rPr lang="en-US" dirty="0"/>
            </a:br>
            <a:r>
              <a:rPr lang="en-US" dirty="0"/>
              <a:t>  {</a:t>
            </a:r>
            <a:br>
              <a:rPr lang="en-US" dirty="0"/>
            </a:br>
            <a:r>
              <a:rPr lang="en-US" i="1" dirty="0"/>
              <a:t>  code to be executed if condition1 is true</a:t>
            </a:r>
            <a:br>
              <a:rPr lang="en-US" dirty="0"/>
            </a:br>
            <a:r>
              <a:rPr lang="en-US" dirty="0"/>
              <a:t>  }</a:t>
            </a:r>
            <a:br>
              <a:rPr lang="en-US" dirty="0"/>
            </a:br>
            <a:r>
              <a:rPr lang="en-US" dirty="0"/>
              <a:t>else if (</a:t>
            </a:r>
            <a:r>
              <a:rPr lang="en-US" i="1" dirty="0"/>
              <a:t>condition2</a:t>
            </a:r>
            <a:r>
              <a:rPr lang="en-US" dirty="0"/>
              <a:t>)</a:t>
            </a:r>
            <a:br>
              <a:rPr lang="en-US" dirty="0"/>
            </a:br>
            <a:r>
              <a:rPr lang="en-US" dirty="0"/>
              <a:t>  {</a:t>
            </a:r>
            <a:br>
              <a:rPr lang="en-US" dirty="0"/>
            </a:br>
            <a:r>
              <a:rPr lang="en-US" i="1" dirty="0"/>
              <a:t>  code to be executed if condition2 is true</a:t>
            </a:r>
            <a:br>
              <a:rPr lang="en-US" dirty="0"/>
            </a:br>
            <a:r>
              <a:rPr lang="en-US" dirty="0"/>
              <a:t>  }</a:t>
            </a:r>
            <a:br>
              <a:rPr lang="en-US" dirty="0"/>
            </a:br>
            <a:r>
              <a:rPr lang="en-US" dirty="0"/>
              <a:t>else</a:t>
            </a:r>
            <a:br>
              <a:rPr lang="en-US" dirty="0"/>
            </a:br>
            <a:r>
              <a:rPr lang="en-US" dirty="0"/>
              <a:t>  {</a:t>
            </a:r>
            <a:br>
              <a:rPr lang="en-US" dirty="0"/>
            </a:br>
            <a:r>
              <a:rPr lang="en-US" i="1" dirty="0"/>
              <a:t>  code to be executed if neither condition1 nor condition2 is true</a:t>
            </a:r>
            <a:br>
              <a:rPr lang="en-US" dirty="0"/>
            </a:br>
            <a:r>
              <a:rPr lang="en-US" dirty="0"/>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a:t>Example</a:t>
            </a:r>
          </a:p>
          <a:p>
            <a:pPr algn="just"/>
            <a:r>
              <a:rPr lang="en-US" dirty="0"/>
              <a:t>If the time is less than 10:00, you will get a "Good morning" greeting, if not, but the time is less than 20:00, you will get a "Good day" greeting, otherwise you will get a "Good evening" greeting:</a:t>
            </a:r>
          </a:p>
          <a:p>
            <a:r>
              <a:rPr lang="en-US" dirty="0"/>
              <a:t>if (time&lt;10)</a:t>
            </a:r>
            <a:br>
              <a:rPr lang="en-US" dirty="0"/>
            </a:br>
            <a:r>
              <a:rPr lang="en-US" dirty="0"/>
              <a:t>  {</a:t>
            </a:r>
            <a:br>
              <a:rPr lang="en-US" dirty="0"/>
            </a:br>
            <a:r>
              <a:rPr lang="en-US" dirty="0"/>
              <a:t>  x="Good morning";</a:t>
            </a:r>
            <a:br>
              <a:rPr lang="en-US" dirty="0"/>
            </a:br>
            <a:r>
              <a:rPr lang="en-US" dirty="0"/>
              <a:t>  }</a:t>
            </a:r>
            <a:br>
              <a:rPr lang="en-US" dirty="0"/>
            </a:br>
            <a:r>
              <a:rPr lang="en-US" dirty="0"/>
              <a:t>else if (time&lt;20)</a:t>
            </a:r>
            <a:br>
              <a:rPr lang="en-US" dirty="0"/>
            </a:br>
            <a:r>
              <a:rPr lang="en-US" dirty="0"/>
              <a:t>  {</a:t>
            </a:r>
            <a:br>
              <a:rPr lang="en-US" dirty="0"/>
            </a:br>
            <a:r>
              <a:rPr lang="en-US" dirty="0"/>
              <a:t>  x="Good day";</a:t>
            </a:r>
            <a:br>
              <a:rPr lang="en-US" dirty="0"/>
            </a:br>
            <a:r>
              <a:rPr lang="en-US" dirty="0"/>
              <a:t>  }</a:t>
            </a:r>
            <a:br>
              <a:rPr lang="en-US" dirty="0"/>
            </a:br>
            <a:r>
              <a:rPr lang="en-US" dirty="0"/>
              <a:t>else</a:t>
            </a:r>
            <a:br>
              <a:rPr lang="en-US" dirty="0"/>
            </a:br>
            <a:r>
              <a:rPr lang="en-US" dirty="0"/>
              <a:t>  {</a:t>
            </a:r>
            <a:br>
              <a:rPr lang="en-US" dirty="0"/>
            </a:br>
            <a:r>
              <a:rPr lang="en-US" dirty="0"/>
              <a:t>  x="Good evening";</a:t>
            </a:r>
            <a:br>
              <a:rPr lang="en-US" dirty="0"/>
            </a:br>
            <a:r>
              <a:rPr lang="en-US" dirty="0"/>
              <a:t>  }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JavaScript Switch Statement</a:t>
            </a:r>
            <a:endParaRPr lang="en-US" dirty="0"/>
          </a:p>
        </p:txBody>
      </p:sp>
      <p:sp>
        <p:nvSpPr>
          <p:cNvPr id="3" name="Content Placeholder 2"/>
          <p:cNvSpPr>
            <a:spLocks noGrp="1"/>
          </p:cNvSpPr>
          <p:nvPr>
            <p:ph idx="1"/>
          </p:nvPr>
        </p:nvSpPr>
        <p:spPr/>
        <p:txBody>
          <a:bodyPr>
            <a:normAutofit fontScale="77500" lnSpcReduction="20000"/>
          </a:bodyPr>
          <a:lstStyle/>
          <a:p>
            <a:r>
              <a:rPr lang="en-US" dirty="0"/>
              <a:t>Use the switch statement to select one of many blocks of code to be executed.</a:t>
            </a:r>
          </a:p>
          <a:p>
            <a:r>
              <a:rPr lang="en-US" b="1" dirty="0"/>
              <a:t>Syntax</a:t>
            </a:r>
          </a:p>
          <a:p>
            <a:r>
              <a:rPr lang="en-US" dirty="0"/>
              <a:t>switch(n)</a:t>
            </a:r>
            <a:br>
              <a:rPr lang="en-US" dirty="0"/>
            </a:br>
            <a:r>
              <a:rPr lang="en-US" dirty="0"/>
              <a:t>{</a:t>
            </a:r>
            <a:br>
              <a:rPr lang="en-US" dirty="0"/>
            </a:br>
            <a:r>
              <a:rPr lang="en-US" dirty="0"/>
              <a:t>case 1:</a:t>
            </a:r>
            <a:br>
              <a:rPr lang="en-US" dirty="0"/>
            </a:br>
            <a:r>
              <a:rPr lang="en-US" i="1" dirty="0"/>
              <a:t>  execute code block 1</a:t>
            </a:r>
            <a:br>
              <a:rPr lang="en-US" dirty="0"/>
            </a:br>
            <a:r>
              <a:rPr lang="en-US" dirty="0"/>
              <a:t>  break;</a:t>
            </a:r>
            <a:br>
              <a:rPr lang="en-US" dirty="0"/>
            </a:br>
            <a:r>
              <a:rPr lang="en-US" dirty="0"/>
              <a:t>case 2:</a:t>
            </a:r>
            <a:br>
              <a:rPr lang="en-US" dirty="0"/>
            </a:br>
            <a:r>
              <a:rPr lang="en-US" i="1" dirty="0"/>
              <a:t>  execute code block 2</a:t>
            </a:r>
            <a:br>
              <a:rPr lang="en-US" dirty="0"/>
            </a:br>
            <a:r>
              <a:rPr lang="en-US" dirty="0"/>
              <a:t>  break;</a:t>
            </a:r>
            <a:br>
              <a:rPr lang="en-US" dirty="0"/>
            </a:br>
            <a:r>
              <a:rPr lang="en-US" dirty="0"/>
              <a:t>default:</a:t>
            </a:r>
            <a:br>
              <a:rPr lang="en-US" dirty="0"/>
            </a:br>
            <a:r>
              <a:rPr lang="en-US" i="1" dirty="0"/>
              <a:t>  code to be executed if n is different from case 1 and 2</a:t>
            </a:r>
            <a:br>
              <a:rPr lang="en-US" dirty="0"/>
            </a:br>
            <a:r>
              <a:rPr lang="en-US" dirty="0"/>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dirty="0"/>
              <a:t>This is how it works: First we have a single expression </a:t>
            </a:r>
            <a:r>
              <a:rPr lang="en-US" i="1" dirty="0"/>
              <a:t>n</a:t>
            </a:r>
            <a:r>
              <a:rPr lang="en-US" dirty="0"/>
              <a:t> (most often a variable), that is evaluated once. </a:t>
            </a:r>
          </a:p>
          <a:p>
            <a:pPr algn="just"/>
            <a:r>
              <a:rPr lang="en-US" dirty="0"/>
              <a:t>The value of the expression is then compared with the values for each case in the structure. If there is a match, the block of code associated with that case is executed. </a:t>
            </a:r>
          </a:p>
          <a:p>
            <a:pPr algn="just"/>
            <a:r>
              <a:rPr lang="en-US" dirty="0"/>
              <a:t>Use </a:t>
            </a:r>
            <a:r>
              <a:rPr lang="en-US" b="1" dirty="0"/>
              <a:t>break</a:t>
            </a:r>
            <a:r>
              <a:rPr lang="en-US" dirty="0"/>
              <a:t> to prevent the code from running into the next case automatically.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a:t>Example</a:t>
            </a:r>
          </a:p>
          <a:p>
            <a:pPr algn="just"/>
            <a:r>
              <a:rPr lang="en-US" dirty="0"/>
              <a:t>Display today's weekday-name. Note that Sunday=0, Monday=1, Tuesday=2, etc:</a:t>
            </a:r>
          </a:p>
          <a:p>
            <a:r>
              <a:rPr lang="en-US" dirty="0" err="1"/>
              <a:t>var</a:t>
            </a:r>
            <a:r>
              <a:rPr lang="en-US" dirty="0"/>
              <a:t> day=new Date().</a:t>
            </a:r>
            <a:r>
              <a:rPr lang="en-US" dirty="0" err="1"/>
              <a:t>getDay</a:t>
            </a:r>
            <a:r>
              <a:rPr lang="en-US" dirty="0"/>
              <a:t>();</a:t>
            </a:r>
            <a:br>
              <a:rPr lang="en-US" dirty="0"/>
            </a:br>
            <a:r>
              <a:rPr lang="en-US" dirty="0"/>
              <a:t>switch (day)</a:t>
            </a:r>
            <a:br>
              <a:rPr lang="en-US" dirty="0"/>
            </a:br>
            <a:r>
              <a:rPr lang="en-US" dirty="0"/>
              <a:t>{</a:t>
            </a:r>
            <a:br>
              <a:rPr lang="en-US" dirty="0"/>
            </a:br>
            <a:r>
              <a:rPr lang="en-US" dirty="0"/>
              <a:t>case 0:</a:t>
            </a:r>
            <a:br>
              <a:rPr lang="en-US" dirty="0"/>
            </a:br>
            <a:r>
              <a:rPr lang="en-US" dirty="0"/>
              <a:t>  x="Today it's Sunday";</a:t>
            </a:r>
            <a:br>
              <a:rPr lang="en-US" dirty="0"/>
            </a:br>
            <a:r>
              <a:rPr lang="en-US" dirty="0"/>
              <a:t>  break;</a:t>
            </a:r>
            <a:br>
              <a:rPr lang="en-US" dirty="0"/>
            </a:br>
            <a:r>
              <a:rPr lang="en-US" dirty="0"/>
              <a:t>case 1:</a:t>
            </a:r>
            <a:br>
              <a:rPr lang="en-US" dirty="0"/>
            </a:br>
            <a:r>
              <a:rPr lang="en-US" dirty="0"/>
              <a:t>  x="Today it's Monday";</a:t>
            </a:r>
            <a:br>
              <a:rPr lang="en-US" dirty="0"/>
            </a:br>
            <a:r>
              <a:rPr lang="en-US" dirty="0"/>
              <a:t>  break;</a:t>
            </a:r>
            <a:br>
              <a:rPr lang="en-US" dirty="0"/>
            </a:br>
            <a:r>
              <a:rPr lang="en-US" dirty="0"/>
              <a:t>case 2:</a:t>
            </a:r>
            <a:br>
              <a:rPr lang="en-US" dirty="0"/>
            </a:br>
            <a:r>
              <a:rPr lang="en-US" dirty="0"/>
              <a:t>  x="Today it's Tuesday";</a:t>
            </a:r>
            <a:br>
              <a:rPr lang="en-US" dirty="0"/>
            </a:br>
            <a:r>
              <a:rPr lang="en-US" dirty="0"/>
              <a:t>  break;</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buNone/>
            </a:pPr>
            <a:r>
              <a:rPr lang="en-US" dirty="0"/>
              <a:t>      case 3:</a:t>
            </a:r>
            <a:br>
              <a:rPr lang="en-US" dirty="0"/>
            </a:br>
            <a:r>
              <a:rPr lang="en-US" dirty="0"/>
              <a:t>  x="Today it's Wednesday";</a:t>
            </a:r>
            <a:br>
              <a:rPr lang="en-US" dirty="0"/>
            </a:br>
            <a:r>
              <a:rPr lang="en-US" dirty="0"/>
              <a:t>  break;</a:t>
            </a:r>
            <a:br>
              <a:rPr lang="en-US" dirty="0"/>
            </a:br>
            <a:r>
              <a:rPr lang="en-US" dirty="0"/>
              <a:t>case 4:</a:t>
            </a:r>
            <a:br>
              <a:rPr lang="en-US" dirty="0"/>
            </a:br>
            <a:r>
              <a:rPr lang="en-US" dirty="0"/>
              <a:t>  x="Today it's Thursday";</a:t>
            </a:r>
            <a:br>
              <a:rPr lang="en-US" dirty="0"/>
            </a:br>
            <a:r>
              <a:rPr lang="en-US" dirty="0"/>
              <a:t>  break;</a:t>
            </a:r>
            <a:br>
              <a:rPr lang="en-US" dirty="0"/>
            </a:br>
            <a:r>
              <a:rPr lang="en-US" dirty="0"/>
              <a:t>case 5:</a:t>
            </a:r>
            <a:br>
              <a:rPr lang="en-US" dirty="0"/>
            </a:br>
            <a:r>
              <a:rPr lang="en-US" dirty="0"/>
              <a:t>  x="Today it's Friday";</a:t>
            </a:r>
            <a:br>
              <a:rPr lang="en-US" dirty="0"/>
            </a:br>
            <a:r>
              <a:rPr lang="en-US" dirty="0"/>
              <a:t>  break;</a:t>
            </a:r>
            <a:br>
              <a:rPr lang="en-US" dirty="0"/>
            </a:br>
            <a:r>
              <a:rPr lang="en-US" dirty="0"/>
              <a:t>case 6:</a:t>
            </a:r>
            <a:br>
              <a:rPr lang="en-US" dirty="0"/>
            </a:br>
            <a:r>
              <a:rPr lang="en-US" dirty="0"/>
              <a:t>  x="Today it's Saturday";</a:t>
            </a:r>
            <a:br>
              <a:rPr lang="en-US" dirty="0"/>
            </a:br>
            <a:r>
              <a:rPr lang="en-US" dirty="0"/>
              <a:t>  break;</a:t>
            </a:r>
            <a:br>
              <a:rPr lang="en-US" dirty="0"/>
            </a:br>
            <a:r>
              <a:rPr lang="en-US" dirty="0"/>
              <a:t>}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a:t>
            </a:r>
            <a:r>
              <a:rPr lang="en-US" b="1" i="1" dirty="0"/>
              <a:t>default</a:t>
            </a:r>
            <a:r>
              <a:rPr lang="en-US" b="1" dirty="0"/>
              <a:t> Keyword</a:t>
            </a:r>
            <a:endParaRPr lang="en-US" dirty="0"/>
          </a:p>
        </p:txBody>
      </p:sp>
      <p:sp>
        <p:nvSpPr>
          <p:cNvPr id="3" name="Content Placeholder 2"/>
          <p:cNvSpPr>
            <a:spLocks noGrp="1"/>
          </p:cNvSpPr>
          <p:nvPr>
            <p:ph idx="1"/>
          </p:nvPr>
        </p:nvSpPr>
        <p:spPr/>
        <p:txBody>
          <a:bodyPr>
            <a:normAutofit fontScale="92500" lnSpcReduction="20000"/>
          </a:bodyPr>
          <a:lstStyle/>
          <a:p>
            <a:r>
              <a:rPr lang="en-US" dirty="0"/>
              <a:t>Use the </a:t>
            </a:r>
            <a:r>
              <a:rPr lang="en-US" i="1" dirty="0"/>
              <a:t>default</a:t>
            </a:r>
            <a:r>
              <a:rPr lang="en-US" dirty="0"/>
              <a:t> keyword to specify what to do if there is no match:</a:t>
            </a:r>
          </a:p>
          <a:p>
            <a:r>
              <a:rPr lang="en-US" b="1" dirty="0"/>
              <a:t>Example</a:t>
            </a:r>
          </a:p>
          <a:p>
            <a:r>
              <a:rPr lang="en-US" dirty="0"/>
              <a:t>If it is NOT Saturday or Sunday, then write a default message:</a:t>
            </a:r>
          </a:p>
          <a:p>
            <a:r>
              <a:rPr lang="en-US" dirty="0" err="1"/>
              <a:t>var</a:t>
            </a:r>
            <a:r>
              <a:rPr lang="en-US" dirty="0"/>
              <a:t> day=new Date().</a:t>
            </a:r>
            <a:r>
              <a:rPr lang="en-US" dirty="0" err="1"/>
              <a:t>getDay</a:t>
            </a:r>
            <a:r>
              <a:rPr lang="en-US" dirty="0"/>
              <a:t>();</a:t>
            </a:r>
            <a:br>
              <a:rPr lang="en-US" dirty="0"/>
            </a:br>
            <a:r>
              <a:rPr lang="en-US" dirty="0"/>
              <a:t>switch (day)</a:t>
            </a:r>
            <a:br>
              <a:rPr lang="en-US" dirty="0"/>
            </a:br>
            <a:r>
              <a:rPr lang="en-US" dirty="0"/>
              <a:t>{</a:t>
            </a:r>
            <a:br>
              <a:rPr lang="en-US" dirty="0"/>
            </a:br>
            <a:r>
              <a:rPr lang="en-US" dirty="0"/>
              <a:t>case 6:</a:t>
            </a:r>
            <a:br>
              <a:rPr lang="en-US" dirty="0"/>
            </a:br>
            <a:r>
              <a:rPr lang="en-US" dirty="0"/>
              <a:t>  x="Today it's Saturday";</a:t>
            </a:r>
            <a:br>
              <a:rPr lang="en-US" dirty="0"/>
            </a:br>
            <a:r>
              <a:rPr lang="en-US" dirty="0"/>
              <a:t>  break;</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     case 0:</a:t>
            </a:r>
            <a:br>
              <a:rPr lang="en-US" dirty="0"/>
            </a:br>
            <a:r>
              <a:rPr lang="en-US" dirty="0"/>
              <a:t>  x="Today it's Sunday";</a:t>
            </a:r>
            <a:br>
              <a:rPr lang="en-US" dirty="0"/>
            </a:br>
            <a:r>
              <a:rPr lang="en-US" dirty="0"/>
              <a:t>  break;</a:t>
            </a:r>
            <a:br>
              <a:rPr lang="en-US" dirty="0"/>
            </a:br>
            <a:r>
              <a:rPr lang="en-US" dirty="0"/>
              <a:t>default:</a:t>
            </a:r>
            <a:br>
              <a:rPr lang="en-US" dirty="0"/>
            </a:br>
            <a:r>
              <a:rPr lang="en-US" dirty="0"/>
              <a:t>  x="Looking forward to the Weekend";</a:t>
            </a:r>
            <a:br>
              <a:rPr lang="en-US" dirty="0"/>
            </a:br>
            <a:r>
              <a:rPr lang="en-US" dirty="0"/>
              <a:t>}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Loops</a:t>
            </a:r>
            <a:endParaRPr lang="en-US" dirty="0"/>
          </a:p>
        </p:txBody>
      </p:sp>
      <p:sp>
        <p:nvSpPr>
          <p:cNvPr id="3" name="Content Placeholder 2"/>
          <p:cNvSpPr>
            <a:spLocks noGrp="1"/>
          </p:cNvSpPr>
          <p:nvPr>
            <p:ph idx="1"/>
          </p:nvPr>
        </p:nvSpPr>
        <p:spPr/>
        <p:txBody>
          <a:bodyPr/>
          <a:lstStyle/>
          <a:p>
            <a:pPr algn="just"/>
            <a:r>
              <a:rPr lang="en-US" dirty="0"/>
              <a:t>Loops are handy, if you want to run the same code over and over again, each time with a different value.</a:t>
            </a:r>
          </a:p>
          <a:p>
            <a:pPr algn="just"/>
            <a:r>
              <a:rPr lang="en-US" dirty="0"/>
              <a:t>Often this is the case when working with arrays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a:t>    Instead of writing:</a:t>
            </a:r>
          </a:p>
          <a:p>
            <a:r>
              <a:rPr lang="en-US" dirty="0" err="1"/>
              <a:t>document.write</a:t>
            </a:r>
            <a:r>
              <a:rPr lang="en-US" dirty="0"/>
              <a:t>(cars[0] + "&lt;</a:t>
            </a:r>
            <a:r>
              <a:rPr lang="en-US" dirty="0" err="1"/>
              <a:t>br</a:t>
            </a:r>
            <a:r>
              <a:rPr lang="en-US" dirty="0"/>
              <a:t>&gt;"); </a:t>
            </a:r>
            <a:br>
              <a:rPr lang="en-US" dirty="0"/>
            </a:br>
            <a:r>
              <a:rPr lang="en-US" dirty="0" err="1"/>
              <a:t>document.write</a:t>
            </a:r>
            <a:r>
              <a:rPr lang="en-US" dirty="0"/>
              <a:t>(cars[1] + "&lt;</a:t>
            </a:r>
            <a:r>
              <a:rPr lang="en-US" dirty="0" err="1"/>
              <a:t>br</a:t>
            </a:r>
            <a:r>
              <a:rPr lang="en-US" dirty="0"/>
              <a:t>&gt;"); </a:t>
            </a:r>
            <a:br>
              <a:rPr lang="en-US" dirty="0"/>
            </a:br>
            <a:r>
              <a:rPr lang="en-US" dirty="0" err="1"/>
              <a:t>document.write</a:t>
            </a:r>
            <a:r>
              <a:rPr lang="en-US" dirty="0"/>
              <a:t>(cars[2] + "&lt;</a:t>
            </a:r>
            <a:r>
              <a:rPr lang="en-US" dirty="0" err="1"/>
              <a:t>br</a:t>
            </a:r>
            <a:r>
              <a:rPr lang="en-US" dirty="0"/>
              <a:t>&gt;"); </a:t>
            </a:r>
            <a:br>
              <a:rPr lang="en-US" dirty="0"/>
            </a:br>
            <a:r>
              <a:rPr lang="en-US" dirty="0" err="1"/>
              <a:t>document.write</a:t>
            </a:r>
            <a:r>
              <a:rPr lang="en-US" dirty="0"/>
              <a:t>(cars[3] + "&lt;</a:t>
            </a:r>
            <a:r>
              <a:rPr lang="en-US" dirty="0" err="1"/>
              <a:t>br</a:t>
            </a:r>
            <a:r>
              <a:rPr lang="en-US" dirty="0"/>
              <a:t>&gt;"); </a:t>
            </a:r>
            <a:br>
              <a:rPr lang="en-US" dirty="0"/>
            </a:br>
            <a:r>
              <a:rPr lang="en-US" dirty="0" err="1"/>
              <a:t>document.write</a:t>
            </a:r>
            <a:r>
              <a:rPr lang="en-US" dirty="0"/>
              <a:t>(cars[4] + "&lt;</a:t>
            </a:r>
            <a:r>
              <a:rPr lang="en-US" dirty="0" err="1"/>
              <a:t>br</a:t>
            </a:r>
            <a:r>
              <a:rPr lang="en-US" dirty="0"/>
              <a:t>&gt;"); </a:t>
            </a:r>
            <a:br>
              <a:rPr lang="en-US" dirty="0"/>
            </a:br>
            <a:r>
              <a:rPr lang="en-US" dirty="0" err="1"/>
              <a:t>document.write</a:t>
            </a:r>
            <a:r>
              <a:rPr lang="en-US" dirty="0"/>
              <a:t>(cars[5] + "&lt;</a:t>
            </a:r>
            <a:r>
              <a:rPr lang="en-US" dirty="0" err="1"/>
              <a:t>br</a:t>
            </a:r>
            <a:r>
              <a:rPr lang="en-US" dirty="0"/>
              <a:t>&gt;");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for (</a:t>
            </a:r>
            <a:r>
              <a:rPr lang="en-US" dirty="0" err="1"/>
              <a:t>var</a:t>
            </a:r>
            <a:r>
              <a:rPr lang="en-US" dirty="0"/>
              <a:t> </a:t>
            </a:r>
            <a:r>
              <a:rPr lang="en-US" dirty="0" err="1"/>
              <a:t>i</a:t>
            </a:r>
            <a:r>
              <a:rPr lang="en-US" dirty="0"/>
              <a:t>=0;i&lt;</a:t>
            </a:r>
            <a:r>
              <a:rPr lang="en-US" dirty="0" err="1"/>
              <a:t>cars.length;i</a:t>
            </a:r>
            <a:r>
              <a:rPr lang="en-US" dirty="0"/>
              <a:t>++)</a:t>
            </a:r>
            <a:br>
              <a:rPr lang="en-US" dirty="0"/>
            </a:br>
            <a:r>
              <a:rPr lang="en-US" dirty="0"/>
              <a:t>{ </a:t>
            </a:r>
            <a:br>
              <a:rPr lang="en-US" dirty="0"/>
            </a:br>
            <a:r>
              <a:rPr lang="en-US" dirty="0" err="1"/>
              <a:t>document.write</a:t>
            </a:r>
            <a:r>
              <a:rPr lang="en-US" dirty="0"/>
              <a:t>(cars[</a:t>
            </a:r>
            <a:r>
              <a:rPr lang="en-US" dirty="0" err="1"/>
              <a:t>i</a:t>
            </a:r>
            <a:r>
              <a:rPr lang="en-US" dirty="0"/>
              <a:t>] + "&lt;</a:t>
            </a:r>
            <a:r>
              <a:rPr lang="en-US" dirty="0" err="1"/>
              <a:t>br</a:t>
            </a:r>
            <a:r>
              <a:rPr lang="en-US" dirty="0"/>
              <a:t>&gt;");</a:t>
            </a:r>
            <a:br>
              <a:rPr lang="en-US" dirty="0"/>
            </a:br>
            <a:r>
              <a:rPr lang="en-US" dirty="0"/>
              <a: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Different Kinds of Loops</a:t>
            </a:r>
            <a:endParaRPr lang="en-US" dirty="0"/>
          </a:p>
        </p:txBody>
      </p:sp>
      <p:sp>
        <p:nvSpPr>
          <p:cNvPr id="3" name="Content Placeholder 2"/>
          <p:cNvSpPr>
            <a:spLocks noGrp="1"/>
          </p:cNvSpPr>
          <p:nvPr>
            <p:ph idx="1"/>
          </p:nvPr>
        </p:nvSpPr>
        <p:spPr/>
        <p:txBody>
          <a:bodyPr>
            <a:normAutofit lnSpcReduction="10000"/>
          </a:bodyPr>
          <a:lstStyle/>
          <a:p>
            <a:pPr algn="just"/>
            <a:r>
              <a:rPr lang="en-US" dirty="0"/>
              <a:t>JavaScript supports different kinds of loops:</a:t>
            </a:r>
          </a:p>
          <a:p>
            <a:pPr algn="just"/>
            <a:r>
              <a:rPr lang="en-US" b="1" dirty="0"/>
              <a:t>for </a:t>
            </a:r>
            <a:r>
              <a:rPr lang="en-US" dirty="0"/>
              <a:t>- loops through a block of code a number of times</a:t>
            </a:r>
          </a:p>
          <a:p>
            <a:pPr algn="just"/>
            <a:r>
              <a:rPr lang="en-US" b="1" dirty="0"/>
              <a:t>for/in </a:t>
            </a:r>
            <a:r>
              <a:rPr lang="en-US" dirty="0"/>
              <a:t>- loops through the properties of an object</a:t>
            </a:r>
          </a:p>
          <a:p>
            <a:pPr algn="just"/>
            <a:r>
              <a:rPr lang="en-US" b="1" dirty="0"/>
              <a:t>while </a:t>
            </a:r>
            <a:r>
              <a:rPr lang="en-US" dirty="0"/>
              <a:t>- loops through a block of code while a specified condition is true</a:t>
            </a:r>
          </a:p>
          <a:p>
            <a:pPr algn="just"/>
            <a:r>
              <a:rPr lang="en-US" b="1" dirty="0"/>
              <a:t>do/while</a:t>
            </a:r>
            <a:r>
              <a:rPr lang="en-US" dirty="0"/>
              <a:t> - also loops through a block of code while a specified condition is true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Content Placeholder 2"/>
          <p:cNvSpPr>
            <a:spLocks noGrp="1"/>
          </p:cNvSpPr>
          <p:nvPr>
            <p:ph idx="1"/>
          </p:nvPr>
        </p:nvSpPr>
        <p:spPr/>
        <p:txBody>
          <a:bodyPr/>
          <a:lstStyle/>
          <a:p>
            <a:pPr algn="just"/>
            <a:r>
              <a:rPr lang="en-US" dirty="0"/>
              <a:t>The for loop is often the tool you will use when you want to create a loop.</a:t>
            </a:r>
          </a:p>
          <a:p>
            <a:pPr algn="just"/>
            <a:r>
              <a:rPr lang="en-US" dirty="0"/>
              <a:t>The for loop has the following syntax:</a:t>
            </a:r>
          </a:p>
          <a:p>
            <a:r>
              <a:rPr lang="en-US" dirty="0"/>
              <a:t>for (</a:t>
            </a:r>
            <a:r>
              <a:rPr lang="en-US" i="1" dirty="0"/>
              <a:t>statement 1</a:t>
            </a:r>
            <a:r>
              <a:rPr lang="en-US" dirty="0"/>
              <a:t>;</a:t>
            </a:r>
            <a:r>
              <a:rPr lang="en-US" i="1" dirty="0"/>
              <a:t> statement 2</a:t>
            </a:r>
            <a:r>
              <a:rPr lang="en-US" dirty="0"/>
              <a:t>;</a:t>
            </a:r>
            <a:r>
              <a:rPr lang="en-US" i="1" dirty="0"/>
              <a:t> statement 3</a:t>
            </a:r>
            <a:r>
              <a:rPr lang="en-US" dirty="0"/>
              <a:t>)</a:t>
            </a:r>
            <a:br>
              <a:rPr lang="en-US" dirty="0"/>
            </a:br>
            <a:r>
              <a:rPr lang="en-US" dirty="0"/>
              <a:t>  {</a:t>
            </a:r>
            <a:br>
              <a:rPr lang="en-US" dirty="0"/>
            </a:br>
            <a:r>
              <a:rPr lang="en-US" i="1" dirty="0"/>
              <a:t>  the code block to be executed</a:t>
            </a:r>
            <a:br>
              <a:rPr lang="en-US" dirty="0"/>
            </a:br>
            <a:r>
              <a:rPr lang="en-US" dirty="0"/>
              <a:t>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b="1" dirty="0"/>
              <a:t>Statement 1</a:t>
            </a:r>
            <a:r>
              <a:rPr lang="en-US" dirty="0"/>
              <a:t> is executed before the loop (the code block) starts.</a:t>
            </a:r>
          </a:p>
          <a:p>
            <a:pPr algn="just"/>
            <a:r>
              <a:rPr lang="en-US" b="1" dirty="0"/>
              <a:t>Statement 2</a:t>
            </a:r>
            <a:r>
              <a:rPr lang="en-US" dirty="0"/>
              <a:t> defines the condition for running the loop (the code block).</a:t>
            </a:r>
          </a:p>
          <a:p>
            <a:pPr algn="just"/>
            <a:r>
              <a:rPr lang="en-US" b="1" dirty="0"/>
              <a:t>Statement 3</a:t>
            </a:r>
            <a:r>
              <a:rPr lang="en-US" dirty="0"/>
              <a:t> is executed each time after the loop (the code block) has been executed.</a:t>
            </a:r>
          </a:p>
          <a:p>
            <a:r>
              <a:rPr lang="en-US" b="1" dirty="0"/>
              <a:t>Example</a:t>
            </a:r>
          </a:p>
          <a:p>
            <a:r>
              <a:rPr lang="en-US" dirty="0"/>
              <a:t>for (</a:t>
            </a:r>
            <a:r>
              <a:rPr lang="en-US" dirty="0" err="1"/>
              <a:t>var</a:t>
            </a:r>
            <a:r>
              <a:rPr lang="en-US" dirty="0"/>
              <a:t> </a:t>
            </a:r>
            <a:r>
              <a:rPr lang="en-US" dirty="0" err="1"/>
              <a:t>i</a:t>
            </a:r>
            <a:r>
              <a:rPr lang="en-US" dirty="0"/>
              <a:t>=0; </a:t>
            </a:r>
            <a:r>
              <a:rPr lang="en-US" dirty="0" err="1"/>
              <a:t>i</a:t>
            </a:r>
            <a:r>
              <a:rPr lang="en-US" dirty="0"/>
              <a:t>&lt;5; </a:t>
            </a:r>
            <a:r>
              <a:rPr lang="en-US" dirty="0" err="1"/>
              <a:t>i</a:t>
            </a:r>
            <a:r>
              <a:rPr lang="en-US" dirty="0"/>
              <a:t>++)</a:t>
            </a:r>
            <a:br>
              <a:rPr lang="en-US" dirty="0"/>
            </a:br>
            <a:r>
              <a:rPr lang="en-US" dirty="0"/>
              <a:t>  {</a:t>
            </a:r>
            <a:br>
              <a:rPr lang="en-US" dirty="0"/>
            </a:br>
            <a:r>
              <a:rPr lang="en-US" dirty="0"/>
              <a:t>  x=x + "The number is " + </a:t>
            </a:r>
            <a:r>
              <a:rPr lang="en-US" dirty="0" err="1"/>
              <a:t>i</a:t>
            </a:r>
            <a:r>
              <a:rPr lang="en-US" dirty="0"/>
              <a:t> + "&lt;</a:t>
            </a:r>
            <a:r>
              <a:rPr lang="en-US" dirty="0" err="1"/>
              <a:t>br</a:t>
            </a:r>
            <a:r>
              <a:rPr lang="en-US" dirty="0"/>
              <a:t>&gt;";</a:t>
            </a:r>
            <a:br>
              <a:rPr lang="en-US" dirty="0"/>
            </a:br>
            <a:r>
              <a:rPr lang="en-US" dirty="0"/>
              <a:t>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For/In Loop</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The JavaScript for/in statement loops through the properties of an object:</a:t>
            </a:r>
          </a:p>
          <a:p>
            <a:r>
              <a:rPr lang="en-US" b="1" dirty="0"/>
              <a:t>Example</a:t>
            </a:r>
          </a:p>
          <a:p>
            <a:r>
              <a:rPr lang="en-US" dirty="0" err="1"/>
              <a:t>var</a:t>
            </a:r>
            <a:r>
              <a:rPr lang="en-US" dirty="0"/>
              <a:t> txt = "";</a:t>
            </a:r>
          </a:p>
          <a:p>
            <a:pPr>
              <a:buNone/>
            </a:pPr>
            <a:r>
              <a:rPr lang="en-US" dirty="0"/>
              <a:t>    </a:t>
            </a:r>
            <a:r>
              <a:rPr lang="en-US" dirty="0" err="1"/>
              <a:t>var</a:t>
            </a:r>
            <a:r>
              <a:rPr lang="en-US" dirty="0"/>
              <a:t> person = {</a:t>
            </a:r>
            <a:r>
              <a:rPr lang="en-US" dirty="0" err="1"/>
              <a:t>fname</a:t>
            </a:r>
            <a:r>
              <a:rPr lang="en-US" dirty="0"/>
              <a:t>:"John", </a:t>
            </a:r>
            <a:r>
              <a:rPr lang="en-US" dirty="0" err="1"/>
              <a:t>lname</a:t>
            </a:r>
            <a:r>
              <a:rPr lang="en-US" dirty="0"/>
              <a:t>:"Doe", age:25}; </a:t>
            </a:r>
          </a:p>
          <a:p>
            <a:pPr>
              <a:buNone/>
            </a:pPr>
            <a:r>
              <a:rPr lang="en-US" dirty="0"/>
              <a:t>    </a:t>
            </a:r>
            <a:r>
              <a:rPr lang="en-US" dirty="0" err="1"/>
              <a:t>var</a:t>
            </a:r>
            <a:r>
              <a:rPr lang="en-US" dirty="0"/>
              <a:t> x;</a:t>
            </a:r>
          </a:p>
          <a:p>
            <a:pPr>
              <a:buNone/>
            </a:pPr>
            <a:r>
              <a:rPr lang="en-US" dirty="0"/>
              <a:t>    for (x in person) {</a:t>
            </a:r>
          </a:p>
          <a:p>
            <a:pPr>
              <a:buNone/>
            </a:pPr>
            <a:r>
              <a:rPr lang="en-US" dirty="0"/>
              <a:t>    txt += person[x] + " ";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While Loop</a:t>
            </a:r>
            <a:endParaRPr lang="en-US" dirty="0"/>
          </a:p>
        </p:txBody>
      </p:sp>
      <p:sp>
        <p:nvSpPr>
          <p:cNvPr id="3" name="Content Placeholder 2"/>
          <p:cNvSpPr>
            <a:spLocks noGrp="1"/>
          </p:cNvSpPr>
          <p:nvPr>
            <p:ph idx="1"/>
          </p:nvPr>
        </p:nvSpPr>
        <p:spPr/>
        <p:txBody>
          <a:bodyPr/>
          <a:lstStyle/>
          <a:p>
            <a:pPr algn="just"/>
            <a:r>
              <a:rPr lang="en-US" dirty="0"/>
              <a:t>The while loop loops through a block of code as long as a specified condition is true.</a:t>
            </a:r>
          </a:p>
          <a:p>
            <a:r>
              <a:rPr lang="en-US" b="1" dirty="0"/>
              <a:t>Syntax</a:t>
            </a:r>
          </a:p>
          <a:p>
            <a:r>
              <a:rPr lang="en-US" dirty="0"/>
              <a:t>while (</a:t>
            </a:r>
            <a:r>
              <a:rPr lang="en-US" i="1" dirty="0"/>
              <a:t>condition</a:t>
            </a:r>
            <a:r>
              <a:rPr lang="en-US" dirty="0"/>
              <a:t>)</a:t>
            </a:r>
            <a:br>
              <a:rPr lang="en-US" dirty="0"/>
            </a:br>
            <a:r>
              <a:rPr lang="en-US" dirty="0"/>
              <a:t>  {</a:t>
            </a:r>
            <a:br>
              <a:rPr lang="en-US" dirty="0"/>
            </a:br>
            <a:r>
              <a:rPr lang="en-US" i="1" dirty="0"/>
              <a:t>  code block to be executed</a:t>
            </a:r>
            <a:br>
              <a:rPr lang="en-US" dirty="0"/>
            </a:br>
            <a:r>
              <a:rPr lang="en-US" dirty="0"/>
              <a:t>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The loop in this example will continue to run as long as the variable </a:t>
            </a:r>
            <a:r>
              <a:rPr lang="en-US" dirty="0" err="1"/>
              <a:t>i</a:t>
            </a:r>
            <a:r>
              <a:rPr lang="en-US" dirty="0"/>
              <a:t> is less than 5:</a:t>
            </a:r>
          </a:p>
          <a:p>
            <a:r>
              <a:rPr lang="en-US" b="1" dirty="0"/>
              <a:t>Example</a:t>
            </a:r>
          </a:p>
          <a:p>
            <a:r>
              <a:rPr lang="en-US" dirty="0"/>
              <a:t>while (</a:t>
            </a:r>
            <a:r>
              <a:rPr lang="en-US" dirty="0" err="1"/>
              <a:t>i</a:t>
            </a:r>
            <a:r>
              <a:rPr lang="en-US" dirty="0"/>
              <a:t>&lt;5)</a:t>
            </a:r>
            <a:br>
              <a:rPr lang="en-US" dirty="0"/>
            </a:br>
            <a:r>
              <a:rPr lang="en-US" dirty="0"/>
              <a:t>  {</a:t>
            </a:r>
            <a:br>
              <a:rPr lang="en-US" dirty="0"/>
            </a:br>
            <a:r>
              <a:rPr lang="en-US" dirty="0"/>
              <a:t>  x=x + "The number is " + </a:t>
            </a:r>
            <a:r>
              <a:rPr lang="en-US" dirty="0" err="1"/>
              <a:t>i</a:t>
            </a:r>
            <a:r>
              <a:rPr lang="en-US" dirty="0"/>
              <a:t> + "&lt;</a:t>
            </a:r>
            <a:r>
              <a:rPr lang="en-US" dirty="0" err="1"/>
              <a:t>br</a:t>
            </a:r>
            <a:r>
              <a:rPr lang="en-US" dirty="0"/>
              <a:t>&gt;";</a:t>
            </a:r>
            <a:br>
              <a:rPr lang="en-US" dirty="0"/>
            </a:br>
            <a:r>
              <a:rPr lang="en-US" dirty="0"/>
              <a:t>  </a:t>
            </a:r>
            <a:r>
              <a:rPr lang="en-US" dirty="0" err="1"/>
              <a:t>i</a:t>
            </a:r>
            <a:r>
              <a:rPr lang="en-US" dirty="0"/>
              <a:t>++;</a:t>
            </a:r>
            <a:br>
              <a:rPr lang="en-US" dirty="0"/>
            </a:br>
            <a:r>
              <a:rPr lang="en-US" dirty="0"/>
              <a:t>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Note: If you forget to increase the variable used in the condition, the loop will never end. This will crash your browser.</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Do/While Loop</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The do/while loop is a variant of the while loop. This loop will execute the code block once, before checking if the condition is true, then it will repeat the loop as long as the condition is true.</a:t>
            </a:r>
          </a:p>
          <a:p>
            <a:r>
              <a:rPr lang="en-US" b="1" dirty="0"/>
              <a:t>Syntax</a:t>
            </a:r>
          </a:p>
          <a:p>
            <a:r>
              <a:rPr lang="en-US" dirty="0"/>
              <a:t>do</a:t>
            </a:r>
            <a:br>
              <a:rPr lang="en-US" dirty="0"/>
            </a:br>
            <a:r>
              <a:rPr lang="en-US" dirty="0"/>
              <a:t>  {</a:t>
            </a:r>
            <a:br>
              <a:rPr lang="en-US" dirty="0"/>
            </a:br>
            <a:r>
              <a:rPr lang="en-US" i="1" dirty="0"/>
              <a:t>  code block to be executed</a:t>
            </a:r>
            <a:br>
              <a:rPr lang="en-US" i="1" dirty="0"/>
            </a:br>
            <a:r>
              <a:rPr lang="en-US" i="1" dirty="0"/>
              <a:t>  </a:t>
            </a:r>
            <a:r>
              <a:rPr lang="en-US" dirty="0"/>
              <a:t>}</a:t>
            </a:r>
            <a:br>
              <a:rPr lang="en-US" dirty="0"/>
            </a:br>
            <a:r>
              <a:rPr lang="en-US" dirty="0"/>
              <a:t>while (</a:t>
            </a:r>
            <a:r>
              <a:rPr lang="en-US" i="1" dirty="0"/>
              <a:t>condition</a:t>
            </a:r>
            <a:r>
              <a:rPr lang="en-US" dirty="0"/>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dirty="0"/>
              <a:t>Example</a:t>
            </a:r>
          </a:p>
          <a:p>
            <a:pPr algn="just"/>
            <a:r>
              <a:rPr lang="en-US" dirty="0"/>
              <a:t>The example below uses a do/while loop. The loop will always be executed at least once, even if the condition is false, because the code block is executed before the condition is tested:</a:t>
            </a:r>
          </a:p>
          <a:p>
            <a:r>
              <a:rPr lang="en-US" b="1" dirty="0"/>
              <a:t>Example</a:t>
            </a:r>
          </a:p>
          <a:p>
            <a:r>
              <a:rPr lang="en-US" dirty="0"/>
              <a:t>do</a:t>
            </a:r>
            <a:br>
              <a:rPr lang="en-US" dirty="0"/>
            </a:br>
            <a:r>
              <a:rPr lang="en-US" dirty="0"/>
              <a:t>  {</a:t>
            </a:r>
            <a:br>
              <a:rPr lang="en-US" dirty="0"/>
            </a:br>
            <a:r>
              <a:rPr lang="en-US" dirty="0"/>
              <a:t>  x=x + "The number is " + </a:t>
            </a:r>
            <a:r>
              <a:rPr lang="en-US" dirty="0" err="1"/>
              <a:t>i</a:t>
            </a:r>
            <a:r>
              <a:rPr lang="en-US" dirty="0"/>
              <a:t> + "&lt;</a:t>
            </a:r>
            <a:r>
              <a:rPr lang="en-US" dirty="0" err="1"/>
              <a:t>br</a:t>
            </a:r>
            <a:r>
              <a:rPr lang="en-US" dirty="0"/>
              <a:t>&gt;";</a:t>
            </a:r>
            <a:br>
              <a:rPr lang="en-US" dirty="0"/>
            </a:br>
            <a:r>
              <a:rPr lang="en-US" dirty="0"/>
              <a:t>  </a:t>
            </a:r>
            <a:r>
              <a:rPr lang="en-US" dirty="0" err="1"/>
              <a:t>i</a:t>
            </a:r>
            <a:r>
              <a:rPr lang="en-US" dirty="0"/>
              <a:t>++;</a:t>
            </a:r>
            <a:br>
              <a:rPr lang="en-US" dirty="0"/>
            </a:br>
            <a:r>
              <a:rPr lang="en-US" dirty="0"/>
              <a:t>  }</a:t>
            </a:r>
            <a:br>
              <a:rPr lang="en-US" dirty="0"/>
            </a:br>
            <a:r>
              <a:rPr lang="en-US" dirty="0"/>
              <a:t>while (</a:t>
            </a:r>
            <a:r>
              <a:rPr lang="en-US" dirty="0" err="1"/>
              <a:t>i</a:t>
            </a:r>
            <a:r>
              <a:rPr lang="en-US" dirty="0"/>
              <a:t>&lt;5);</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Form Validation</a:t>
            </a:r>
            <a:endParaRPr lang="en-US" dirty="0"/>
          </a:p>
        </p:txBody>
      </p:sp>
      <p:sp>
        <p:nvSpPr>
          <p:cNvPr id="3" name="Content Placeholder 2"/>
          <p:cNvSpPr>
            <a:spLocks noGrp="1"/>
          </p:cNvSpPr>
          <p:nvPr>
            <p:ph idx="1"/>
          </p:nvPr>
        </p:nvSpPr>
        <p:spPr/>
        <p:txBody>
          <a:bodyPr>
            <a:normAutofit fontScale="92500"/>
          </a:bodyPr>
          <a:lstStyle/>
          <a:p>
            <a:pPr algn="just"/>
            <a:r>
              <a:rPr lang="en-US" dirty="0"/>
              <a:t>JavaScript can be used to validate data in HTML forms before sending off the content to a server.</a:t>
            </a:r>
          </a:p>
          <a:p>
            <a:pPr algn="just"/>
            <a:r>
              <a:rPr lang="en-US" dirty="0"/>
              <a:t>Form data that typically are checked by a JavaScript could be:</a:t>
            </a:r>
          </a:p>
          <a:p>
            <a:pPr algn="just"/>
            <a:r>
              <a:rPr lang="en-US" dirty="0"/>
              <a:t>has the user left required fields empty?</a:t>
            </a:r>
          </a:p>
          <a:p>
            <a:pPr algn="just"/>
            <a:r>
              <a:rPr lang="en-US" dirty="0"/>
              <a:t>has the user entered a valid e-mail address?</a:t>
            </a:r>
          </a:p>
          <a:p>
            <a:pPr algn="just"/>
            <a:r>
              <a:rPr lang="en-US" dirty="0"/>
              <a:t>has the user entered a valid date?</a:t>
            </a:r>
          </a:p>
          <a:p>
            <a:pPr algn="just"/>
            <a:r>
              <a:rPr lang="en-US" dirty="0"/>
              <a:t>has the user entered text in a numeric field?</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Required Fields</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t>The function below checks if a field has been left empty. If the field is blank, an alert box alerts a message, the function returns false, and the form will not be submitted:</a:t>
            </a:r>
          </a:p>
          <a:p>
            <a:r>
              <a:rPr lang="en-US" dirty="0"/>
              <a:t>function </a:t>
            </a:r>
            <a:r>
              <a:rPr lang="en-US" dirty="0" err="1"/>
              <a:t>validateForm</a:t>
            </a:r>
            <a:r>
              <a:rPr lang="en-US" dirty="0"/>
              <a:t>()</a:t>
            </a:r>
            <a:br>
              <a:rPr lang="en-US" dirty="0"/>
            </a:br>
            <a:r>
              <a:rPr lang="en-US" dirty="0"/>
              <a:t>{</a:t>
            </a:r>
            <a:br>
              <a:rPr lang="en-US" dirty="0"/>
            </a:br>
            <a:r>
              <a:rPr lang="en-US" dirty="0" err="1"/>
              <a:t>var</a:t>
            </a:r>
            <a:r>
              <a:rPr lang="en-US" dirty="0"/>
              <a:t> x=</a:t>
            </a:r>
            <a:r>
              <a:rPr lang="en-US" dirty="0" err="1"/>
              <a:t>document.forms</a:t>
            </a:r>
            <a:r>
              <a:rPr lang="en-US" dirty="0"/>
              <a:t>["</a:t>
            </a:r>
            <a:r>
              <a:rPr lang="en-US" dirty="0" err="1"/>
              <a:t>myForm</a:t>
            </a:r>
            <a:r>
              <a:rPr lang="en-US" dirty="0"/>
              <a:t>"]["</a:t>
            </a:r>
            <a:r>
              <a:rPr lang="en-US" dirty="0" err="1"/>
              <a:t>fname</a:t>
            </a:r>
            <a:r>
              <a:rPr lang="en-US" dirty="0"/>
              <a:t>"].value;</a:t>
            </a:r>
            <a:br>
              <a:rPr lang="en-US" dirty="0"/>
            </a:br>
            <a:r>
              <a:rPr lang="en-US" dirty="0"/>
              <a:t>if (x==null || x=="")</a:t>
            </a:r>
            <a:br>
              <a:rPr lang="en-US" dirty="0"/>
            </a:br>
            <a:r>
              <a:rPr lang="en-US" dirty="0"/>
              <a:t>  {</a:t>
            </a:r>
            <a:br>
              <a:rPr lang="en-US" dirty="0"/>
            </a:br>
            <a:r>
              <a:rPr lang="en-US" dirty="0"/>
              <a:t>  alert("First name must be filled out");</a:t>
            </a:r>
            <a:br>
              <a:rPr lang="en-US" dirty="0"/>
            </a:br>
            <a:r>
              <a:rPr lang="en-US" dirty="0"/>
              <a:t>  return false;</a:t>
            </a:r>
            <a:br>
              <a:rPr lang="en-US" dirty="0"/>
            </a:br>
            <a:r>
              <a:rPr lang="en-US" dirty="0"/>
              <a:t>  }</a:t>
            </a:r>
            <a:br>
              <a:rPr lang="en-US" dirty="0"/>
            </a:br>
            <a:r>
              <a:rPr lang="en-US" dirty="0"/>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&lt;form name="</a:t>
            </a:r>
            <a:r>
              <a:rPr lang="en-US" dirty="0" err="1"/>
              <a:t>myForm</a:t>
            </a:r>
            <a:r>
              <a:rPr lang="en-US" dirty="0"/>
              <a:t>“ action="demo_form.asp" </a:t>
            </a:r>
            <a:r>
              <a:rPr lang="en-US" dirty="0" err="1"/>
              <a:t>onsubmit</a:t>
            </a:r>
            <a:r>
              <a:rPr lang="en-US" dirty="0"/>
              <a:t>="return </a:t>
            </a:r>
            <a:r>
              <a:rPr lang="en-US" dirty="0" err="1"/>
              <a:t>validateForm</a:t>
            </a:r>
            <a:r>
              <a:rPr lang="en-US" dirty="0"/>
              <a:t>()" method="post"&gt;</a:t>
            </a:r>
            <a:br>
              <a:rPr lang="en-US" dirty="0"/>
            </a:br>
            <a:r>
              <a:rPr lang="en-US" dirty="0"/>
              <a:t>First name: &lt;input type="text" name="</a:t>
            </a:r>
            <a:r>
              <a:rPr lang="en-US" dirty="0" err="1"/>
              <a:t>fname</a:t>
            </a:r>
            <a:r>
              <a:rPr lang="en-US" dirty="0"/>
              <a:t>"&gt;</a:t>
            </a:r>
            <a:br>
              <a:rPr lang="en-US" dirty="0"/>
            </a:br>
            <a:r>
              <a:rPr lang="en-US" dirty="0"/>
              <a:t>&lt;input type="submit" value="Submit"&gt;</a:t>
            </a:r>
            <a:br>
              <a:rPr lang="en-US" dirty="0"/>
            </a:br>
            <a:r>
              <a:rPr lang="en-US" dirty="0"/>
              <a:t>&lt;/form&gt;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E-mail Validation</a:t>
            </a:r>
            <a:endParaRPr lang="en-US" dirty="0"/>
          </a:p>
        </p:txBody>
      </p:sp>
      <p:sp>
        <p:nvSpPr>
          <p:cNvPr id="3" name="Content Placeholder 2"/>
          <p:cNvSpPr>
            <a:spLocks noGrp="1"/>
          </p:cNvSpPr>
          <p:nvPr>
            <p:ph idx="1"/>
          </p:nvPr>
        </p:nvSpPr>
        <p:spPr/>
        <p:txBody>
          <a:bodyPr/>
          <a:lstStyle/>
          <a:p>
            <a:pPr algn="just"/>
            <a:r>
              <a:rPr lang="en-US" dirty="0"/>
              <a:t>The function below checks if the content has the general syntax of an email.</a:t>
            </a:r>
          </a:p>
          <a:p>
            <a:pPr algn="just"/>
            <a:r>
              <a:rPr lang="en-US" dirty="0"/>
              <a:t>This means that the input data must contain an @ sign and at least one dot (.). Also, the @ must not be the first character of the email address, and the last dot must be present after the @ sign, and minimum 2 characters before the end</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a:t>function </a:t>
            </a:r>
            <a:r>
              <a:rPr lang="en-US" dirty="0" err="1"/>
              <a:t>validateForm</a:t>
            </a:r>
            <a:r>
              <a:rPr lang="en-US" dirty="0"/>
              <a:t>()</a:t>
            </a:r>
            <a:br>
              <a:rPr lang="en-US" dirty="0"/>
            </a:br>
            <a:r>
              <a:rPr lang="en-US" dirty="0"/>
              <a:t>{</a:t>
            </a:r>
            <a:br>
              <a:rPr lang="en-US" dirty="0"/>
            </a:br>
            <a:r>
              <a:rPr lang="en-US" dirty="0" err="1"/>
              <a:t>var</a:t>
            </a:r>
            <a:r>
              <a:rPr lang="en-US" dirty="0"/>
              <a:t> x=</a:t>
            </a:r>
            <a:r>
              <a:rPr lang="en-US" dirty="0" err="1"/>
              <a:t>document.forms</a:t>
            </a:r>
            <a:r>
              <a:rPr lang="en-US" dirty="0"/>
              <a:t>["</a:t>
            </a:r>
            <a:r>
              <a:rPr lang="en-US" dirty="0" err="1"/>
              <a:t>myForm</a:t>
            </a:r>
            <a:r>
              <a:rPr lang="en-US" dirty="0"/>
              <a:t>"]["email"].value;</a:t>
            </a:r>
            <a:br>
              <a:rPr lang="en-US" dirty="0"/>
            </a:br>
            <a:r>
              <a:rPr lang="en-US" dirty="0" err="1"/>
              <a:t>var</a:t>
            </a:r>
            <a:r>
              <a:rPr lang="en-US" dirty="0"/>
              <a:t> </a:t>
            </a:r>
            <a:r>
              <a:rPr lang="en-US" dirty="0" err="1"/>
              <a:t>atpos</a:t>
            </a:r>
            <a:r>
              <a:rPr lang="en-US" dirty="0"/>
              <a:t>=</a:t>
            </a:r>
            <a:r>
              <a:rPr lang="en-US" dirty="0" err="1"/>
              <a:t>x.indexOf</a:t>
            </a:r>
            <a:r>
              <a:rPr lang="en-US" dirty="0"/>
              <a:t>("@");</a:t>
            </a:r>
            <a:br>
              <a:rPr lang="en-US" dirty="0"/>
            </a:br>
            <a:r>
              <a:rPr lang="en-US" dirty="0" err="1"/>
              <a:t>var</a:t>
            </a:r>
            <a:r>
              <a:rPr lang="en-US" dirty="0"/>
              <a:t> </a:t>
            </a:r>
            <a:r>
              <a:rPr lang="en-US" dirty="0" err="1"/>
              <a:t>dotpos</a:t>
            </a:r>
            <a:r>
              <a:rPr lang="en-US" dirty="0"/>
              <a:t>=</a:t>
            </a:r>
            <a:r>
              <a:rPr lang="en-US" dirty="0" err="1"/>
              <a:t>x.lastIndexOf</a:t>
            </a:r>
            <a:r>
              <a:rPr lang="en-US" dirty="0"/>
              <a:t>(".");</a:t>
            </a:r>
            <a:br>
              <a:rPr lang="en-US" dirty="0"/>
            </a:br>
            <a:r>
              <a:rPr lang="en-US" dirty="0"/>
              <a:t>if (</a:t>
            </a:r>
            <a:r>
              <a:rPr lang="en-US" dirty="0" err="1"/>
              <a:t>atpos</a:t>
            </a:r>
            <a:r>
              <a:rPr lang="en-US" dirty="0"/>
              <a:t>&lt;1 || </a:t>
            </a:r>
            <a:r>
              <a:rPr lang="en-US" dirty="0" err="1"/>
              <a:t>dotpos</a:t>
            </a:r>
            <a:r>
              <a:rPr lang="en-US" dirty="0"/>
              <a:t>&lt;atpos+2 || dotpos+2&gt;=</a:t>
            </a:r>
            <a:r>
              <a:rPr lang="en-US" dirty="0" err="1"/>
              <a:t>x.length</a:t>
            </a:r>
            <a:r>
              <a:rPr lang="en-US" dirty="0"/>
              <a:t>)</a:t>
            </a:r>
            <a:br>
              <a:rPr lang="en-US" dirty="0"/>
            </a:br>
            <a:r>
              <a:rPr lang="en-US" dirty="0"/>
              <a:t>  {</a:t>
            </a:r>
            <a:br>
              <a:rPr lang="en-US" dirty="0"/>
            </a:br>
            <a:r>
              <a:rPr lang="en-US" dirty="0"/>
              <a:t>  alert("Not a valid e-mail address");</a:t>
            </a:r>
            <a:br>
              <a:rPr lang="en-US" dirty="0"/>
            </a:br>
            <a:r>
              <a:rPr lang="en-US" dirty="0"/>
              <a:t>  return false;</a:t>
            </a:r>
            <a:br>
              <a:rPr lang="en-US" dirty="0"/>
            </a:br>
            <a:r>
              <a:rPr lang="en-US" dirty="0"/>
              <a:t>  }</a:t>
            </a:r>
            <a:br>
              <a:rPr lang="en-US" dirty="0"/>
            </a:br>
            <a:r>
              <a:rPr lang="en-US" dirty="0"/>
              <a: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&lt;form name="</a:t>
            </a:r>
            <a:r>
              <a:rPr lang="en-US" dirty="0" err="1"/>
              <a:t>myForm</a:t>
            </a:r>
            <a:r>
              <a:rPr lang="en-US" dirty="0"/>
              <a:t>" action="demo_form.asp" </a:t>
            </a:r>
            <a:r>
              <a:rPr lang="en-US" dirty="0" err="1"/>
              <a:t>onsubmit</a:t>
            </a:r>
            <a:r>
              <a:rPr lang="en-US" dirty="0"/>
              <a:t>="return </a:t>
            </a:r>
            <a:r>
              <a:rPr lang="en-US" dirty="0" err="1"/>
              <a:t>validateForm</a:t>
            </a:r>
            <a:r>
              <a:rPr lang="en-US" dirty="0"/>
              <a:t>();" method="post"&gt;</a:t>
            </a:r>
            <a:br>
              <a:rPr lang="en-US" dirty="0"/>
            </a:br>
            <a:r>
              <a:rPr lang="en-US" dirty="0"/>
              <a:t>Email: &lt;input type="text" name="email"&gt;</a:t>
            </a:r>
            <a:br>
              <a:rPr lang="en-US" dirty="0"/>
            </a:br>
            <a:r>
              <a:rPr lang="en-US" dirty="0"/>
              <a:t>&lt;input type="submit" value="Submit"&gt;</a:t>
            </a:r>
            <a:br>
              <a:rPr lang="en-US" dirty="0"/>
            </a:br>
            <a:r>
              <a:rPr lang="en-US" dirty="0"/>
              <a:t>&lt;/form&gt;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t>
            </a:r>
            <a:r>
              <a:rPr lang="en-US" b="1" dirty="0"/>
              <a:t>JavaScript HTML DOM Events</a:t>
            </a:r>
            <a:endParaRPr lang="en-US" dirty="0"/>
          </a:p>
        </p:txBody>
      </p:sp>
      <p:sp>
        <p:nvSpPr>
          <p:cNvPr id="3" name="Content Placeholder 2"/>
          <p:cNvSpPr>
            <a:spLocks noGrp="1"/>
          </p:cNvSpPr>
          <p:nvPr>
            <p:ph idx="1"/>
          </p:nvPr>
        </p:nvSpPr>
        <p:spPr/>
        <p:txBody>
          <a:bodyPr/>
          <a:lstStyle/>
          <a:p>
            <a:pPr algn="just">
              <a:buNone/>
            </a:pPr>
            <a:r>
              <a:rPr lang="en-US" b="1" dirty="0"/>
              <a:t>    Reacting to Events</a:t>
            </a:r>
          </a:p>
          <a:p>
            <a:pPr algn="just"/>
            <a:r>
              <a:rPr lang="en-US" dirty="0"/>
              <a:t>A JavaScript can be executed when an event occurs, like when a user clicks on an HTML element.</a:t>
            </a:r>
          </a:p>
          <a:p>
            <a:pPr algn="just"/>
            <a:r>
              <a:rPr lang="en-US" dirty="0"/>
              <a:t>To execute code when a user clicks on an element, add JavaScript code to an HTML event attribute:</a:t>
            </a:r>
          </a:p>
          <a:p>
            <a:pPr algn="just"/>
            <a:r>
              <a:rPr lang="en-US" dirty="0" err="1"/>
              <a:t>onclick</a:t>
            </a:r>
            <a:r>
              <a:rPr lang="en-US" dirty="0"/>
              <a:t>=</a:t>
            </a:r>
            <a:r>
              <a:rPr lang="en-US" i="1" dirty="0"/>
              <a:t>JavaScript</a:t>
            </a:r>
            <a:r>
              <a:rPr lang="en-US" dirty="0"/>
              <a:t>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lgn="just">
              <a:buNone/>
            </a:pPr>
            <a:r>
              <a:rPr lang="en-US" dirty="0"/>
              <a:t>    Examples of HTML events:</a:t>
            </a:r>
          </a:p>
          <a:p>
            <a:pPr algn="just"/>
            <a:r>
              <a:rPr lang="en-US" dirty="0"/>
              <a:t>When a user clicks the mouse</a:t>
            </a:r>
          </a:p>
          <a:p>
            <a:pPr algn="just"/>
            <a:r>
              <a:rPr lang="en-US" dirty="0"/>
              <a:t>When a web page has loaded</a:t>
            </a:r>
          </a:p>
          <a:p>
            <a:pPr algn="just"/>
            <a:r>
              <a:rPr lang="en-US" dirty="0"/>
              <a:t>When an image has been loaded</a:t>
            </a:r>
          </a:p>
          <a:p>
            <a:pPr algn="just"/>
            <a:r>
              <a:rPr lang="en-US" dirty="0"/>
              <a:t>When the mouse moves over an element</a:t>
            </a:r>
          </a:p>
          <a:p>
            <a:pPr algn="just"/>
            <a:r>
              <a:rPr lang="en-US" dirty="0"/>
              <a:t>When an input field is changed</a:t>
            </a:r>
          </a:p>
          <a:p>
            <a:pPr algn="just"/>
            <a:r>
              <a:rPr lang="en-US" dirty="0"/>
              <a:t>When an HTML form is submitted</a:t>
            </a:r>
          </a:p>
          <a:p>
            <a:pPr algn="just"/>
            <a:r>
              <a:rPr lang="en-US" dirty="0"/>
              <a:t>When a user strokes a key </a:t>
            </a:r>
          </a:p>
          <a:p>
            <a:pPr algn="just">
              <a:buNone/>
            </a:pPr>
            <a:r>
              <a:rPr lang="en-US" dirty="0"/>
              <a:t>    </a:t>
            </a:r>
          </a:p>
          <a:p>
            <a:pPr algn="just">
              <a:buNone/>
            </a:pPr>
            <a:r>
              <a:rPr lang="en-US" dirty="0"/>
              <a:t>    In the example below, the content of the &lt;h1&gt; element is changed when a user clicks on it</a:t>
            </a:r>
          </a:p>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p>
        </p:txBody>
      </p:sp>
      <p:sp>
        <p:nvSpPr>
          <p:cNvPr id="3" name="Content Placeholder 2"/>
          <p:cNvSpPr>
            <a:spLocks noGrp="1"/>
          </p:cNvSpPr>
          <p:nvPr>
            <p:ph idx="1"/>
          </p:nvPr>
        </p:nvSpPr>
        <p:spPr/>
        <p:txBody>
          <a:bodyPr/>
          <a:lstStyle/>
          <a:p>
            <a:r>
              <a:rPr lang="en-US" dirty="0"/>
              <a:t>&lt;!DOCTYPE html&gt;</a:t>
            </a:r>
            <a:br>
              <a:rPr lang="en-US" dirty="0"/>
            </a:br>
            <a:r>
              <a:rPr lang="en-US" dirty="0"/>
              <a:t>&lt;html&gt;</a:t>
            </a:r>
            <a:br>
              <a:rPr lang="en-US" dirty="0"/>
            </a:br>
            <a:r>
              <a:rPr lang="en-US" dirty="0"/>
              <a:t>&lt;body&gt;</a:t>
            </a:r>
            <a:br>
              <a:rPr lang="en-US" dirty="0"/>
            </a:br>
            <a:r>
              <a:rPr lang="en-US" dirty="0"/>
              <a:t>&lt;h1 </a:t>
            </a:r>
            <a:r>
              <a:rPr lang="en-US" dirty="0" err="1"/>
              <a:t>onclick</a:t>
            </a:r>
            <a:r>
              <a:rPr lang="en-US" dirty="0"/>
              <a:t>="</a:t>
            </a:r>
            <a:r>
              <a:rPr lang="en-US" dirty="0" err="1"/>
              <a:t>this.innerHTML</a:t>
            </a:r>
            <a:r>
              <a:rPr lang="en-US" dirty="0"/>
              <a:t>='</a:t>
            </a:r>
            <a:r>
              <a:rPr lang="en-US" dirty="0" err="1"/>
              <a:t>Ooops</a:t>
            </a:r>
            <a:r>
              <a:rPr lang="en-US" dirty="0"/>
              <a:t>!'"&gt;Click on this text!&lt;/h1&gt;</a:t>
            </a:r>
            <a:br>
              <a:rPr lang="en-US" dirty="0"/>
            </a:br>
            <a:r>
              <a:rPr lang="en-US" dirty="0"/>
              <a:t>&lt;/body&gt;</a:t>
            </a:r>
            <a:br>
              <a:rPr lang="en-US" dirty="0"/>
            </a:br>
            <a:r>
              <a:rPr lang="en-US" dirty="0"/>
              <a:t>&lt;/html&gt;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p>
        </p:txBody>
      </p:sp>
      <p:sp>
        <p:nvSpPr>
          <p:cNvPr id="3" name="Content Placeholder 2"/>
          <p:cNvSpPr>
            <a:spLocks noGrp="1"/>
          </p:cNvSpPr>
          <p:nvPr>
            <p:ph idx="1"/>
          </p:nvPr>
        </p:nvSpPr>
        <p:spPr/>
        <p:txBody>
          <a:bodyPr/>
          <a:lstStyle/>
          <a:p>
            <a:r>
              <a:rPr lang="en-US" dirty="0"/>
              <a:t>&lt;!DOCTYPE html&gt;</a:t>
            </a:r>
            <a:br>
              <a:rPr lang="en-US" dirty="0"/>
            </a:br>
            <a:r>
              <a:rPr lang="en-US" dirty="0"/>
              <a:t>&lt;html&gt;</a:t>
            </a:r>
            <a:br>
              <a:rPr lang="en-US" dirty="0"/>
            </a:br>
            <a:r>
              <a:rPr lang="en-US" dirty="0"/>
              <a:t>&lt;head&gt;</a:t>
            </a:r>
            <a:br>
              <a:rPr lang="en-US" dirty="0"/>
            </a:br>
            <a:r>
              <a:rPr lang="en-US" dirty="0"/>
              <a:t>&lt;script&gt;</a:t>
            </a:r>
            <a:br>
              <a:rPr lang="en-US" dirty="0"/>
            </a:br>
            <a:r>
              <a:rPr lang="en-US" dirty="0"/>
              <a:t>function </a:t>
            </a:r>
            <a:r>
              <a:rPr lang="en-US" dirty="0" err="1"/>
              <a:t>changetext</a:t>
            </a:r>
            <a:r>
              <a:rPr lang="en-US" dirty="0"/>
              <a:t>(id)</a:t>
            </a:r>
            <a:br>
              <a:rPr lang="en-US" dirty="0"/>
            </a:br>
            <a:r>
              <a:rPr lang="en-US" dirty="0"/>
              <a:t>{</a:t>
            </a:r>
            <a:br>
              <a:rPr lang="en-US" dirty="0"/>
            </a:br>
            <a:r>
              <a:rPr lang="en-US" dirty="0" err="1"/>
              <a:t>id.innerHTML</a:t>
            </a:r>
            <a:r>
              <a:rPr lang="en-US" dirty="0"/>
              <a:t>="</a:t>
            </a:r>
            <a:r>
              <a:rPr lang="en-US" dirty="0" err="1"/>
              <a:t>Ooops</a:t>
            </a:r>
            <a:r>
              <a:rPr lang="en-US" dirty="0"/>
              <a:t>!";</a:t>
            </a:r>
            <a:br>
              <a:rPr lang="en-US" dirty="0"/>
            </a:br>
            <a:r>
              <a:rPr lang="en-US" dirty="0"/>
              <a: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&lt;/script&gt;</a:t>
            </a:r>
            <a:br>
              <a:rPr lang="en-US" dirty="0"/>
            </a:br>
            <a:r>
              <a:rPr lang="en-US" dirty="0"/>
              <a:t>&lt;/head&gt;</a:t>
            </a:r>
            <a:br>
              <a:rPr lang="en-US" dirty="0"/>
            </a:br>
            <a:r>
              <a:rPr lang="en-US" dirty="0"/>
              <a:t>&lt;body&gt;</a:t>
            </a:r>
            <a:br>
              <a:rPr lang="en-US" dirty="0"/>
            </a:br>
            <a:r>
              <a:rPr lang="en-US" dirty="0"/>
              <a:t>&lt;h1 </a:t>
            </a:r>
            <a:r>
              <a:rPr lang="en-US" dirty="0" err="1"/>
              <a:t>onclick</a:t>
            </a:r>
            <a:r>
              <a:rPr lang="en-US" dirty="0"/>
              <a:t>="</a:t>
            </a:r>
            <a:r>
              <a:rPr lang="en-US" dirty="0" err="1"/>
              <a:t>changetext</a:t>
            </a:r>
            <a:r>
              <a:rPr lang="en-US" dirty="0"/>
              <a:t>(this)"&gt;Click on this text!&lt;/h1&gt;</a:t>
            </a:r>
            <a:br>
              <a:rPr lang="en-US" dirty="0"/>
            </a:br>
            <a:r>
              <a:rPr lang="en-US" dirty="0"/>
              <a:t>&lt;/body&gt;</a:t>
            </a:r>
            <a:br>
              <a:rPr lang="en-US" dirty="0"/>
            </a:br>
            <a:r>
              <a:rPr lang="en-US" dirty="0"/>
              <a:t>&lt;/html&gt;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Event Attributes</a:t>
            </a:r>
            <a:endParaRPr lang="en-US" dirty="0"/>
          </a:p>
        </p:txBody>
      </p:sp>
      <p:sp>
        <p:nvSpPr>
          <p:cNvPr id="3" name="Content Placeholder 2"/>
          <p:cNvSpPr>
            <a:spLocks noGrp="1"/>
          </p:cNvSpPr>
          <p:nvPr>
            <p:ph idx="1"/>
          </p:nvPr>
        </p:nvSpPr>
        <p:spPr/>
        <p:txBody>
          <a:bodyPr>
            <a:normAutofit lnSpcReduction="10000"/>
          </a:bodyPr>
          <a:lstStyle/>
          <a:p>
            <a:pPr algn="just"/>
            <a:r>
              <a:rPr lang="en-US" dirty="0"/>
              <a:t>To assign events to HTML elements you can use event attributes.</a:t>
            </a:r>
          </a:p>
          <a:p>
            <a:pPr>
              <a:buNone/>
            </a:pPr>
            <a:r>
              <a:rPr lang="en-US" b="1" dirty="0"/>
              <a:t>    Example</a:t>
            </a:r>
          </a:p>
          <a:p>
            <a:pPr algn="just">
              <a:buNone/>
            </a:pPr>
            <a:r>
              <a:rPr lang="en-US" dirty="0"/>
              <a:t>    Assign an </a:t>
            </a:r>
            <a:r>
              <a:rPr lang="en-US" dirty="0" err="1"/>
              <a:t>onclick</a:t>
            </a:r>
            <a:r>
              <a:rPr lang="en-US" dirty="0"/>
              <a:t> event to a button element:</a:t>
            </a:r>
          </a:p>
          <a:p>
            <a:r>
              <a:rPr lang="en-US" dirty="0"/>
              <a:t>&lt;button </a:t>
            </a:r>
            <a:r>
              <a:rPr lang="en-US" dirty="0" err="1"/>
              <a:t>onclick</a:t>
            </a:r>
            <a:r>
              <a:rPr lang="en-US" dirty="0"/>
              <a:t>="</a:t>
            </a:r>
            <a:r>
              <a:rPr lang="en-US" dirty="0" err="1"/>
              <a:t>displayDate</a:t>
            </a:r>
            <a:r>
              <a:rPr lang="en-US" dirty="0"/>
              <a:t>()"&gt;Try it&lt;/button&gt;</a:t>
            </a:r>
          </a:p>
          <a:p>
            <a:pPr algn="just"/>
            <a:r>
              <a:rPr lang="en-US" dirty="0"/>
              <a:t>In the example above, a function named </a:t>
            </a:r>
            <a:r>
              <a:rPr lang="en-US" i="1" dirty="0" err="1"/>
              <a:t>displayDate</a:t>
            </a:r>
            <a:r>
              <a:rPr lang="en-US" dirty="0"/>
              <a:t> will be executed when the button is clicked</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Assign Events Using the HTML DOM</a:t>
            </a:r>
            <a:endParaRPr lang="en-US" dirty="0"/>
          </a:p>
        </p:txBody>
      </p:sp>
      <p:sp>
        <p:nvSpPr>
          <p:cNvPr id="3" name="Content Placeholder 2"/>
          <p:cNvSpPr>
            <a:spLocks noGrp="1"/>
          </p:cNvSpPr>
          <p:nvPr>
            <p:ph idx="1"/>
          </p:nvPr>
        </p:nvSpPr>
        <p:spPr/>
        <p:txBody>
          <a:bodyPr/>
          <a:lstStyle/>
          <a:p>
            <a:pPr algn="just"/>
            <a:r>
              <a:rPr lang="en-US" dirty="0"/>
              <a:t>The HTML DOM allows you to assign events to HTML elements using JavaScript: </a:t>
            </a:r>
          </a:p>
          <a:p>
            <a:pPr algn="just">
              <a:buNone/>
            </a:pPr>
            <a:r>
              <a:rPr lang="en-US" b="1" dirty="0"/>
              <a:t>    Example</a:t>
            </a:r>
          </a:p>
          <a:p>
            <a:pPr algn="just"/>
            <a:r>
              <a:rPr lang="en-US" dirty="0"/>
              <a:t>Assign an </a:t>
            </a:r>
            <a:r>
              <a:rPr lang="en-US" dirty="0" err="1"/>
              <a:t>onclick</a:t>
            </a:r>
            <a:r>
              <a:rPr lang="en-US" dirty="0"/>
              <a:t> event to a button element:</a:t>
            </a:r>
          </a:p>
          <a:p>
            <a:r>
              <a:rPr lang="en-US" dirty="0"/>
              <a:t>&lt;script&gt;</a:t>
            </a:r>
            <a:br>
              <a:rPr lang="en-US" dirty="0"/>
            </a:br>
            <a:r>
              <a:rPr lang="en-US" dirty="0" err="1"/>
              <a:t>document.getElementById</a:t>
            </a:r>
            <a:r>
              <a:rPr lang="en-US" dirty="0"/>
              <a:t>("</a:t>
            </a:r>
            <a:r>
              <a:rPr lang="en-US" dirty="0" err="1"/>
              <a:t>myBtn</a:t>
            </a:r>
            <a:r>
              <a:rPr lang="en-US" dirty="0"/>
              <a:t>").</a:t>
            </a:r>
            <a:r>
              <a:rPr lang="en-US" dirty="0" err="1"/>
              <a:t>onclick</a:t>
            </a:r>
            <a:r>
              <a:rPr lang="en-US" dirty="0"/>
              <a:t>=function(){</a:t>
            </a:r>
            <a:r>
              <a:rPr lang="en-US" dirty="0" err="1"/>
              <a:t>displayDate</a:t>
            </a:r>
            <a:r>
              <a:rPr lang="en-US" dirty="0"/>
              <a:t>()};</a:t>
            </a:r>
            <a:br>
              <a:rPr lang="en-US" dirty="0"/>
            </a:br>
            <a:r>
              <a:rPr lang="en-US" dirty="0"/>
              <a:t>&lt;/script&gt;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In the example above, a function named </a:t>
            </a:r>
            <a:r>
              <a:rPr lang="en-US" i="1" dirty="0" err="1"/>
              <a:t>displayDate</a:t>
            </a:r>
            <a:r>
              <a:rPr lang="en-US" i="1" dirty="0"/>
              <a:t> </a:t>
            </a:r>
            <a:r>
              <a:rPr lang="en-US" dirty="0"/>
              <a:t>is assigned to an HTML element with the id=“</a:t>
            </a:r>
            <a:r>
              <a:rPr lang="en-US" dirty="0" err="1"/>
              <a:t>myBtn</a:t>
            </a:r>
            <a:r>
              <a:rPr lang="en-US" dirty="0"/>
              <a:t>”.</a:t>
            </a:r>
          </a:p>
          <a:p>
            <a:pPr algn="just"/>
            <a:r>
              <a:rPr lang="en-US" dirty="0"/>
              <a:t>The function will be executed when the button is clicked</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a:t>
            </a:r>
            <a:r>
              <a:rPr lang="en-US" b="1" dirty="0" err="1"/>
              <a:t>onload</a:t>
            </a:r>
            <a:r>
              <a:rPr lang="en-US" b="1" dirty="0"/>
              <a:t> and </a:t>
            </a:r>
            <a:r>
              <a:rPr lang="en-US" b="1" dirty="0" err="1"/>
              <a:t>onunload</a:t>
            </a:r>
            <a:r>
              <a:rPr lang="en-US" b="1" dirty="0"/>
              <a:t> Events</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The </a:t>
            </a:r>
            <a:r>
              <a:rPr lang="en-US" dirty="0" err="1"/>
              <a:t>onload</a:t>
            </a:r>
            <a:r>
              <a:rPr lang="en-US" dirty="0"/>
              <a:t> and </a:t>
            </a:r>
            <a:r>
              <a:rPr lang="en-US" dirty="0" err="1"/>
              <a:t>onunload</a:t>
            </a:r>
            <a:r>
              <a:rPr lang="en-US" dirty="0"/>
              <a:t> events are triggered when the user enters or leaves the page.</a:t>
            </a:r>
          </a:p>
          <a:p>
            <a:pPr algn="just"/>
            <a:r>
              <a:rPr lang="en-US" dirty="0"/>
              <a:t>The </a:t>
            </a:r>
            <a:r>
              <a:rPr lang="en-US" dirty="0" err="1"/>
              <a:t>onload</a:t>
            </a:r>
            <a:r>
              <a:rPr lang="en-US" dirty="0"/>
              <a:t> event can be used to check the visitor's browser type and browser version, and load the proper version of the web page based on the information.</a:t>
            </a:r>
          </a:p>
          <a:p>
            <a:pPr algn="just"/>
            <a:r>
              <a:rPr lang="en-US" dirty="0"/>
              <a:t>The </a:t>
            </a:r>
            <a:r>
              <a:rPr lang="en-US" dirty="0" err="1"/>
              <a:t>onload</a:t>
            </a:r>
            <a:r>
              <a:rPr lang="en-US" dirty="0"/>
              <a:t> and </a:t>
            </a:r>
            <a:r>
              <a:rPr lang="en-US" dirty="0" err="1"/>
              <a:t>onunload</a:t>
            </a:r>
            <a:r>
              <a:rPr lang="en-US" dirty="0"/>
              <a:t> events can be used to deal with cookies.</a:t>
            </a:r>
          </a:p>
          <a:p>
            <a:pPr>
              <a:buNone/>
            </a:pPr>
            <a:r>
              <a:rPr lang="en-US" b="1" dirty="0"/>
              <a:t>    Example</a:t>
            </a:r>
          </a:p>
          <a:p>
            <a:r>
              <a:rPr lang="en-US" dirty="0"/>
              <a:t>&lt;body </a:t>
            </a:r>
            <a:r>
              <a:rPr lang="en-US" dirty="0" err="1"/>
              <a:t>onload</a:t>
            </a:r>
            <a:r>
              <a:rPr lang="en-US" dirty="0"/>
              <a:t>="</a:t>
            </a:r>
            <a:r>
              <a:rPr lang="en-US" dirty="0" err="1"/>
              <a:t>checkCookies</a:t>
            </a:r>
            <a:r>
              <a:rPr lang="en-US" dirty="0"/>
              <a:t>()"&gt;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a:t>
            </a:r>
            <a:r>
              <a:rPr lang="en-US" b="1" dirty="0" err="1"/>
              <a:t>onchange</a:t>
            </a:r>
            <a:r>
              <a:rPr lang="en-US" b="1" dirty="0"/>
              <a:t> Event</a:t>
            </a:r>
            <a:endParaRPr lang="en-US" dirty="0"/>
          </a:p>
        </p:txBody>
      </p:sp>
      <p:sp>
        <p:nvSpPr>
          <p:cNvPr id="3" name="Content Placeholder 2"/>
          <p:cNvSpPr>
            <a:spLocks noGrp="1"/>
          </p:cNvSpPr>
          <p:nvPr>
            <p:ph idx="1"/>
          </p:nvPr>
        </p:nvSpPr>
        <p:spPr/>
        <p:txBody>
          <a:bodyPr>
            <a:normAutofit lnSpcReduction="10000"/>
          </a:bodyPr>
          <a:lstStyle/>
          <a:p>
            <a:pPr algn="just"/>
            <a:r>
              <a:rPr lang="en-US" dirty="0"/>
              <a:t>The </a:t>
            </a:r>
            <a:r>
              <a:rPr lang="en-US" dirty="0" err="1"/>
              <a:t>onchange</a:t>
            </a:r>
            <a:r>
              <a:rPr lang="en-US" dirty="0"/>
              <a:t> event are often used in combination with validation of input fields.</a:t>
            </a:r>
          </a:p>
          <a:p>
            <a:pPr algn="just"/>
            <a:r>
              <a:rPr lang="en-US" dirty="0"/>
              <a:t>Below is an example of how to use the </a:t>
            </a:r>
            <a:r>
              <a:rPr lang="en-US" dirty="0" err="1"/>
              <a:t>onchange</a:t>
            </a:r>
            <a:r>
              <a:rPr lang="en-US" dirty="0"/>
              <a:t>. The </a:t>
            </a:r>
            <a:r>
              <a:rPr lang="en-US" dirty="0" err="1"/>
              <a:t>upperCase</a:t>
            </a:r>
            <a:r>
              <a:rPr lang="en-US" dirty="0"/>
              <a:t>() function will be called when a user changes the content of an input field.</a:t>
            </a:r>
          </a:p>
          <a:p>
            <a:r>
              <a:rPr lang="en-US" b="1" dirty="0"/>
              <a:t>Example</a:t>
            </a:r>
          </a:p>
          <a:p>
            <a:r>
              <a:rPr lang="en-US" dirty="0"/>
              <a:t>&lt;input type="text" id="</a:t>
            </a:r>
            <a:r>
              <a:rPr lang="en-US" dirty="0" err="1"/>
              <a:t>fname</a:t>
            </a:r>
            <a:r>
              <a:rPr lang="en-US" dirty="0"/>
              <a:t>" </a:t>
            </a:r>
            <a:r>
              <a:rPr lang="en-US" dirty="0" err="1"/>
              <a:t>onchange</a:t>
            </a:r>
            <a:r>
              <a:rPr lang="en-US" dirty="0"/>
              <a:t>="</a:t>
            </a:r>
            <a:r>
              <a:rPr lang="en-US" dirty="0" err="1"/>
              <a:t>upperCase</a:t>
            </a:r>
            <a:r>
              <a:rPr lang="en-US" dirty="0"/>
              <a:t>()"&gt;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a:t>
            </a:r>
            <a:r>
              <a:rPr lang="en-US" b="1" dirty="0" err="1"/>
              <a:t>onmouseover</a:t>
            </a:r>
            <a:r>
              <a:rPr lang="en-US" b="1" dirty="0"/>
              <a:t> and </a:t>
            </a:r>
            <a:r>
              <a:rPr lang="en-US" b="1" dirty="0" err="1"/>
              <a:t>onmouseout</a:t>
            </a:r>
            <a:r>
              <a:rPr lang="en-US" b="1" dirty="0"/>
              <a:t> Events</a:t>
            </a:r>
            <a:endParaRPr lang="en-US" dirty="0"/>
          </a:p>
        </p:txBody>
      </p:sp>
      <p:sp>
        <p:nvSpPr>
          <p:cNvPr id="3" name="Content Placeholder 2"/>
          <p:cNvSpPr>
            <a:spLocks noGrp="1"/>
          </p:cNvSpPr>
          <p:nvPr>
            <p:ph idx="1"/>
          </p:nvPr>
        </p:nvSpPr>
        <p:spPr/>
        <p:txBody>
          <a:bodyPr/>
          <a:lstStyle/>
          <a:p>
            <a:pPr algn="just"/>
            <a:r>
              <a:rPr lang="en-US" dirty="0"/>
              <a:t>The </a:t>
            </a:r>
            <a:r>
              <a:rPr lang="en-US" dirty="0" err="1"/>
              <a:t>onmouseover</a:t>
            </a:r>
            <a:r>
              <a:rPr lang="en-US" dirty="0"/>
              <a:t> and </a:t>
            </a:r>
            <a:r>
              <a:rPr lang="en-US" dirty="0" err="1"/>
              <a:t>onmouseout</a:t>
            </a:r>
            <a:r>
              <a:rPr lang="en-US" dirty="0"/>
              <a:t> events can be used to trigger a function when the user </a:t>
            </a:r>
            <a:r>
              <a:rPr lang="en-US" dirty="0" err="1"/>
              <a:t>mouses</a:t>
            </a:r>
            <a:r>
              <a:rPr lang="en-US" dirty="0"/>
              <a:t> over, or out of, an HTML element.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a:t>
            </a:r>
            <a:r>
              <a:rPr lang="en-US" b="1" dirty="0" err="1"/>
              <a:t>onmousedown</a:t>
            </a:r>
            <a:r>
              <a:rPr lang="en-US" b="1" dirty="0"/>
              <a:t>, </a:t>
            </a:r>
            <a:r>
              <a:rPr lang="en-US" b="1" dirty="0" err="1"/>
              <a:t>onmouseup</a:t>
            </a:r>
            <a:r>
              <a:rPr lang="en-US" b="1" dirty="0"/>
              <a:t> and </a:t>
            </a:r>
            <a:r>
              <a:rPr lang="en-US" b="1" dirty="0" err="1"/>
              <a:t>onclick</a:t>
            </a:r>
            <a:r>
              <a:rPr lang="en-US" b="1" dirty="0"/>
              <a:t> Events</a:t>
            </a:r>
            <a:endParaRPr lang="en-US" dirty="0"/>
          </a:p>
        </p:txBody>
      </p:sp>
      <p:sp>
        <p:nvSpPr>
          <p:cNvPr id="3" name="Content Placeholder 2"/>
          <p:cNvSpPr>
            <a:spLocks noGrp="1"/>
          </p:cNvSpPr>
          <p:nvPr>
            <p:ph idx="1"/>
          </p:nvPr>
        </p:nvSpPr>
        <p:spPr/>
        <p:txBody>
          <a:bodyPr/>
          <a:lstStyle/>
          <a:p>
            <a:pPr algn="just"/>
            <a:r>
              <a:rPr lang="en-US" dirty="0"/>
              <a:t>The </a:t>
            </a:r>
            <a:r>
              <a:rPr lang="en-US" dirty="0" err="1"/>
              <a:t>onmousedown</a:t>
            </a:r>
            <a:r>
              <a:rPr lang="en-US" dirty="0"/>
              <a:t>, </a:t>
            </a:r>
            <a:r>
              <a:rPr lang="en-US" dirty="0" err="1"/>
              <a:t>onmouseup</a:t>
            </a:r>
            <a:r>
              <a:rPr lang="en-US" dirty="0"/>
              <a:t>, and </a:t>
            </a:r>
            <a:r>
              <a:rPr lang="en-US" dirty="0" err="1"/>
              <a:t>onclick</a:t>
            </a:r>
            <a:r>
              <a:rPr lang="en-US" dirty="0"/>
              <a:t> events are all parts of a mouse-click. </a:t>
            </a:r>
          </a:p>
          <a:p>
            <a:pPr algn="just"/>
            <a:r>
              <a:rPr lang="en-US" dirty="0"/>
              <a:t>First when a mouse-button is clicked, the </a:t>
            </a:r>
            <a:r>
              <a:rPr lang="en-US" dirty="0" err="1"/>
              <a:t>onmousedown</a:t>
            </a:r>
            <a:r>
              <a:rPr lang="en-US" dirty="0"/>
              <a:t> event is triggered, then, when the mouse-button is released, the </a:t>
            </a:r>
            <a:r>
              <a:rPr lang="en-US" dirty="0" err="1"/>
              <a:t>onmouseup</a:t>
            </a:r>
            <a:r>
              <a:rPr lang="en-US" dirty="0"/>
              <a:t> event is triggered, finally, when the mouse-click is completed, the </a:t>
            </a:r>
            <a:r>
              <a:rPr lang="en-US" dirty="0" err="1"/>
              <a:t>onclick</a:t>
            </a:r>
            <a:r>
              <a:rPr lang="en-US" dirty="0"/>
              <a:t> event is triggered.</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Objects</a:t>
            </a:r>
            <a:endParaRPr lang="en-US" dirty="0"/>
          </a:p>
        </p:txBody>
      </p:sp>
      <p:sp>
        <p:nvSpPr>
          <p:cNvPr id="3" name="Content Placeholder 2"/>
          <p:cNvSpPr>
            <a:spLocks noGrp="1"/>
          </p:cNvSpPr>
          <p:nvPr>
            <p:ph idx="1"/>
          </p:nvPr>
        </p:nvSpPr>
        <p:spPr/>
        <p:txBody>
          <a:bodyPr>
            <a:normAutofit fontScale="55000" lnSpcReduction="20000"/>
          </a:bodyPr>
          <a:lstStyle/>
          <a:p>
            <a:pPr algn="just">
              <a:buNone/>
            </a:pPr>
            <a:r>
              <a:rPr lang="en-US" b="1" dirty="0"/>
              <a:t>     </a:t>
            </a:r>
            <a:r>
              <a:rPr lang="en-US" sz="4500" b="1" dirty="0"/>
              <a:t>Everything is an Object</a:t>
            </a:r>
          </a:p>
          <a:p>
            <a:pPr algn="just"/>
            <a:r>
              <a:rPr lang="en-US" sz="4500" dirty="0"/>
              <a:t>In JavaScript almost everything is an object. Even </a:t>
            </a:r>
            <a:r>
              <a:rPr lang="en-US" sz="4500" dirty="0" err="1"/>
              <a:t>primitype</a:t>
            </a:r>
            <a:r>
              <a:rPr lang="en-US" sz="4500" dirty="0"/>
              <a:t> </a:t>
            </a:r>
            <a:r>
              <a:rPr lang="en-US" sz="4500" dirty="0" err="1"/>
              <a:t>datatypes</a:t>
            </a:r>
            <a:r>
              <a:rPr lang="en-US" sz="4500" dirty="0"/>
              <a:t> (</a:t>
            </a:r>
            <a:r>
              <a:rPr lang="en-US" sz="4500" dirty="0" err="1"/>
              <a:t>exept</a:t>
            </a:r>
            <a:r>
              <a:rPr lang="en-US" sz="4500" dirty="0"/>
              <a:t> null and undefined) can be treated as objects.</a:t>
            </a:r>
          </a:p>
          <a:p>
            <a:pPr algn="just"/>
            <a:r>
              <a:rPr lang="en-US" sz="4500" dirty="0"/>
              <a:t>Booleans can be objects or primitive data treated as objects</a:t>
            </a:r>
          </a:p>
          <a:p>
            <a:pPr algn="just"/>
            <a:r>
              <a:rPr lang="en-US" sz="4500" dirty="0"/>
              <a:t>Numbers can be objects or primitive data treated as objects</a:t>
            </a:r>
          </a:p>
          <a:p>
            <a:pPr algn="just"/>
            <a:r>
              <a:rPr lang="en-US" sz="4500" dirty="0"/>
              <a:t>Strings are also objects or primitive data treated as objects</a:t>
            </a:r>
          </a:p>
          <a:p>
            <a:pPr algn="just"/>
            <a:r>
              <a:rPr lang="en-US" sz="4500" dirty="0"/>
              <a:t>Dates are always objects</a:t>
            </a:r>
          </a:p>
          <a:p>
            <a:pPr algn="just"/>
            <a:r>
              <a:rPr lang="en-US" sz="4500" dirty="0" err="1"/>
              <a:t>Maths</a:t>
            </a:r>
            <a:r>
              <a:rPr lang="en-US" sz="4500" dirty="0"/>
              <a:t> and Regular Expressions are always objects</a:t>
            </a:r>
          </a:p>
          <a:p>
            <a:pPr algn="just"/>
            <a:r>
              <a:rPr lang="en-US" sz="4500" dirty="0"/>
              <a:t>Arrays are always objects</a:t>
            </a:r>
          </a:p>
          <a:p>
            <a:pPr algn="just"/>
            <a:r>
              <a:rPr lang="en-US" sz="4500" dirty="0"/>
              <a:t>Even functions are always objects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Objects</a:t>
            </a:r>
            <a:endParaRPr lang="en-US" dirty="0"/>
          </a:p>
        </p:txBody>
      </p:sp>
      <p:sp>
        <p:nvSpPr>
          <p:cNvPr id="3" name="Content Placeholder 2"/>
          <p:cNvSpPr>
            <a:spLocks noGrp="1"/>
          </p:cNvSpPr>
          <p:nvPr>
            <p:ph idx="1"/>
          </p:nvPr>
        </p:nvSpPr>
        <p:spPr/>
        <p:txBody>
          <a:bodyPr/>
          <a:lstStyle/>
          <a:p>
            <a:pPr algn="just"/>
            <a:r>
              <a:rPr lang="en-US" dirty="0"/>
              <a:t>An object is just a special kind of data, with </a:t>
            </a:r>
            <a:r>
              <a:rPr lang="en-US" b="1" dirty="0"/>
              <a:t>properties</a:t>
            </a:r>
            <a:r>
              <a:rPr lang="en-US" dirty="0"/>
              <a:t> and </a:t>
            </a:r>
            <a:r>
              <a:rPr lang="en-US" b="1" dirty="0"/>
              <a:t>methods</a:t>
            </a:r>
            <a:r>
              <a:rPr lang="en-US" dirty="0"/>
              <a: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Accessing Object Properties</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a:t>Properties are the values associated with an object.</a:t>
            </a:r>
          </a:p>
          <a:p>
            <a:pPr algn="just"/>
            <a:r>
              <a:rPr lang="en-US" dirty="0"/>
              <a:t>The syntax for accessing the property of an object is:</a:t>
            </a:r>
          </a:p>
          <a:p>
            <a:pPr algn="just">
              <a:buNone/>
            </a:pPr>
            <a:r>
              <a:rPr lang="en-US" i="1" dirty="0"/>
              <a:t>     </a:t>
            </a:r>
            <a:r>
              <a:rPr lang="en-US" i="1" dirty="0" err="1"/>
              <a:t>objectName.propertyName</a:t>
            </a:r>
            <a:endParaRPr lang="en-US" dirty="0"/>
          </a:p>
          <a:p>
            <a:pPr algn="just"/>
            <a:r>
              <a:rPr lang="en-US" dirty="0"/>
              <a:t>This example uses the length property of the String object to find the length of a string:</a:t>
            </a:r>
          </a:p>
          <a:p>
            <a:r>
              <a:rPr lang="en-US" dirty="0" err="1"/>
              <a:t>var</a:t>
            </a:r>
            <a:r>
              <a:rPr lang="en-US" dirty="0"/>
              <a:t> message="Hello World!";</a:t>
            </a:r>
            <a:br>
              <a:rPr lang="en-US" dirty="0"/>
            </a:br>
            <a:r>
              <a:rPr lang="en-US" dirty="0" err="1"/>
              <a:t>var</a:t>
            </a:r>
            <a:r>
              <a:rPr lang="en-US" dirty="0"/>
              <a:t> x=</a:t>
            </a:r>
            <a:r>
              <a:rPr lang="en-US" dirty="0" err="1"/>
              <a:t>message.length</a:t>
            </a:r>
            <a:r>
              <a:rPr lang="en-US" dirty="0"/>
              <a:t>;</a:t>
            </a:r>
          </a:p>
          <a:p>
            <a:pPr algn="just"/>
            <a:r>
              <a:rPr lang="en-US" dirty="0"/>
              <a:t>The value of x, after execution of the code above will be:</a:t>
            </a:r>
          </a:p>
          <a:p>
            <a:pPr>
              <a:buNone/>
            </a:pPr>
            <a:r>
              <a:rPr lang="en-US" dirty="0"/>
              <a:t>    12</a:t>
            </a:r>
          </a:p>
          <a:p>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Accessing Objects Methods</a:t>
            </a:r>
            <a:endParaRPr lang="en-US" dirty="0"/>
          </a:p>
        </p:txBody>
      </p:sp>
      <p:sp>
        <p:nvSpPr>
          <p:cNvPr id="3" name="Content Placeholder 2"/>
          <p:cNvSpPr>
            <a:spLocks noGrp="1"/>
          </p:cNvSpPr>
          <p:nvPr>
            <p:ph idx="1"/>
          </p:nvPr>
        </p:nvSpPr>
        <p:spPr/>
        <p:txBody>
          <a:bodyPr/>
          <a:lstStyle/>
          <a:p>
            <a:pPr algn="just"/>
            <a:r>
              <a:rPr lang="en-US" dirty="0"/>
              <a:t>Methods are the actions that can be performed on objects.</a:t>
            </a:r>
          </a:p>
          <a:p>
            <a:pPr algn="just"/>
            <a:r>
              <a:rPr lang="en-US" dirty="0"/>
              <a:t>You can call a method with the following syntax:</a:t>
            </a:r>
          </a:p>
          <a:p>
            <a:r>
              <a:rPr lang="en-US" i="1" dirty="0" err="1"/>
              <a:t>objectName.methodName</a:t>
            </a:r>
            <a:r>
              <a:rPr lang="en-US" i="1" dirty="0"/>
              <a:t>()</a:t>
            </a:r>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This example uses the </a:t>
            </a:r>
            <a:r>
              <a:rPr lang="en-US" dirty="0" err="1"/>
              <a:t>toUpperCase</a:t>
            </a:r>
            <a:r>
              <a:rPr lang="en-US" dirty="0"/>
              <a:t>() method of the String object, to convert a text to uppercase:</a:t>
            </a:r>
          </a:p>
          <a:p>
            <a:r>
              <a:rPr lang="en-US" dirty="0" err="1"/>
              <a:t>var</a:t>
            </a:r>
            <a:r>
              <a:rPr lang="en-US" dirty="0"/>
              <a:t> message="Hello world!";</a:t>
            </a:r>
            <a:br>
              <a:rPr lang="en-US" dirty="0"/>
            </a:br>
            <a:r>
              <a:rPr lang="en-US" dirty="0" err="1"/>
              <a:t>var</a:t>
            </a:r>
            <a:r>
              <a:rPr lang="en-US" dirty="0"/>
              <a:t> x=</a:t>
            </a:r>
            <a:r>
              <a:rPr lang="en-US" dirty="0" err="1"/>
              <a:t>message.toUpperCase</a:t>
            </a:r>
            <a:r>
              <a:rPr lang="en-US" dirty="0"/>
              <a:t>();</a:t>
            </a:r>
          </a:p>
          <a:p>
            <a:pPr algn="just"/>
            <a:r>
              <a:rPr lang="en-US" dirty="0"/>
              <a:t>The value of x, after execution of the code above will be:</a:t>
            </a:r>
          </a:p>
          <a:p>
            <a:r>
              <a:rPr lang="en-US" dirty="0"/>
              <a:t>HELLO WORLD!</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Creating JavaScript Objects</a:t>
            </a:r>
            <a:endParaRPr lang="en-US" dirty="0"/>
          </a:p>
        </p:txBody>
      </p:sp>
      <p:sp>
        <p:nvSpPr>
          <p:cNvPr id="3" name="Content Placeholder 2"/>
          <p:cNvSpPr>
            <a:spLocks noGrp="1"/>
          </p:cNvSpPr>
          <p:nvPr>
            <p:ph idx="1"/>
          </p:nvPr>
        </p:nvSpPr>
        <p:spPr/>
        <p:txBody>
          <a:bodyPr/>
          <a:lstStyle/>
          <a:p>
            <a:pPr algn="just"/>
            <a:r>
              <a:rPr lang="en-US" dirty="0"/>
              <a:t>With JavaScript you can define and create your own objects.</a:t>
            </a:r>
          </a:p>
          <a:p>
            <a:pPr algn="just"/>
            <a:r>
              <a:rPr lang="en-US" dirty="0"/>
              <a:t>There are 2 different ways to create a new object:</a:t>
            </a:r>
          </a:p>
          <a:p>
            <a:pPr algn="just">
              <a:buNone/>
            </a:pPr>
            <a:r>
              <a:rPr lang="en-US" dirty="0"/>
              <a:t>  1. Define and create a direct instance of an object.</a:t>
            </a:r>
          </a:p>
          <a:p>
            <a:pPr algn="just">
              <a:buNone/>
            </a:pPr>
            <a:r>
              <a:rPr lang="en-US" dirty="0"/>
              <a:t>  2. Use a function to define an object, then create new object instances.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Creating a Direct Instance</a:t>
            </a:r>
            <a:endParaRPr lang="en-US" dirty="0"/>
          </a:p>
        </p:txBody>
      </p:sp>
      <p:sp>
        <p:nvSpPr>
          <p:cNvPr id="3" name="Content Placeholder 2"/>
          <p:cNvSpPr>
            <a:spLocks noGrp="1"/>
          </p:cNvSpPr>
          <p:nvPr>
            <p:ph idx="1"/>
          </p:nvPr>
        </p:nvSpPr>
        <p:spPr/>
        <p:txBody>
          <a:bodyPr/>
          <a:lstStyle/>
          <a:p>
            <a:pPr algn="just"/>
            <a:r>
              <a:rPr lang="en-US" dirty="0"/>
              <a:t>This example creates a new instance of an object, and adds four properties to it:</a:t>
            </a:r>
          </a:p>
          <a:p>
            <a:r>
              <a:rPr lang="en-US" b="1" dirty="0"/>
              <a:t>Example</a:t>
            </a:r>
          </a:p>
          <a:p>
            <a:r>
              <a:rPr lang="en-US" dirty="0"/>
              <a:t>person=new Object();</a:t>
            </a:r>
            <a:br>
              <a:rPr lang="en-US" dirty="0"/>
            </a:br>
            <a:r>
              <a:rPr lang="en-US" dirty="0" err="1"/>
              <a:t>person.firstname</a:t>
            </a:r>
            <a:r>
              <a:rPr lang="en-US" dirty="0"/>
              <a:t>="John";</a:t>
            </a:r>
            <a:br>
              <a:rPr lang="en-US" dirty="0"/>
            </a:br>
            <a:r>
              <a:rPr lang="en-US" dirty="0" err="1"/>
              <a:t>person.lastname</a:t>
            </a:r>
            <a:r>
              <a:rPr lang="en-US" dirty="0"/>
              <a:t>="Doe";</a:t>
            </a:r>
            <a:br>
              <a:rPr lang="en-US" dirty="0"/>
            </a:br>
            <a:r>
              <a:rPr lang="en-US" dirty="0" err="1"/>
              <a:t>person.age</a:t>
            </a:r>
            <a:r>
              <a:rPr lang="en-US" dirty="0"/>
              <a:t>=50;</a:t>
            </a:r>
            <a:br>
              <a:rPr lang="en-US" dirty="0"/>
            </a:br>
            <a:r>
              <a:rPr lang="en-US" dirty="0" err="1"/>
              <a:t>person.eyecolor</a:t>
            </a:r>
            <a:r>
              <a:rPr lang="en-US" dirty="0"/>
              <a:t>="blue";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Alternative syntax (using object literals):</a:t>
            </a:r>
          </a:p>
          <a:p>
            <a:pPr>
              <a:buNone/>
            </a:pPr>
            <a:r>
              <a:rPr lang="en-US" b="1" dirty="0"/>
              <a:t>    Example</a:t>
            </a:r>
          </a:p>
          <a:p>
            <a:r>
              <a:rPr lang="en-US" dirty="0"/>
              <a:t>person={</a:t>
            </a:r>
            <a:r>
              <a:rPr lang="en-US" dirty="0" err="1"/>
              <a:t>firstname</a:t>
            </a:r>
            <a:r>
              <a:rPr lang="en-US" dirty="0"/>
              <a:t>:"</a:t>
            </a:r>
            <a:r>
              <a:rPr lang="en-US" dirty="0" err="1"/>
              <a:t>John",lastname</a:t>
            </a:r>
            <a:r>
              <a:rPr lang="en-US" dirty="0"/>
              <a:t>:"Doe",age:50,eyecolor:"blue"}; </a:t>
            </a:r>
          </a:p>
          <a:p>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Using an Object Constructor</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This example uses a function to construct the object:</a:t>
            </a:r>
          </a:p>
          <a:p>
            <a:pPr>
              <a:buNone/>
            </a:pPr>
            <a:r>
              <a:rPr lang="en-US" b="1" dirty="0"/>
              <a:t>    Example</a:t>
            </a:r>
          </a:p>
          <a:p>
            <a:pPr marL="0" indent="0">
              <a:buNone/>
            </a:pPr>
            <a:r>
              <a:rPr lang="en-US" dirty="0"/>
              <a:t>function person(</a:t>
            </a:r>
            <a:r>
              <a:rPr lang="en-US" dirty="0" err="1"/>
              <a:t>firstname,lastname,age,eyecolor</a:t>
            </a:r>
            <a:r>
              <a:rPr lang="en-US" dirty="0"/>
              <a:t>)</a:t>
            </a:r>
            <a:br>
              <a:rPr lang="en-US" dirty="0"/>
            </a:br>
            <a:r>
              <a:rPr lang="en-US" dirty="0"/>
              <a:t>{</a:t>
            </a:r>
            <a:br>
              <a:rPr lang="en-US" dirty="0"/>
            </a:br>
            <a:r>
              <a:rPr lang="en-US" dirty="0" err="1"/>
              <a:t>this.firstname</a:t>
            </a:r>
            <a:r>
              <a:rPr lang="en-US" dirty="0"/>
              <a:t>=</a:t>
            </a:r>
            <a:r>
              <a:rPr lang="en-US" dirty="0" err="1"/>
              <a:t>firstname</a:t>
            </a:r>
            <a:r>
              <a:rPr lang="en-US" dirty="0"/>
              <a:t>;</a:t>
            </a:r>
            <a:br>
              <a:rPr lang="en-US" dirty="0"/>
            </a:br>
            <a:r>
              <a:rPr lang="en-US" dirty="0" err="1"/>
              <a:t>this.lastname</a:t>
            </a:r>
            <a:r>
              <a:rPr lang="en-US" dirty="0"/>
              <a:t>=</a:t>
            </a:r>
            <a:r>
              <a:rPr lang="en-US" dirty="0" err="1"/>
              <a:t>lastname</a:t>
            </a:r>
            <a:r>
              <a:rPr lang="en-US" dirty="0"/>
              <a:t>;</a:t>
            </a:r>
            <a:br>
              <a:rPr lang="en-US" dirty="0"/>
            </a:br>
            <a:r>
              <a:rPr lang="en-US" dirty="0" err="1"/>
              <a:t>this.age</a:t>
            </a:r>
            <a:r>
              <a:rPr lang="en-US" dirty="0"/>
              <a:t>=age;</a:t>
            </a:r>
            <a:br>
              <a:rPr lang="en-US" dirty="0"/>
            </a:br>
            <a:r>
              <a:rPr lang="en-US" dirty="0" err="1"/>
              <a:t>this.eyecolor</a:t>
            </a:r>
            <a:r>
              <a:rPr lang="en-US" dirty="0"/>
              <a:t>=</a:t>
            </a:r>
            <a:r>
              <a:rPr lang="en-US" dirty="0" err="1"/>
              <a:t>eyecolor</a:t>
            </a:r>
            <a:r>
              <a:rPr lang="en-US" dirty="0"/>
              <a:t>;</a:t>
            </a:r>
          </a:p>
          <a:p>
            <a:pPr marL="0" indent="0">
              <a:buNone/>
            </a:pPr>
            <a:r>
              <a:rPr lang="en-US" dirty="0"/>
              <a: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The reason for all the "this" stuff is that you're going to have more than one person at a time (which person you're dealing with must be clear). That's what "this" is: the instance of the object at hand.</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Creating JavaScript Object Instances</a:t>
            </a:r>
            <a:endParaRPr lang="en-US" dirty="0"/>
          </a:p>
        </p:txBody>
      </p:sp>
      <p:sp>
        <p:nvSpPr>
          <p:cNvPr id="3" name="Content Placeholder 2"/>
          <p:cNvSpPr>
            <a:spLocks noGrp="1"/>
          </p:cNvSpPr>
          <p:nvPr>
            <p:ph idx="1"/>
          </p:nvPr>
        </p:nvSpPr>
        <p:spPr/>
        <p:txBody>
          <a:bodyPr/>
          <a:lstStyle/>
          <a:p>
            <a:pPr algn="just"/>
            <a:r>
              <a:rPr lang="en-US" dirty="0"/>
              <a:t>Once you have a object constructor, you can create new instances of the object, like this:</a:t>
            </a:r>
          </a:p>
          <a:p>
            <a:r>
              <a:rPr lang="en-US" dirty="0" err="1"/>
              <a:t>var</a:t>
            </a:r>
            <a:r>
              <a:rPr lang="en-US" dirty="0"/>
              <a:t> </a:t>
            </a:r>
            <a:r>
              <a:rPr lang="en-US" dirty="0" err="1"/>
              <a:t>myFather</a:t>
            </a:r>
            <a:r>
              <a:rPr lang="en-US" dirty="0"/>
              <a:t>=new person("John","Doe",50,"blue");</a:t>
            </a:r>
            <a:br>
              <a:rPr lang="en-US" dirty="0"/>
            </a:br>
            <a:r>
              <a:rPr lang="en-US" dirty="0" err="1"/>
              <a:t>var</a:t>
            </a:r>
            <a:r>
              <a:rPr lang="en-US" dirty="0"/>
              <a:t> </a:t>
            </a:r>
            <a:r>
              <a:rPr lang="en-US" dirty="0" err="1"/>
              <a:t>myMother</a:t>
            </a:r>
            <a:r>
              <a:rPr lang="en-US" dirty="0"/>
              <a:t>=new person("Sally","Rally",48,"green");</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Adding Properties to JavaScript Objects</a:t>
            </a:r>
            <a:endParaRPr lang="en-US" dirty="0"/>
          </a:p>
        </p:txBody>
      </p:sp>
      <p:sp>
        <p:nvSpPr>
          <p:cNvPr id="3" name="Content Placeholder 2"/>
          <p:cNvSpPr>
            <a:spLocks noGrp="1"/>
          </p:cNvSpPr>
          <p:nvPr>
            <p:ph idx="1"/>
          </p:nvPr>
        </p:nvSpPr>
        <p:spPr/>
        <p:txBody>
          <a:bodyPr>
            <a:normAutofit lnSpcReduction="10000"/>
          </a:bodyPr>
          <a:lstStyle/>
          <a:p>
            <a:pPr algn="just"/>
            <a:r>
              <a:rPr lang="en-US" dirty="0"/>
              <a:t>You can add new properties to an existing object by simply giving it a value. </a:t>
            </a:r>
          </a:p>
          <a:p>
            <a:pPr algn="just"/>
            <a:r>
              <a:rPr lang="en-US" dirty="0"/>
              <a:t>Assume that the </a:t>
            </a:r>
            <a:r>
              <a:rPr lang="en-US" dirty="0" err="1"/>
              <a:t>personObj</a:t>
            </a:r>
            <a:r>
              <a:rPr lang="en-US" dirty="0"/>
              <a:t> already exists - you can give it new properties named </a:t>
            </a:r>
            <a:r>
              <a:rPr lang="en-US" dirty="0" err="1"/>
              <a:t>firstname</a:t>
            </a:r>
            <a:r>
              <a:rPr lang="en-US" dirty="0"/>
              <a:t>, </a:t>
            </a:r>
            <a:r>
              <a:rPr lang="en-US" dirty="0" err="1"/>
              <a:t>lastname</a:t>
            </a:r>
            <a:r>
              <a:rPr lang="en-US" dirty="0"/>
              <a:t>, age, and </a:t>
            </a:r>
            <a:r>
              <a:rPr lang="en-US" dirty="0" err="1"/>
              <a:t>eyecolor</a:t>
            </a:r>
            <a:r>
              <a:rPr lang="en-US" dirty="0"/>
              <a:t> as follows:</a:t>
            </a:r>
          </a:p>
          <a:p>
            <a:r>
              <a:rPr lang="en-US" dirty="0" err="1"/>
              <a:t>person.firstname</a:t>
            </a:r>
            <a:r>
              <a:rPr lang="en-US" dirty="0"/>
              <a:t>="John";</a:t>
            </a:r>
            <a:br>
              <a:rPr lang="en-US" dirty="0"/>
            </a:br>
            <a:r>
              <a:rPr lang="en-US" dirty="0" err="1"/>
              <a:t>person.lastname</a:t>
            </a:r>
            <a:r>
              <a:rPr lang="en-US" dirty="0"/>
              <a:t>="Doe";</a:t>
            </a:r>
            <a:br>
              <a:rPr lang="en-US" dirty="0"/>
            </a:br>
            <a:r>
              <a:rPr lang="en-US" dirty="0" err="1"/>
              <a:t>person.age</a:t>
            </a:r>
            <a:r>
              <a:rPr lang="en-US" dirty="0"/>
              <a:t>=30;</a:t>
            </a:r>
          </a:p>
          <a:p>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    </a:t>
            </a:r>
            <a:r>
              <a:rPr lang="en-US" dirty="0" err="1"/>
              <a:t>person.eyecolor</a:t>
            </a:r>
            <a:r>
              <a:rPr lang="en-US" dirty="0"/>
              <a:t>="blue";</a:t>
            </a:r>
            <a:br>
              <a:rPr lang="en-US" dirty="0"/>
            </a:br>
            <a:br>
              <a:rPr lang="en-US" dirty="0"/>
            </a:br>
            <a:r>
              <a:rPr lang="en-US" dirty="0"/>
              <a:t>x=</a:t>
            </a:r>
            <a:r>
              <a:rPr lang="en-US" dirty="0" err="1"/>
              <a:t>person.firstname</a:t>
            </a:r>
            <a:r>
              <a:rPr lang="en-US" dirty="0"/>
              <a:t>;</a:t>
            </a:r>
          </a:p>
          <a:p>
            <a:pPr algn="just"/>
            <a:r>
              <a:rPr lang="en-US" dirty="0"/>
              <a:t>The value of x, after execution of the code above will be:</a:t>
            </a:r>
          </a:p>
          <a:p>
            <a:r>
              <a:rPr lang="en-US" dirty="0"/>
              <a:t>John</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Adding Methods to JavaScript Objects</a:t>
            </a:r>
            <a:endParaRPr lang="en-US" dirty="0"/>
          </a:p>
        </p:txBody>
      </p:sp>
      <p:sp>
        <p:nvSpPr>
          <p:cNvPr id="3" name="Content Placeholder 2"/>
          <p:cNvSpPr>
            <a:spLocks noGrp="1"/>
          </p:cNvSpPr>
          <p:nvPr>
            <p:ph idx="1"/>
          </p:nvPr>
        </p:nvSpPr>
        <p:spPr/>
        <p:txBody>
          <a:bodyPr>
            <a:normAutofit fontScale="92500"/>
          </a:bodyPr>
          <a:lstStyle/>
          <a:p>
            <a:pPr algn="just"/>
            <a:r>
              <a:rPr lang="en-US" dirty="0"/>
              <a:t>Methods are just functions attached to objects.</a:t>
            </a:r>
          </a:p>
          <a:p>
            <a:pPr algn="just"/>
            <a:r>
              <a:rPr lang="en-US" dirty="0"/>
              <a:t>Defining methods to an object is done inside the constructor function:</a:t>
            </a:r>
          </a:p>
          <a:p>
            <a:r>
              <a:rPr lang="en-US" dirty="0"/>
              <a:t>function person(</a:t>
            </a:r>
            <a:r>
              <a:rPr lang="en-US" dirty="0" err="1"/>
              <a:t>firstname,lastname,age,eyecolor</a:t>
            </a:r>
            <a:r>
              <a:rPr lang="en-US" dirty="0"/>
              <a:t>)</a:t>
            </a:r>
            <a:br>
              <a:rPr lang="en-US" dirty="0"/>
            </a:br>
            <a:r>
              <a:rPr lang="en-US" dirty="0"/>
              <a:t>{</a:t>
            </a:r>
            <a:br>
              <a:rPr lang="en-US" dirty="0"/>
            </a:br>
            <a:r>
              <a:rPr lang="en-US" dirty="0" err="1"/>
              <a:t>this.firstname</a:t>
            </a:r>
            <a:r>
              <a:rPr lang="en-US" dirty="0"/>
              <a:t>=</a:t>
            </a:r>
            <a:r>
              <a:rPr lang="en-US" dirty="0" err="1"/>
              <a:t>firstname</a:t>
            </a:r>
            <a:r>
              <a:rPr lang="en-US" dirty="0"/>
              <a:t>;</a:t>
            </a:r>
            <a:br>
              <a:rPr lang="en-US" dirty="0"/>
            </a:br>
            <a:r>
              <a:rPr lang="en-US" dirty="0" err="1"/>
              <a:t>this.lastname</a:t>
            </a:r>
            <a:r>
              <a:rPr lang="en-US" dirty="0"/>
              <a:t>=</a:t>
            </a:r>
            <a:r>
              <a:rPr lang="en-US" dirty="0" err="1"/>
              <a:t>lastname</a:t>
            </a:r>
            <a:r>
              <a:rPr lang="en-US" dirty="0"/>
              <a:t>;</a:t>
            </a:r>
            <a:br>
              <a:rPr lang="en-US" dirty="0"/>
            </a:br>
            <a:r>
              <a:rPr lang="en-US" dirty="0" err="1"/>
              <a:t>this.age</a:t>
            </a:r>
            <a:r>
              <a:rPr lang="en-US" dirty="0"/>
              <a:t>=age;</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err="1"/>
              <a:t>this.eyecolor</a:t>
            </a:r>
            <a:r>
              <a:rPr lang="en-US" dirty="0"/>
              <a:t>=</a:t>
            </a:r>
            <a:r>
              <a:rPr lang="en-US" dirty="0" err="1"/>
              <a:t>eyecolor</a:t>
            </a:r>
            <a:r>
              <a:rPr lang="en-US" dirty="0"/>
              <a:t>;</a:t>
            </a:r>
            <a:br>
              <a:rPr lang="en-US" dirty="0"/>
            </a:br>
            <a:r>
              <a:rPr lang="en-US" dirty="0" err="1"/>
              <a:t>this.changeName</a:t>
            </a:r>
            <a:r>
              <a:rPr lang="en-US" dirty="0"/>
              <a:t>=</a:t>
            </a:r>
            <a:r>
              <a:rPr lang="en-US" dirty="0" err="1"/>
              <a:t>changeName</a:t>
            </a:r>
            <a:r>
              <a:rPr lang="en-US" dirty="0"/>
              <a:t>;</a:t>
            </a:r>
            <a:br>
              <a:rPr lang="en-US" dirty="0"/>
            </a:br>
            <a:r>
              <a:rPr lang="en-US" dirty="0"/>
              <a:t>function </a:t>
            </a:r>
            <a:r>
              <a:rPr lang="en-US" dirty="0" err="1"/>
              <a:t>changeName</a:t>
            </a:r>
            <a:r>
              <a:rPr lang="en-US" dirty="0"/>
              <a:t>(name)</a:t>
            </a:r>
            <a:br>
              <a:rPr lang="en-US" dirty="0"/>
            </a:br>
            <a:r>
              <a:rPr lang="en-US" dirty="0"/>
              <a:t>{</a:t>
            </a:r>
            <a:br>
              <a:rPr lang="en-US" dirty="0"/>
            </a:br>
            <a:r>
              <a:rPr lang="en-US" dirty="0" err="1"/>
              <a:t>this.lastname</a:t>
            </a:r>
            <a:r>
              <a:rPr lang="en-US" dirty="0"/>
              <a:t>=name;</a:t>
            </a:r>
            <a:br>
              <a:rPr lang="en-US" dirty="0"/>
            </a:br>
            <a:r>
              <a:rPr lang="en-US" dirty="0"/>
              <a:t>}</a:t>
            </a:r>
            <a:br>
              <a:rPr lang="en-US" dirty="0"/>
            </a:br>
            <a:r>
              <a:rPr lang="en-US" dirty="0"/>
              <a:t>}</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The </a:t>
            </a:r>
            <a:r>
              <a:rPr lang="en-US" dirty="0" err="1"/>
              <a:t>changeName</a:t>
            </a:r>
            <a:r>
              <a:rPr lang="en-US" dirty="0"/>
              <a:t>() function assigns the value of name to the person's </a:t>
            </a:r>
            <a:r>
              <a:rPr lang="en-US" dirty="0" err="1"/>
              <a:t>lastname</a:t>
            </a:r>
            <a:r>
              <a:rPr lang="en-US" dirty="0"/>
              <a:t> property.</a:t>
            </a:r>
          </a:p>
          <a:p>
            <a:pPr algn="just">
              <a:buNone/>
            </a:pPr>
            <a:r>
              <a:rPr lang="en-US" b="1" dirty="0"/>
              <a:t>    Now You Can Try:</a:t>
            </a:r>
          </a:p>
          <a:p>
            <a:pPr algn="just"/>
            <a:r>
              <a:rPr lang="en-US" dirty="0" err="1"/>
              <a:t>myMother.changeName</a:t>
            </a:r>
            <a:r>
              <a:rPr lang="en-US" dirty="0"/>
              <a:t>("Doe");</a:t>
            </a:r>
          </a:p>
          <a:p>
            <a:pPr algn="just"/>
            <a:r>
              <a:rPr lang="en-US" dirty="0"/>
              <a:t>JavaScript knows which person you are talking about by "substituting" </a:t>
            </a:r>
            <a:r>
              <a:rPr lang="en-US" b="1" dirty="0"/>
              <a:t>this</a:t>
            </a:r>
            <a:r>
              <a:rPr lang="en-US" dirty="0"/>
              <a:t> with </a:t>
            </a:r>
            <a:r>
              <a:rPr lang="en-US" b="1" dirty="0" err="1"/>
              <a:t>myMother</a:t>
            </a:r>
            <a:r>
              <a:rPr lang="en-US" dirty="0"/>
              <a:t>. </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Following example shows how to add a function along with an object.</a:t>
            </a:r>
          </a:p>
        </p:txBody>
      </p:sp>
    </p:spTree>
    <p:extLst>
      <p:ext uri="{BB962C8B-B14F-4D97-AF65-F5344CB8AC3E}">
        <p14:creationId xmlns:p14="http://schemas.microsoft.com/office/powerpoint/2010/main" val="18012248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&lt;html&gt;</a:t>
            </a:r>
          </a:p>
          <a:p>
            <a:pPr marL="0" indent="0">
              <a:buNone/>
            </a:pPr>
            <a:r>
              <a:rPr lang="en-US" dirty="0"/>
              <a:t>   </a:t>
            </a:r>
          </a:p>
          <a:p>
            <a:pPr marL="0" indent="0">
              <a:buNone/>
            </a:pPr>
            <a:r>
              <a:rPr lang="en-US" dirty="0"/>
              <a:t>   &lt;head&gt;</a:t>
            </a:r>
          </a:p>
          <a:p>
            <a:pPr marL="0" indent="0">
              <a:buNone/>
            </a:pPr>
            <a:r>
              <a:rPr lang="en-US" dirty="0"/>
              <a:t>   &lt;title&gt;User-defined objects&lt;/title&gt;</a:t>
            </a:r>
          </a:p>
          <a:p>
            <a:pPr marL="0" indent="0">
              <a:buNone/>
            </a:pPr>
            <a:r>
              <a:rPr lang="en-US" dirty="0"/>
              <a:t>      &lt;script type = "text/</a:t>
            </a:r>
            <a:r>
              <a:rPr lang="en-US" dirty="0" err="1"/>
              <a:t>javascript</a:t>
            </a:r>
            <a:r>
              <a:rPr lang="en-US" dirty="0"/>
              <a:t>"&gt;</a:t>
            </a:r>
          </a:p>
          <a:p>
            <a:pPr marL="0" indent="0">
              <a:buNone/>
            </a:pPr>
            <a:r>
              <a:rPr lang="en-US" dirty="0"/>
              <a:t>         // Define a function which will work as a method</a:t>
            </a:r>
          </a:p>
          <a:p>
            <a:pPr marL="0" indent="0">
              <a:buNone/>
            </a:pPr>
            <a:r>
              <a:rPr lang="en-US" dirty="0"/>
              <a:t>         function </a:t>
            </a:r>
            <a:r>
              <a:rPr lang="en-US" dirty="0" err="1"/>
              <a:t>addPrice</a:t>
            </a:r>
            <a:r>
              <a:rPr lang="en-US" dirty="0"/>
              <a:t>(amount) </a:t>
            </a:r>
          </a:p>
          <a:p>
            <a:pPr marL="0" indent="0">
              <a:buNone/>
            </a:pPr>
            <a:r>
              <a:rPr lang="en-US" dirty="0"/>
              <a:t>        {</a:t>
            </a:r>
          </a:p>
          <a:p>
            <a:pPr marL="0" indent="0">
              <a:buNone/>
            </a:pPr>
            <a:r>
              <a:rPr lang="en-US" dirty="0"/>
              <a:t>            </a:t>
            </a:r>
            <a:r>
              <a:rPr lang="en-US" dirty="0" err="1"/>
              <a:t>this.price</a:t>
            </a:r>
            <a:r>
              <a:rPr lang="en-US" dirty="0"/>
              <a:t> = amount; </a:t>
            </a:r>
          </a:p>
          <a:p>
            <a:pPr marL="0" indent="0">
              <a:buNone/>
            </a:pPr>
            <a:r>
              <a:rPr lang="en-US" dirty="0"/>
              <a:t>         }</a:t>
            </a:r>
          </a:p>
        </p:txBody>
      </p:sp>
    </p:spTree>
    <p:extLst>
      <p:ext uri="{BB962C8B-B14F-4D97-AF65-F5344CB8AC3E}">
        <p14:creationId xmlns:p14="http://schemas.microsoft.com/office/powerpoint/2010/main" val="415452377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buNone/>
            </a:pPr>
            <a:r>
              <a:rPr lang="en-US" dirty="0"/>
              <a:t>function book(title, author) {</a:t>
            </a:r>
          </a:p>
          <a:p>
            <a:pPr marL="0" indent="0">
              <a:buNone/>
            </a:pPr>
            <a:r>
              <a:rPr lang="en-US" dirty="0"/>
              <a:t>            </a:t>
            </a:r>
            <a:r>
              <a:rPr lang="en-US" dirty="0" err="1"/>
              <a:t>this.title</a:t>
            </a:r>
            <a:r>
              <a:rPr lang="en-US" dirty="0"/>
              <a:t> = title;</a:t>
            </a:r>
          </a:p>
          <a:p>
            <a:pPr marL="0" indent="0">
              <a:buNone/>
            </a:pPr>
            <a:r>
              <a:rPr lang="en-US" dirty="0"/>
              <a:t>            </a:t>
            </a:r>
            <a:r>
              <a:rPr lang="en-US" dirty="0" err="1"/>
              <a:t>this.author</a:t>
            </a:r>
            <a:r>
              <a:rPr lang="en-US" dirty="0"/>
              <a:t>  = author;</a:t>
            </a:r>
          </a:p>
          <a:p>
            <a:pPr marL="0" indent="0">
              <a:buNone/>
            </a:pPr>
            <a:r>
              <a:rPr lang="en-US" dirty="0"/>
              <a:t>            </a:t>
            </a:r>
            <a:r>
              <a:rPr lang="en-US" dirty="0" err="1"/>
              <a:t>this.addPrice</a:t>
            </a:r>
            <a:r>
              <a:rPr lang="en-US" dirty="0"/>
              <a:t> = </a:t>
            </a:r>
            <a:r>
              <a:rPr lang="en-US" dirty="0" err="1"/>
              <a:t>addPrice</a:t>
            </a:r>
            <a:r>
              <a:rPr lang="en-US" dirty="0"/>
              <a:t>;  // Assign that method as property.</a:t>
            </a:r>
          </a:p>
          <a:p>
            <a:pPr marL="0" indent="0">
              <a:buNone/>
            </a:pPr>
            <a:r>
              <a:rPr lang="en-US" dirty="0"/>
              <a:t>         }</a:t>
            </a:r>
          </a:p>
          <a:p>
            <a:pPr marL="0" indent="0">
              <a:buNone/>
            </a:pPr>
            <a:r>
              <a:rPr lang="en-US" dirty="0"/>
              <a:t>      &lt;/script&gt;      </a:t>
            </a:r>
          </a:p>
          <a:p>
            <a:pPr marL="0" indent="0">
              <a:buNone/>
            </a:pPr>
            <a:r>
              <a:rPr lang="en-US" dirty="0"/>
              <a:t>   &lt;/head&gt;</a:t>
            </a:r>
          </a:p>
        </p:txBody>
      </p:sp>
    </p:spTree>
    <p:extLst>
      <p:ext uri="{BB962C8B-B14F-4D97-AF65-F5344CB8AC3E}">
        <p14:creationId xmlns:p14="http://schemas.microsoft.com/office/powerpoint/2010/main" val="241820815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fontScale="85000" lnSpcReduction="20000"/>
          </a:bodyPr>
          <a:lstStyle/>
          <a:p>
            <a:pPr marL="0" indent="0">
              <a:buNone/>
            </a:pPr>
            <a:r>
              <a:rPr lang="en-US" dirty="0"/>
              <a:t>&lt;body&gt;   </a:t>
            </a:r>
          </a:p>
          <a:p>
            <a:pPr marL="0" indent="0">
              <a:buNone/>
            </a:pPr>
            <a:r>
              <a:rPr lang="en-US" dirty="0"/>
              <a:t>      &lt;script type = "text/</a:t>
            </a:r>
            <a:r>
              <a:rPr lang="en-US" dirty="0" err="1"/>
              <a:t>javascript</a:t>
            </a:r>
            <a:r>
              <a:rPr lang="en-US" dirty="0"/>
              <a:t>"&gt;</a:t>
            </a:r>
          </a:p>
          <a:p>
            <a:pPr marL="0" indent="0">
              <a:buNone/>
            </a:pPr>
            <a:r>
              <a:rPr lang="en-US" dirty="0"/>
              <a:t>         </a:t>
            </a:r>
            <a:r>
              <a:rPr lang="en-US" dirty="0" err="1"/>
              <a:t>var</a:t>
            </a:r>
            <a:r>
              <a:rPr lang="en-US" dirty="0"/>
              <a:t> </a:t>
            </a:r>
            <a:r>
              <a:rPr lang="en-US" dirty="0" err="1"/>
              <a:t>myBook</a:t>
            </a:r>
            <a:r>
              <a:rPr lang="en-US" dirty="0"/>
              <a:t> = new book("Perl", "</a:t>
            </a:r>
            <a:r>
              <a:rPr lang="en-US" dirty="0" err="1"/>
              <a:t>Mohtashim</a:t>
            </a:r>
            <a:r>
              <a:rPr lang="en-US" dirty="0"/>
              <a:t>");</a:t>
            </a:r>
          </a:p>
          <a:p>
            <a:pPr marL="0" indent="0">
              <a:buNone/>
            </a:pPr>
            <a:r>
              <a:rPr lang="en-US" dirty="0"/>
              <a:t>         </a:t>
            </a:r>
            <a:r>
              <a:rPr lang="en-US" dirty="0" err="1"/>
              <a:t>myBook.addPrice</a:t>
            </a:r>
            <a:r>
              <a:rPr lang="en-US" dirty="0"/>
              <a:t>(100);</a:t>
            </a:r>
          </a:p>
          <a:p>
            <a:pPr marL="0" indent="0">
              <a:buNone/>
            </a:pPr>
            <a:r>
              <a:rPr lang="en-US" dirty="0"/>
              <a:t>         </a:t>
            </a:r>
          </a:p>
          <a:p>
            <a:pPr marL="0" indent="0">
              <a:buNone/>
            </a:pPr>
            <a:r>
              <a:rPr lang="en-US" dirty="0"/>
              <a:t>         </a:t>
            </a:r>
            <a:r>
              <a:rPr lang="en-US" dirty="0" err="1"/>
              <a:t>document.write</a:t>
            </a:r>
            <a:r>
              <a:rPr lang="en-US" dirty="0"/>
              <a:t>("Book title is : " + </a:t>
            </a:r>
            <a:r>
              <a:rPr lang="en-US" dirty="0" err="1"/>
              <a:t>myBook.title</a:t>
            </a:r>
            <a:r>
              <a:rPr lang="en-US" dirty="0"/>
              <a:t> + "&lt;</a:t>
            </a:r>
            <a:r>
              <a:rPr lang="en-US" dirty="0" err="1"/>
              <a:t>br</a:t>
            </a:r>
            <a:r>
              <a:rPr lang="en-US" dirty="0"/>
              <a:t>&gt;");</a:t>
            </a:r>
          </a:p>
          <a:p>
            <a:pPr marL="0" indent="0">
              <a:buNone/>
            </a:pPr>
            <a:r>
              <a:rPr lang="en-US" dirty="0"/>
              <a:t>         </a:t>
            </a:r>
            <a:r>
              <a:rPr lang="en-US" dirty="0" err="1"/>
              <a:t>document.write</a:t>
            </a:r>
            <a:r>
              <a:rPr lang="en-US" dirty="0"/>
              <a:t>("Book author is : " + </a:t>
            </a:r>
            <a:r>
              <a:rPr lang="en-US" dirty="0" err="1"/>
              <a:t>myBook.author</a:t>
            </a:r>
            <a:r>
              <a:rPr lang="en-US" dirty="0"/>
              <a:t> + "&lt;</a:t>
            </a:r>
            <a:r>
              <a:rPr lang="en-US" dirty="0" err="1"/>
              <a:t>br</a:t>
            </a:r>
            <a:r>
              <a:rPr lang="en-US" dirty="0"/>
              <a:t>&gt;");</a:t>
            </a:r>
          </a:p>
          <a:p>
            <a:pPr marL="0" indent="0">
              <a:buNone/>
            </a:pPr>
            <a:r>
              <a:rPr lang="en-US" dirty="0"/>
              <a:t>         </a:t>
            </a:r>
            <a:r>
              <a:rPr lang="en-US" dirty="0" err="1"/>
              <a:t>document.write</a:t>
            </a:r>
            <a:r>
              <a:rPr lang="en-US" dirty="0"/>
              <a:t>("Book price is : " + </a:t>
            </a:r>
            <a:r>
              <a:rPr lang="en-US" dirty="0" err="1"/>
              <a:t>myBook.price</a:t>
            </a:r>
            <a:r>
              <a:rPr lang="en-US" dirty="0"/>
              <a:t> + "&lt;</a:t>
            </a:r>
            <a:r>
              <a:rPr lang="en-US" dirty="0" err="1"/>
              <a:t>br</a:t>
            </a:r>
            <a:r>
              <a:rPr lang="en-US" dirty="0"/>
              <a:t>&gt;");</a:t>
            </a:r>
          </a:p>
          <a:p>
            <a:pPr marL="0" indent="0">
              <a:buNone/>
            </a:pPr>
            <a:r>
              <a:rPr lang="en-US" dirty="0"/>
              <a:t>      &lt;/script&gt;      </a:t>
            </a:r>
          </a:p>
          <a:p>
            <a:pPr marL="0" indent="0">
              <a:buNone/>
            </a:pPr>
            <a:r>
              <a:rPr lang="en-US" dirty="0"/>
              <a:t>   &lt;/body&gt;</a:t>
            </a:r>
          </a:p>
          <a:p>
            <a:pPr marL="0" indent="0">
              <a:buNone/>
            </a:pPr>
            <a:r>
              <a:rPr lang="en-US" dirty="0"/>
              <a:t>&lt;/html&gt;</a:t>
            </a:r>
          </a:p>
        </p:txBody>
      </p:sp>
    </p:spTree>
    <p:extLst>
      <p:ext uri="{BB962C8B-B14F-4D97-AF65-F5344CB8AC3E}">
        <p14:creationId xmlns:p14="http://schemas.microsoft.com/office/powerpoint/2010/main" val="379319813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Output</a:t>
            </a:r>
          </a:p>
          <a:p>
            <a:r>
              <a:rPr lang="en-US" dirty="0"/>
              <a:t>Book title is : Perl Book author is : </a:t>
            </a:r>
            <a:r>
              <a:rPr lang="en-US" dirty="0" err="1"/>
              <a:t>Mohtashim</a:t>
            </a:r>
            <a:r>
              <a:rPr lang="en-US" dirty="0"/>
              <a:t> Book price is : 100 </a:t>
            </a:r>
          </a:p>
        </p:txBody>
      </p:sp>
    </p:spTree>
    <p:extLst>
      <p:ext uri="{BB962C8B-B14F-4D97-AF65-F5344CB8AC3E}">
        <p14:creationId xmlns:p14="http://schemas.microsoft.com/office/powerpoint/2010/main" val="252808184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Classes</a:t>
            </a:r>
            <a:endParaRPr lang="en-US" dirty="0"/>
          </a:p>
        </p:txBody>
      </p:sp>
      <p:sp>
        <p:nvSpPr>
          <p:cNvPr id="3" name="Content Placeholder 2"/>
          <p:cNvSpPr>
            <a:spLocks noGrp="1"/>
          </p:cNvSpPr>
          <p:nvPr>
            <p:ph idx="1"/>
          </p:nvPr>
        </p:nvSpPr>
        <p:spPr/>
        <p:txBody>
          <a:bodyPr/>
          <a:lstStyle/>
          <a:p>
            <a:pPr algn="just"/>
            <a:r>
              <a:rPr lang="en-US" dirty="0"/>
              <a:t>JavaScript is an object oriented language, but JavaScript does not use classes.</a:t>
            </a:r>
          </a:p>
          <a:p>
            <a:pPr algn="just"/>
            <a:r>
              <a:rPr lang="en-US" dirty="0"/>
              <a:t>In JavaScript you don’t define classes and create objects from these classes (as in most other object oriented languages).</a:t>
            </a:r>
          </a:p>
          <a:p>
            <a:pPr algn="just"/>
            <a:r>
              <a:rPr lang="en-US" dirty="0"/>
              <a:t>JavaScript is prototype based, not class based.</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JavaScript for...in Loop</a:t>
            </a:r>
            <a:endParaRPr lang="en-US" dirty="0"/>
          </a:p>
        </p:txBody>
      </p:sp>
      <p:sp>
        <p:nvSpPr>
          <p:cNvPr id="3" name="Content Placeholder 2"/>
          <p:cNvSpPr>
            <a:spLocks noGrp="1"/>
          </p:cNvSpPr>
          <p:nvPr>
            <p:ph idx="1"/>
          </p:nvPr>
        </p:nvSpPr>
        <p:spPr/>
        <p:txBody>
          <a:bodyPr>
            <a:normAutofit lnSpcReduction="10000"/>
          </a:bodyPr>
          <a:lstStyle/>
          <a:p>
            <a:pPr algn="just"/>
            <a:r>
              <a:rPr lang="en-US" dirty="0"/>
              <a:t>The JavaScript for...in statement loops through the properties of an object.</a:t>
            </a:r>
          </a:p>
          <a:p>
            <a:pPr>
              <a:buNone/>
            </a:pPr>
            <a:r>
              <a:rPr lang="en-US" b="1" dirty="0"/>
              <a:t>    Syntax</a:t>
            </a:r>
          </a:p>
          <a:p>
            <a:r>
              <a:rPr lang="en-US" dirty="0"/>
              <a:t>for (</a:t>
            </a:r>
            <a:r>
              <a:rPr lang="en-US" i="1" dirty="0"/>
              <a:t>variable</a:t>
            </a:r>
            <a:r>
              <a:rPr lang="en-US" dirty="0"/>
              <a:t> in </a:t>
            </a:r>
            <a:r>
              <a:rPr lang="en-US" i="1" dirty="0"/>
              <a:t>object</a:t>
            </a:r>
            <a:r>
              <a:rPr lang="en-US" dirty="0"/>
              <a:t>)</a:t>
            </a:r>
            <a:br>
              <a:rPr lang="en-US" dirty="0"/>
            </a:br>
            <a:r>
              <a:rPr lang="en-US" dirty="0"/>
              <a:t>  {</a:t>
            </a:r>
            <a:br>
              <a:rPr lang="en-US" dirty="0"/>
            </a:br>
            <a:r>
              <a:rPr lang="en-US" i="1" dirty="0"/>
              <a:t>  code to be executed</a:t>
            </a:r>
            <a:br>
              <a:rPr lang="en-US" dirty="0"/>
            </a:br>
            <a:r>
              <a:rPr lang="en-US" dirty="0"/>
              <a:t>  }</a:t>
            </a:r>
          </a:p>
          <a:p>
            <a:pPr algn="just"/>
            <a:r>
              <a:rPr lang="en-US" b="1" dirty="0"/>
              <a:t>Note: </a:t>
            </a:r>
            <a:r>
              <a:rPr lang="en-US" dirty="0"/>
              <a:t>The block of code inside of the for...in loop will be executed once for each property.</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buNone/>
            </a:pPr>
            <a:r>
              <a:rPr lang="en-US" b="1" dirty="0"/>
              <a:t>    Example</a:t>
            </a:r>
          </a:p>
          <a:p>
            <a:r>
              <a:rPr lang="en-US" dirty="0"/>
              <a:t>Looping through the properties of an object:</a:t>
            </a:r>
          </a:p>
          <a:p>
            <a:pPr>
              <a:buNone/>
            </a:pPr>
            <a:r>
              <a:rPr lang="en-US" b="1" dirty="0"/>
              <a:t>    Example</a:t>
            </a:r>
          </a:p>
          <a:p>
            <a:r>
              <a:rPr lang="en-US" dirty="0" err="1"/>
              <a:t>var</a:t>
            </a:r>
            <a:r>
              <a:rPr lang="en-US" dirty="0"/>
              <a:t> person={</a:t>
            </a:r>
            <a:r>
              <a:rPr lang="en-US" dirty="0" err="1"/>
              <a:t>fname</a:t>
            </a:r>
            <a:r>
              <a:rPr lang="en-US" dirty="0"/>
              <a:t>:"</a:t>
            </a:r>
            <a:r>
              <a:rPr lang="en-US" dirty="0" err="1"/>
              <a:t>John",lname</a:t>
            </a:r>
            <a:r>
              <a:rPr lang="en-US" dirty="0"/>
              <a:t>:"Doe",age:25}; </a:t>
            </a:r>
            <a:br>
              <a:rPr lang="en-US" dirty="0"/>
            </a:br>
            <a:br>
              <a:rPr lang="en-US" dirty="0"/>
            </a:br>
            <a:r>
              <a:rPr lang="en-US" dirty="0"/>
              <a:t>for (x in person)</a:t>
            </a:r>
            <a:br>
              <a:rPr lang="en-US" dirty="0"/>
            </a:br>
            <a:r>
              <a:rPr lang="en-US" dirty="0"/>
              <a:t>  {</a:t>
            </a:r>
            <a:br>
              <a:rPr lang="en-US" dirty="0"/>
            </a:br>
            <a:r>
              <a:rPr lang="en-US" dirty="0"/>
              <a:t>  txt=txt + person[x];</a:t>
            </a:r>
            <a:br>
              <a:rPr lang="en-US" dirty="0"/>
            </a:br>
            <a:r>
              <a:rPr lang="en-US" dirty="0"/>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E581FBE3ACD4C4DB50311EB9DD968DC" ma:contentTypeVersion="3" ma:contentTypeDescription="Create a new document." ma:contentTypeScope="" ma:versionID="686e16f5572404a1f944fadae03690bc">
  <xsd:schema xmlns:xsd="http://www.w3.org/2001/XMLSchema" xmlns:xs="http://www.w3.org/2001/XMLSchema" xmlns:p="http://schemas.microsoft.com/office/2006/metadata/properties" xmlns:ns2="bbb6502a-bd75-46fb-9a70-27076cd4e959" targetNamespace="http://schemas.microsoft.com/office/2006/metadata/properties" ma:root="true" ma:fieldsID="d872637a8893dd55a759186a63adc775" ns2:_="">
    <xsd:import namespace="bbb6502a-bd75-46fb-9a70-27076cd4e95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b6502a-bd75-46fb-9a70-27076cd4e9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EA605A5-EB13-4052-B184-62D516142437}"/>
</file>

<file path=customXml/itemProps2.xml><?xml version="1.0" encoding="utf-8"?>
<ds:datastoreItem xmlns:ds="http://schemas.openxmlformats.org/officeDocument/2006/customXml" ds:itemID="{FAA3DDEB-6A50-4BE0-B2DC-2D8981EADF5A}"/>
</file>

<file path=customXml/itemProps3.xml><?xml version="1.0" encoding="utf-8"?>
<ds:datastoreItem xmlns:ds="http://schemas.openxmlformats.org/officeDocument/2006/customXml" ds:itemID="{9F2FBB3A-E60B-4B3F-8162-D7D094752B29}"/>
</file>

<file path=docProps/app.xml><?xml version="1.0" encoding="utf-8"?>
<Properties xmlns="http://schemas.openxmlformats.org/officeDocument/2006/extended-properties" xmlns:vt="http://schemas.openxmlformats.org/officeDocument/2006/docPropsVTypes">
  <TotalTime>612</TotalTime>
  <Words>6247</Words>
  <Application>Microsoft Macintosh PowerPoint</Application>
  <PresentationFormat>On-screen Show (4:3)</PresentationFormat>
  <Paragraphs>457</Paragraphs>
  <Slides>116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116</vt:i4>
      </vt:variant>
    </vt:vector>
  </HeadingPairs>
  <TitlesOfParts>
    <vt:vector size="119" baseType="lpstr">
      <vt:lpstr>Arial</vt:lpstr>
      <vt:lpstr>Calibri</vt:lpstr>
      <vt:lpstr>Office Theme</vt:lpstr>
      <vt:lpstr>JavaScript</vt:lpstr>
      <vt:lpstr>JavaScript Introduction</vt:lpstr>
      <vt:lpstr>JavaScript is a Scripting Language</vt:lpstr>
      <vt:lpstr>JavaScript: Writing Into HTML Output</vt:lpstr>
      <vt:lpstr>JavaScript: Reacting to Events</vt:lpstr>
      <vt:lpstr>JavaScript: Changing HTML Content</vt:lpstr>
      <vt:lpstr>JavaScript: Changing HTML Images</vt:lpstr>
      <vt:lpstr>JavaScript: Changing HTML Styles</vt:lpstr>
      <vt:lpstr>JavaScript: Validate Input</vt:lpstr>
      <vt:lpstr>Did You Know?</vt:lpstr>
      <vt:lpstr>JavaScript How To</vt:lpstr>
      <vt:lpstr>The &lt;script&gt; Tag</vt:lpstr>
      <vt:lpstr>The &lt;script&gt; Tag</vt:lpstr>
      <vt:lpstr>The &lt;script&gt; Tag</vt:lpstr>
      <vt:lpstr>JavaScript in &lt;body&gt;</vt:lpstr>
      <vt:lpstr>JavaScript Functions and Events</vt:lpstr>
      <vt:lpstr>JavaScript in &lt;head&gt; or &lt;body&gt;</vt:lpstr>
      <vt:lpstr>A JavaScript Function in &lt;head&gt;</vt:lpstr>
      <vt:lpstr>A JavaScript Function in &lt;head&gt;</vt:lpstr>
      <vt:lpstr>A JavaScript Function in &lt;body&gt;</vt:lpstr>
      <vt:lpstr>A JavaScript Function in &lt;body&gt;</vt:lpstr>
      <vt:lpstr>External JavaScripts</vt:lpstr>
      <vt:lpstr>PowerPoint Presentation</vt:lpstr>
      <vt:lpstr>JavaScript Variables</vt:lpstr>
      <vt:lpstr>Much Like Algebra</vt:lpstr>
      <vt:lpstr>JavaScript Variables</vt:lpstr>
      <vt:lpstr>JavaScript Data Types</vt:lpstr>
      <vt:lpstr>JavaScript Data Types</vt:lpstr>
      <vt:lpstr>Declaring (Creating) JavaScript Variables</vt:lpstr>
      <vt:lpstr>Declaring (Creating) JavaScript Variables</vt:lpstr>
      <vt:lpstr>PowerPoint Presentation</vt:lpstr>
      <vt:lpstr>One Statement, Many Variables</vt:lpstr>
      <vt:lpstr>Value = undefined</vt:lpstr>
      <vt:lpstr>Re-Declaring JavaScript Variables</vt:lpstr>
      <vt:lpstr>JavaScript Arithmetic</vt:lpstr>
      <vt:lpstr>JavaScript Has Dynamic Types</vt:lpstr>
      <vt:lpstr>JavaScript Strings</vt:lpstr>
      <vt:lpstr>JavaScript Strings</vt:lpstr>
      <vt:lpstr>JavaScript Numbers</vt:lpstr>
      <vt:lpstr>PowerPoint Presentation</vt:lpstr>
      <vt:lpstr>JavaScript Booleans</vt:lpstr>
      <vt:lpstr>JavaScript Arrays</vt:lpstr>
      <vt:lpstr>PowerPoint Presentation</vt:lpstr>
      <vt:lpstr>JavaScript Objects</vt:lpstr>
      <vt:lpstr>PowerPoint Presentation</vt:lpstr>
      <vt:lpstr>PowerPoint Presentation</vt:lpstr>
      <vt:lpstr>Undefined and Null</vt:lpstr>
      <vt:lpstr>Declaring Variable Types</vt:lpstr>
      <vt:lpstr>Conditional Statements</vt:lpstr>
      <vt:lpstr>PowerPoint Presentation</vt:lpstr>
      <vt:lpstr>If Statement</vt:lpstr>
      <vt:lpstr>PowerPoint Presentation</vt:lpstr>
      <vt:lpstr>If...else Statement</vt:lpstr>
      <vt:lpstr>PowerPoint Presentation</vt:lpstr>
      <vt:lpstr>If...else if...else Statement</vt:lpstr>
      <vt:lpstr>PowerPoint Presentation</vt:lpstr>
      <vt:lpstr>The JavaScript Switch Statement</vt:lpstr>
      <vt:lpstr>PowerPoint Presentation</vt:lpstr>
      <vt:lpstr>PowerPoint Presentation</vt:lpstr>
      <vt:lpstr>PowerPoint Presentation</vt:lpstr>
      <vt:lpstr>The default Keyword</vt:lpstr>
      <vt:lpstr>PowerPoint Presentation</vt:lpstr>
      <vt:lpstr>JavaScript Loops</vt:lpstr>
      <vt:lpstr>PowerPoint Presentation</vt:lpstr>
      <vt:lpstr>PowerPoint Presentation</vt:lpstr>
      <vt:lpstr>Different Kinds of Loops</vt:lpstr>
      <vt:lpstr>For Loop</vt:lpstr>
      <vt:lpstr>PowerPoint Presentation</vt:lpstr>
      <vt:lpstr>The For/In Loop</vt:lpstr>
      <vt:lpstr>The While Loop</vt:lpstr>
      <vt:lpstr>PowerPoint Presentation</vt:lpstr>
      <vt:lpstr>PowerPoint Presentation</vt:lpstr>
      <vt:lpstr>The Do/While Loop</vt:lpstr>
      <vt:lpstr>PowerPoint Presentation</vt:lpstr>
      <vt:lpstr>JavaScript Form Validation</vt:lpstr>
      <vt:lpstr>Required Fields</vt:lpstr>
      <vt:lpstr>PowerPoint Presentation</vt:lpstr>
      <vt:lpstr>E-mail Validation</vt:lpstr>
      <vt:lpstr>PowerPoint Presentation</vt:lpstr>
      <vt:lpstr>PowerPoint Presentation</vt:lpstr>
      <vt:lpstr> JavaScript HTML DOM Events</vt:lpstr>
      <vt:lpstr>PowerPoint Presentation</vt:lpstr>
      <vt:lpstr>Example 1</vt:lpstr>
      <vt:lpstr>Example 2</vt:lpstr>
      <vt:lpstr>PowerPoint Presentation</vt:lpstr>
      <vt:lpstr>HTML Event Attributes</vt:lpstr>
      <vt:lpstr>Assign Events Using the HTML DOM</vt:lpstr>
      <vt:lpstr>PowerPoint Presentation</vt:lpstr>
      <vt:lpstr>The onload and onunload Events</vt:lpstr>
      <vt:lpstr>The onchange Event</vt:lpstr>
      <vt:lpstr>The onmouseover and onmouseout Events</vt:lpstr>
      <vt:lpstr>The onmousedown, onmouseup and onclick Events</vt:lpstr>
      <vt:lpstr>JavaScript Objects</vt:lpstr>
      <vt:lpstr>JavaScript Objects</vt:lpstr>
      <vt:lpstr>Accessing Object Properties</vt:lpstr>
      <vt:lpstr>Accessing Objects Methods</vt:lpstr>
      <vt:lpstr>PowerPoint Presentation</vt:lpstr>
      <vt:lpstr>Creating JavaScript Objects</vt:lpstr>
      <vt:lpstr>Creating a Direct Instance</vt:lpstr>
      <vt:lpstr>PowerPoint Presentation</vt:lpstr>
      <vt:lpstr>Using an Object Constructor</vt:lpstr>
      <vt:lpstr>PowerPoint Presentation</vt:lpstr>
      <vt:lpstr>Creating JavaScript Object Instances</vt:lpstr>
      <vt:lpstr>Adding Properties to JavaScript Objects</vt:lpstr>
      <vt:lpstr>PowerPoint Presentation</vt:lpstr>
      <vt:lpstr>Adding Methods to JavaScript Objects</vt:lpstr>
      <vt:lpstr>PowerPoint Presentation</vt:lpstr>
      <vt:lpstr>PowerPoint Presentation</vt:lpstr>
      <vt:lpstr>PowerPoint Presentation</vt:lpstr>
      <vt:lpstr>Example</vt:lpstr>
      <vt:lpstr>PowerPoint Presentation</vt:lpstr>
      <vt:lpstr>PowerPoint Presentation</vt:lpstr>
      <vt:lpstr>PowerPoint Presentation</vt:lpstr>
      <vt:lpstr>JavaScript Classes</vt:lpstr>
      <vt:lpstr>JavaScript for...in Loop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dc:title>
  <dc:creator>Prof Rajiv</dc:creator>
  <cp:lastModifiedBy>Rajiv Vincent</cp:lastModifiedBy>
  <cp:revision>136</cp:revision>
  <dcterms:created xsi:type="dcterms:W3CDTF">2006-08-16T00:00:00Z</dcterms:created>
  <dcterms:modified xsi:type="dcterms:W3CDTF">2024-02-19T05:46:34Z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0x0101005E581FBE3ACD4C4DB50311EB9DD968DC</vt:lpwstr>
  </property>
</Properties>
</file>