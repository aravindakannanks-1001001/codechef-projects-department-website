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53.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88.xml" ContentType="application/vnd.openxmlformats-officedocument.presentationml.slide+xml"/>
  <Override PartName="/ppt/slides/slide87.xml" ContentType="application/vnd.openxmlformats-officedocument.presentationml.slide+xml"/>
  <Override PartName="/ppt/slides/slide86.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51.xml" ContentType="application/vnd.openxmlformats-officedocument.presentationml.slide+xml"/>
  <Override PartName="/ppt/slides/slide81.xml" ContentType="application/vnd.openxmlformats-officedocument.presentationml.slide+xml"/>
  <Override PartName="/ppt/slides/slide80.xml" ContentType="application/vnd.openxmlformats-officedocument.presentationml.slide+xml"/>
  <Override PartName="/ppt/slides/slide79.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0.xml" ContentType="application/vnd.openxmlformats-officedocument.presentationml.slide+xml"/>
  <Override PartName="/ppt/slides/slide59.xml" ContentType="application/vnd.openxmlformats-officedocument.presentationml.slide+xml"/>
  <Override PartName="/ppt/slides/slide58.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4.xml" ContentType="application/vnd.openxmlformats-officedocument.presentationml.slide+xml"/>
  <Override PartName="/ppt/slides/slide73.xml" ContentType="application/vnd.openxmlformats-officedocument.presentationml.slide+xml"/>
  <Override PartName="/ppt/slides/slide72.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5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20.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21.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32.xml" ContentType="application/vnd.openxmlformats-officedocument.presentationml.slide+xml"/>
  <Override PartName="/ppt/slides/slide38.xml" ContentType="application/vnd.openxmlformats-officedocument.presentationml.slide+xml"/>
  <Override PartName="/ppt/slides/slide30.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1.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00"/>
  </p:notesMasterIdLst>
  <p:sldIdLst>
    <p:sldId id="256" r:id="rId2"/>
    <p:sldId id="257" r:id="rId3"/>
    <p:sldId id="258" r:id="rId4"/>
    <p:sldId id="259" r:id="rId5"/>
    <p:sldId id="260" r:id="rId6"/>
    <p:sldId id="261" r:id="rId7"/>
    <p:sldId id="262" r:id="rId8"/>
    <p:sldId id="264" r:id="rId9"/>
    <p:sldId id="275" r:id="rId10"/>
    <p:sldId id="276" r:id="rId11"/>
    <p:sldId id="277" r:id="rId12"/>
    <p:sldId id="278" r:id="rId13"/>
    <p:sldId id="279" r:id="rId14"/>
    <p:sldId id="280" r:id="rId15"/>
    <p:sldId id="281" r:id="rId16"/>
    <p:sldId id="282" r:id="rId17"/>
    <p:sldId id="263" r:id="rId18"/>
    <p:sldId id="265" r:id="rId19"/>
    <p:sldId id="266" r:id="rId20"/>
    <p:sldId id="267" r:id="rId21"/>
    <p:sldId id="268" r:id="rId22"/>
    <p:sldId id="269" r:id="rId23"/>
    <p:sldId id="270" r:id="rId24"/>
    <p:sldId id="271" r:id="rId25"/>
    <p:sldId id="345" r:id="rId26"/>
    <p:sldId id="272" r:id="rId27"/>
    <p:sldId id="273" r:id="rId28"/>
    <p:sldId id="274" r:id="rId29"/>
    <p:sldId id="283" r:id="rId30"/>
    <p:sldId id="284" r:id="rId31"/>
    <p:sldId id="285" r:id="rId32"/>
    <p:sldId id="287" r:id="rId33"/>
    <p:sldId id="288" r:id="rId34"/>
    <p:sldId id="289" r:id="rId35"/>
    <p:sldId id="290" r:id="rId36"/>
    <p:sldId id="291" r:id="rId37"/>
    <p:sldId id="292" r:id="rId38"/>
    <p:sldId id="293" r:id="rId39"/>
    <p:sldId id="294" r:id="rId40"/>
    <p:sldId id="286" r:id="rId41"/>
    <p:sldId id="295" r:id="rId42"/>
    <p:sldId id="296" r:id="rId43"/>
    <p:sldId id="297" r:id="rId44"/>
    <p:sldId id="298" r:id="rId45"/>
    <p:sldId id="299" r:id="rId46"/>
    <p:sldId id="300" r:id="rId47"/>
    <p:sldId id="301" r:id="rId48"/>
    <p:sldId id="302" r:id="rId49"/>
    <p:sldId id="303" r:id="rId50"/>
    <p:sldId id="304" r:id="rId51"/>
    <p:sldId id="346" r:id="rId52"/>
    <p:sldId id="305" r:id="rId53"/>
    <p:sldId id="347" r:id="rId54"/>
    <p:sldId id="348" r:id="rId55"/>
    <p:sldId id="349" r:id="rId56"/>
    <p:sldId id="306" r:id="rId57"/>
    <p:sldId id="307" r:id="rId58"/>
    <p:sldId id="350" r:id="rId59"/>
    <p:sldId id="308" r:id="rId60"/>
    <p:sldId id="309" r:id="rId61"/>
    <p:sldId id="351" r:id="rId62"/>
    <p:sldId id="352" r:id="rId63"/>
    <p:sldId id="310" r:id="rId64"/>
    <p:sldId id="311" r:id="rId65"/>
    <p:sldId id="312" r:id="rId66"/>
    <p:sldId id="313" r:id="rId67"/>
    <p:sldId id="314" r:id="rId68"/>
    <p:sldId id="315" r:id="rId69"/>
    <p:sldId id="353" r:id="rId70"/>
    <p:sldId id="316" r:id="rId71"/>
    <p:sldId id="317" r:id="rId72"/>
    <p:sldId id="318" r:id="rId73"/>
    <p:sldId id="319" r:id="rId74"/>
    <p:sldId id="320" r:id="rId75"/>
    <p:sldId id="321" r:id="rId76"/>
    <p:sldId id="323" r:id="rId77"/>
    <p:sldId id="324" r:id="rId78"/>
    <p:sldId id="325" r:id="rId79"/>
    <p:sldId id="326" r:id="rId80"/>
    <p:sldId id="327" r:id="rId81"/>
    <p:sldId id="328" r:id="rId82"/>
    <p:sldId id="329" r:id="rId83"/>
    <p:sldId id="330" r:id="rId84"/>
    <p:sldId id="331" r:id="rId85"/>
    <p:sldId id="322"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544" autoAdjust="0"/>
  </p:normalViewPr>
  <p:slideViewPr>
    <p:cSldViewPr>
      <p:cViewPr varScale="1">
        <p:scale>
          <a:sx n="64" d="100"/>
          <a:sy n="64" d="100"/>
        </p:scale>
        <p:origin x="-1566"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customXml" Target="../customXml/item3.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customXml" Target="../customXml/item2.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D7ACAD2-6E21-4CB8-8194-E14EFC828096}" type="datetimeFigureOut">
              <a:rPr lang="en-US" smtClean="0"/>
              <a:t>20-Jan-24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7BF828-FE35-48FB-ACAB-653B949281C5}" type="slidenum">
              <a:rPr lang="en-US" smtClean="0"/>
              <a:t>‹#›</a:t>
            </a:fld>
            <a:endParaRPr lang="en-US"/>
          </a:p>
        </p:txBody>
      </p:sp>
    </p:spTree>
    <p:extLst>
      <p:ext uri="{BB962C8B-B14F-4D97-AF65-F5344CB8AC3E}">
        <p14:creationId xmlns:p14="http://schemas.microsoft.com/office/powerpoint/2010/main" val="1829417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b="1" dirty="0" smtClean="0"/>
              <a:t>&lt;</a:t>
            </a:r>
            <a:r>
              <a:rPr lang="en-US" b="1" dirty="0" err="1" smtClean="0"/>
              <a:t>defs</a:t>
            </a:r>
            <a:r>
              <a:rPr lang="en-US" b="1" dirty="0" smtClean="0"/>
              <a:t>&gt;</a:t>
            </a:r>
            <a:r>
              <a:rPr lang="en-US" dirty="0" smtClean="0"/>
              <a:t> element is used to store graphical objects that will be used at a later time. </a:t>
            </a:r>
          </a:p>
          <a:p>
            <a:r>
              <a:rPr lang="en-US" dirty="0" smtClean="0"/>
              <a:t>The </a:t>
            </a:r>
            <a:r>
              <a:rPr lang="en-US" b="1" dirty="0" smtClean="0"/>
              <a:t>&lt;</a:t>
            </a:r>
            <a:r>
              <a:rPr lang="en-US" b="1" dirty="0" err="1" smtClean="0"/>
              <a:t>linearGradient</a:t>
            </a:r>
            <a:r>
              <a:rPr lang="en-US" b="1" dirty="0" smtClean="0"/>
              <a:t>&gt;</a:t>
            </a:r>
            <a:r>
              <a:rPr lang="en-US" dirty="0" smtClean="0"/>
              <a:t> element lets authors define linear gradients to apply to other SVG elements.</a:t>
            </a:r>
            <a:endParaRPr lang="en-US" dirty="0"/>
          </a:p>
        </p:txBody>
      </p:sp>
      <p:sp>
        <p:nvSpPr>
          <p:cNvPr id="4" name="Slide Number Placeholder 3"/>
          <p:cNvSpPr>
            <a:spLocks noGrp="1"/>
          </p:cNvSpPr>
          <p:nvPr>
            <p:ph type="sldNum" sz="quarter" idx="10"/>
          </p:nvPr>
        </p:nvSpPr>
        <p:spPr/>
        <p:txBody>
          <a:bodyPr/>
          <a:lstStyle/>
          <a:p>
            <a:fld id="{F37BF828-FE35-48FB-ACAB-653B949281C5}" type="slidenum">
              <a:rPr lang="en-US" smtClean="0"/>
              <a:t>68</a:t>
            </a:fld>
            <a:endParaRPr lang="en-US"/>
          </a:p>
        </p:txBody>
      </p:sp>
    </p:spTree>
    <p:extLst>
      <p:ext uri="{BB962C8B-B14F-4D97-AF65-F5344CB8AC3E}">
        <p14:creationId xmlns:p14="http://schemas.microsoft.com/office/powerpoint/2010/main" val="4191388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Google developers take the Chromium source code and add their proprietary code – thus resulting in </a:t>
            </a:r>
            <a:r>
              <a:rPr lang="en-US" b="1" dirty="0" smtClean="0"/>
              <a:t>Chrome which has more features and add-ons than Chromium</a:t>
            </a:r>
            <a:r>
              <a:rPr lang="en-US" dirty="0" smtClean="0"/>
              <a:t>. </a:t>
            </a:r>
            <a:endParaRPr lang="en-US" dirty="0"/>
          </a:p>
        </p:txBody>
      </p:sp>
      <p:sp>
        <p:nvSpPr>
          <p:cNvPr id="4" name="Slide Number Placeholder 3"/>
          <p:cNvSpPr>
            <a:spLocks noGrp="1"/>
          </p:cNvSpPr>
          <p:nvPr>
            <p:ph type="sldNum" sz="quarter" idx="10"/>
          </p:nvPr>
        </p:nvSpPr>
        <p:spPr/>
        <p:txBody>
          <a:bodyPr/>
          <a:lstStyle/>
          <a:p>
            <a:fld id="{F37BF828-FE35-48FB-ACAB-653B949281C5}" type="slidenum">
              <a:rPr lang="en-US" smtClean="0"/>
              <a:t>76</a:t>
            </a:fld>
            <a:endParaRPr lang="en-US"/>
          </a:p>
        </p:txBody>
      </p:sp>
    </p:spTree>
    <p:extLst>
      <p:ext uri="{BB962C8B-B14F-4D97-AF65-F5344CB8AC3E}">
        <p14:creationId xmlns:p14="http://schemas.microsoft.com/office/powerpoint/2010/main" val="1386553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37BF828-FE35-48FB-ACAB-653B949281C5}" type="slidenum">
              <a:rPr lang="en-US" smtClean="0"/>
              <a:t>77</a:t>
            </a:fld>
            <a:endParaRPr lang="en-US"/>
          </a:p>
        </p:txBody>
      </p:sp>
    </p:spTree>
    <p:extLst>
      <p:ext uri="{BB962C8B-B14F-4D97-AF65-F5344CB8AC3E}">
        <p14:creationId xmlns:p14="http://schemas.microsoft.com/office/powerpoint/2010/main" val="2348927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4"/>
            <a:ext cx="7315200" cy="2595025"/>
          </a:xfrm>
        </p:spPr>
        <p:txBody>
          <a:bodyPr>
            <a:normAutofit/>
          </a:bodyPr>
          <a:lstStyle>
            <a:lvl1pPr>
              <a:defRPr sz="4800"/>
            </a:lvl1pPr>
          </a:lstStyle>
          <a:p>
            <a:r>
              <a:rPr lang="en-US" smtClean="0"/>
              <a:t>Click to edit Master title style</a:t>
            </a:r>
            <a:endParaRPr lang="en-US"/>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20-Jan-24</a:t>
            </a:fld>
            <a:endParaRPr lang="en-US"/>
          </a:p>
        </p:txBody>
      </p:sp>
      <p:sp>
        <p:nvSpPr>
          <p:cNvPr id="8" name="Slide Number Placeholder 7"/>
          <p:cNvSpPr>
            <a:spLocks noGrp="1"/>
          </p:cNvSpPr>
          <p:nvPr>
            <p:ph type="sldNum" sz="quarter" idx="11"/>
          </p:nvPr>
        </p:nvSpPr>
        <p:spPr/>
        <p:txBody>
          <a:bodyPr/>
          <a:lstStyle/>
          <a:p>
            <a:fld id="{B6F15528-21DE-4FAA-801E-634DDDAF4B2B}" type="slidenum">
              <a:rPr lang="en-US" smtClean="0"/>
              <a:pPr/>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20-Jan-24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914400" y="3865097"/>
            <a:ext cx="7315200" cy="1098439"/>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D8BD707-D9CF-40AE-B4C6-C98DA3205C09}" type="datetimeFigureOut">
              <a:rPr lang="en-US" smtClean="0"/>
              <a:pPr/>
              <a:t>20-Jan-24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Title 8"/>
          <p:cNvSpPr>
            <a:spLocks noGrp="1"/>
          </p:cNvSpPr>
          <p:nvPr>
            <p:ph type="title"/>
          </p:nvPr>
        </p:nvSpPr>
        <p:spPr>
          <a:xfrm>
            <a:off x="914400" y="1544715"/>
            <a:ext cx="7315200" cy="1154097"/>
          </a:xfrm>
        </p:spPr>
        <p:txBody>
          <a:bodyPr/>
          <a:lstStyle/>
          <a:p>
            <a:r>
              <a:rPr lang="en-US" smtClean="0"/>
              <a:t>Click to edit Master title style</a:t>
            </a:r>
            <a:endParaRPr lang="en-US"/>
          </a:p>
        </p:txBody>
      </p:sp>
      <p:sp>
        <p:nvSpPr>
          <p:cNvPr id="8" name="Content Placeholder 7"/>
          <p:cNvSpPr>
            <a:spLocks noGrp="1"/>
          </p:cNvSpPr>
          <p:nvPr>
            <p:ph sz="quarter" idx="13"/>
          </p:nvPr>
        </p:nvSpPr>
        <p:spPr>
          <a:xfrm>
            <a:off x="914400" y="2743200"/>
            <a:ext cx="3566160" cy="359359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81728" y="2743200"/>
            <a:ext cx="3566160" cy="35956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885144" y="2743200"/>
            <a:ext cx="336206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20-Jan-24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Title 9"/>
          <p:cNvSpPr>
            <a:spLocks noGrp="1"/>
          </p:cNvSpPr>
          <p:nvPr>
            <p:ph type="title"/>
          </p:nvPr>
        </p:nvSpPr>
        <p:spPr>
          <a:xfrm>
            <a:off x="914400" y="1544715"/>
            <a:ext cx="7315200" cy="1154097"/>
          </a:xfrm>
        </p:spPr>
        <p:txBody>
          <a:bodyPr/>
          <a:lstStyle/>
          <a:p>
            <a:r>
              <a:rPr lang="en-US" smtClean="0"/>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20-Jan-24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20-Jan-24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2"/>
            <a:ext cx="2950936" cy="2173015"/>
          </a:xfrm>
        </p:spPr>
        <p:txBody>
          <a:bodyPr anchor="b">
            <a:normAutofit/>
          </a:bodyPr>
          <a:lstStyle>
            <a:lvl1pPr algn="l">
              <a:defRPr sz="2800" b="0"/>
            </a:lvl1pPr>
          </a:lstStyle>
          <a:p>
            <a:r>
              <a:rPr lang="en-US" smtClean="0"/>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4400" y="4061095"/>
            <a:ext cx="2950936" cy="2245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20-Jan-24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20-Jan-24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0" y="1826709"/>
            <a:ext cx="1492499" cy="448445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914400" y="1544715"/>
            <a:ext cx="7315200" cy="115409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4400" y="2769833"/>
            <a:ext cx="7315200" cy="353952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007690" y="548797"/>
            <a:ext cx="1189132" cy="297918"/>
          </a:xfrm>
          <a:prstGeom prst="rect">
            <a:avLst/>
          </a:prstGeom>
        </p:spPr>
        <p:txBody>
          <a:bodyPr vert="horz" lIns="91440" tIns="45720" rIns="91440" bIns="45720" rtlCol="0" anchor="ctr"/>
          <a:lstStyle>
            <a:lvl1pPr algn="l">
              <a:defRPr sz="1200">
                <a:solidFill>
                  <a:schemeClr val="tx1">
                    <a:alpha val="50000"/>
                  </a:schemeClr>
                </a:solidFill>
              </a:defRPr>
            </a:lvl1pPr>
          </a:lstStyle>
          <a:p>
            <a:fld id="{1D8BD707-D9CF-40AE-B4C6-C98DA3205C09}" type="datetimeFigureOut">
              <a:rPr lang="en-US" smtClean="0"/>
              <a:pPr/>
              <a:t>20-Jan-24</a:t>
            </a:fld>
            <a:endParaRPr lang="en-US"/>
          </a:p>
        </p:txBody>
      </p:sp>
      <p:sp>
        <p:nvSpPr>
          <p:cNvPr id="6" name="Slide Number Placeholder 5"/>
          <p:cNvSpPr>
            <a:spLocks noGrp="1"/>
          </p:cNvSpPr>
          <p:nvPr>
            <p:ph type="sldNum" sz="quarter" idx="4"/>
          </p:nvPr>
        </p:nvSpPr>
        <p:spPr>
          <a:xfrm>
            <a:off x="7314415" y="548797"/>
            <a:ext cx="941203" cy="301752"/>
          </a:xfrm>
          <a:prstGeom prst="rect">
            <a:avLst/>
          </a:prstGeom>
        </p:spPr>
        <p:txBody>
          <a:bodyPr vert="horz" lIns="91440" tIns="45720" rIns="91440" bIns="45720" rtlCol="0" anchor="ctr"/>
          <a:lstStyle>
            <a:lvl1pPr algn="r">
              <a:defRPr sz="1200">
                <a:solidFill>
                  <a:schemeClr val="tx1"/>
                </a:solidFill>
              </a:defRPr>
            </a:lvl1pPr>
          </a:lstStyle>
          <a:p>
            <a:fld id="{B6F15528-21DE-4FAA-801E-634DDDAF4B2B}" type="slidenum">
              <a:rPr lang="en-US" smtClean="0"/>
              <a:pPr/>
              <a:t>‹#›</a:t>
            </a:fld>
            <a:endParaRPr lang="en-US"/>
          </a:p>
        </p:txBody>
      </p:sp>
      <p:sp>
        <p:nvSpPr>
          <p:cNvPr id="5" name="Footer Placeholder 4"/>
          <p:cNvSpPr>
            <a:spLocks noGrp="1"/>
          </p:cNvSpPr>
          <p:nvPr>
            <p:ph type="ftr" sz="quarter" idx="3"/>
          </p:nvPr>
        </p:nvSpPr>
        <p:spPr>
          <a:xfrm>
            <a:off x="6008688" y="855956"/>
            <a:ext cx="2246489" cy="301227"/>
          </a:xfrm>
          <a:prstGeom prst="rect">
            <a:avLst/>
          </a:prstGeom>
        </p:spPr>
        <p:txBody>
          <a:bodyPr vert="horz" lIns="91440" tIns="0" rIns="91440" bIns="45720" rtlCol="0" anchor="t"/>
          <a:lstStyle>
            <a:lvl1pPr algn="l">
              <a:defRPr sz="1000">
                <a:solidFill>
                  <a:schemeClr val="tx1"/>
                </a:solidFill>
              </a:defRPr>
            </a:lvl1pPr>
          </a:lstStyle>
          <a:p>
            <a:endParaRPr lang="en-US"/>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s://www.w3schools.com/charsets/ref_utf_punctuation.asp"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HTML Advanced Tags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7017969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HTML Block and Inline </a:t>
            </a:r>
            <a:r>
              <a:rPr lang="en-US" b="1" dirty="0" smtClean="0"/>
              <a:t>Elements</a:t>
            </a:r>
            <a:endParaRPr lang="en-US" dirty="0"/>
          </a:p>
        </p:txBody>
      </p:sp>
      <p:sp>
        <p:nvSpPr>
          <p:cNvPr id="3" name="Content Placeholder 2"/>
          <p:cNvSpPr>
            <a:spLocks noGrp="1"/>
          </p:cNvSpPr>
          <p:nvPr>
            <p:ph idx="1"/>
          </p:nvPr>
        </p:nvSpPr>
        <p:spPr/>
        <p:txBody>
          <a:bodyPr/>
          <a:lstStyle/>
          <a:p>
            <a:r>
              <a:rPr lang="en-US" dirty="0"/>
              <a:t>Every HTML element has a default display value, depending on what type of element it is.</a:t>
            </a:r>
          </a:p>
          <a:p>
            <a:r>
              <a:rPr lang="en-US" dirty="0"/>
              <a:t>There are two display values: block and inline.</a:t>
            </a:r>
          </a:p>
          <a:p>
            <a:endParaRPr lang="en-US" dirty="0"/>
          </a:p>
        </p:txBody>
      </p:sp>
    </p:spTree>
    <p:extLst>
      <p:ext uri="{BB962C8B-B14F-4D97-AF65-F5344CB8AC3E}">
        <p14:creationId xmlns:p14="http://schemas.microsoft.com/office/powerpoint/2010/main" val="40283944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Block-level </a:t>
            </a:r>
            <a:r>
              <a:rPr lang="en-US" b="1" dirty="0" smtClean="0"/>
              <a:t>Elements</a:t>
            </a:r>
            <a:endParaRPr lang="en-US" dirty="0"/>
          </a:p>
        </p:txBody>
      </p:sp>
      <p:sp>
        <p:nvSpPr>
          <p:cNvPr id="3" name="Content Placeholder 2"/>
          <p:cNvSpPr>
            <a:spLocks noGrp="1"/>
          </p:cNvSpPr>
          <p:nvPr>
            <p:ph idx="1"/>
          </p:nvPr>
        </p:nvSpPr>
        <p:spPr/>
        <p:txBody>
          <a:bodyPr>
            <a:normAutofit fontScale="77500" lnSpcReduction="20000"/>
          </a:bodyPr>
          <a:lstStyle/>
          <a:p>
            <a:r>
              <a:rPr lang="en-US" dirty="0"/>
              <a:t>A block-level element always starts on a new line, and the browsers automatically add some space (a margin) before and after the element.</a:t>
            </a:r>
          </a:p>
          <a:p>
            <a:endParaRPr lang="en-US" dirty="0"/>
          </a:p>
          <a:p>
            <a:r>
              <a:rPr lang="en-US" dirty="0"/>
              <a:t>A block-level element always takes up the full width available (stretches out to the left and right as far as it can).</a:t>
            </a:r>
          </a:p>
          <a:p>
            <a:endParaRPr lang="en-US" dirty="0"/>
          </a:p>
          <a:p>
            <a:r>
              <a:rPr lang="en-US" dirty="0"/>
              <a:t>Two commonly used block elements are: &lt;p&gt; and &lt;div&gt;.</a:t>
            </a:r>
          </a:p>
          <a:p>
            <a:endParaRPr lang="en-US" dirty="0"/>
          </a:p>
          <a:p>
            <a:r>
              <a:rPr lang="en-US" dirty="0"/>
              <a:t>The &lt;p&gt; element defines a paragraph in an HTML document.</a:t>
            </a:r>
          </a:p>
          <a:p>
            <a:endParaRPr lang="en-US" dirty="0"/>
          </a:p>
          <a:p>
            <a:r>
              <a:rPr lang="en-US" dirty="0"/>
              <a:t>The &lt;div&gt; element defines a division or a section in an HTML document.</a:t>
            </a:r>
          </a:p>
          <a:p>
            <a:endParaRPr lang="en-US" dirty="0"/>
          </a:p>
          <a:p>
            <a:r>
              <a:rPr lang="en-US" dirty="0"/>
              <a:t>The &lt;p&gt; element is a block-level element.</a:t>
            </a:r>
          </a:p>
          <a:p>
            <a:r>
              <a:rPr lang="en-US" dirty="0"/>
              <a:t>The &lt;div&gt; element is a block-level element.</a:t>
            </a:r>
          </a:p>
        </p:txBody>
      </p:sp>
    </p:spTree>
    <p:extLst>
      <p:ext uri="{BB962C8B-B14F-4D97-AF65-F5344CB8AC3E}">
        <p14:creationId xmlns:p14="http://schemas.microsoft.com/office/powerpoint/2010/main" val="11526069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533401"/>
            <a:ext cx="7315200" cy="5775960"/>
          </a:xfrm>
        </p:spPr>
        <p:txBody>
          <a:bodyPr>
            <a:normAutofit/>
          </a:bodyPr>
          <a:lstStyle/>
          <a:p>
            <a:pPr marL="45720" indent="0">
              <a:buNone/>
            </a:pPr>
            <a:r>
              <a:rPr lang="en-US" dirty="0"/>
              <a:t>&lt;!DOCTYPE html&gt;</a:t>
            </a:r>
          </a:p>
          <a:p>
            <a:pPr marL="45720" indent="0">
              <a:buNone/>
            </a:pPr>
            <a:r>
              <a:rPr lang="en-US" dirty="0"/>
              <a:t>&lt;html&gt;</a:t>
            </a:r>
          </a:p>
          <a:p>
            <a:pPr marL="45720" indent="0">
              <a:buNone/>
            </a:pPr>
            <a:r>
              <a:rPr lang="en-US" dirty="0"/>
              <a:t>&lt;body</a:t>
            </a:r>
            <a:r>
              <a:rPr lang="en-US" dirty="0" smtClean="0"/>
              <a:t>&gt;</a:t>
            </a:r>
            <a:endParaRPr lang="en-US" dirty="0"/>
          </a:p>
          <a:p>
            <a:pPr marL="45720" indent="0">
              <a:buNone/>
            </a:pPr>
            <a:r>
              <a:rPr lang="en-US" dirty="0"/>
              <a:t>&lt;p style="border: 1px solid black"&gt;Hello World&lt;/p&gt;</a:t>
            </a:r>
          </a:p>
          <a:p>
            <a:pPr marL="45720" indent="0">
              <a:buNone/>
            </a:pPr>
            <a:r>
              <a:rPr lang="en-US" dirty="0"/>
              <a:t>&lt;div style="border: 1px solid </a:t>
            </a:r>
            <a:r>
              <a:rPr lang="en-US" dirty="0" smtClean="0"/>
              <a:t>red"&gt;</a:t>
            </a:r>
            <a:r>
              <a:rPr lang="en-US" dirty="0"/>
              <a:t>Hello World&lt;/div</a:t>
            </a:r>
            <a:r>
              <a:rPr lang="en-US" dirty="0" smtClean="0"/>
              <a:t>&gt;</a:t>
            </a:r>
            <a:endParaRPr lang="en-US" dirty="0"/>
          </a:p>
          <a:p>
            <a:pPr marL="45720" indent="0">
              <a:buNone/>
            </a:pPr>
            <a:r>
              <a:rPr lang="en-US" dirty="0"/>
              <a:t>&lt;p&gt;The P and the DIV elements are both block elements, and they will always start on a new line and take up the full width available (stretches out to the left and right as far as it can).&lt;/p</a:t>
            </a:r>
            <a:r>
              <a:rPr lang="en-US" dirty="0" smtClean="0"/>
              <a:t>&gt;</a:t>
            </a:r>
            <a:endParaRPr lang="en-US" dirty="0"/>
          </a:p>
          <a:p>
            <a:pPr marL="45720" indent="0">
              <a:buNone/>
            </a:pPr>
            <a:r>
              <a:rPr lang="en-US" dirty="0"/>
              <a:t>&lt;/body&gt;</a:t>
            </a:r>
          </a:p>
          <a:p>
            <a:pPr marL="45720" indent="0">
              <a:buNone/>
            </a:pPr>
            <a:r>
              <a:rPr lang="en-US" dirty="0"/>
              <a:t>&lt;/html&gt;</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4495800"/>
            <a:ext cx="7190072" cy="2057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386566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 y="1295400"/>
            <a:ext cx="8991600" cy="47318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728855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Inline </a:t>
            </a:r>
            <a:r>
              <a:rPr lang="en-US" b="1" dirty="0" smtClean="0"/>
              <a:t>Elements</a:t>
            </a:r>
            <a:endParaRPr lang="en-US" dirty="0"/>
          </a:p>
        </p:txBody>
      </p:sp>
      <p:sp>
        <p:nvSpPr>
          <p:cNvPr id="3" name="Content Placeholder 2"/>
          <p:cNvSpPr>
            <a:spLocks noGrp="1"/>
          </p:cNvSpPr>
          <p:nvPr>
            <p:ph idx="1"/>
          </p:nvPr>
        </p:nvSpPr>
        <p:spPr/>
        <p:txBody>
          <a:bodyPr/>
          <a:lstStyle/>
          <a:p>
            <a:r>
              <a:rPr lang="en-US" dirty="0"/>
              <a:t>An inline element does not start on a new line.</a:t>
            </a:r>
          </a:p>
          <a:p>
            <a:r>
              <a:rPr lang="en-US" dirty="0"/>
              <a:t>An inline element only takes up as much width as necessary</a:t>
            </a:r>
            <a:r>
              <a:rPr lang="en-US" dirty="0" smtClean="0"/>
              <a:t>.</a:t>
            </a:r>
          </a:p>
          <a:p>
            <a:r>
              <a:rPr lang="en-US" b="1" dirty="0"/>
              <a:t>Note:</a:t>
            </a:r>
            <a:r>
              <a:rPr lang="en-US" dirty="0"/>
              <a:t> An inline element cannot contain a block-level element!</a:t>
            </a:r>
          </a:p>
          <a:p>
            <a:pPr marL="45720" indent="0">
              <a:buNone/>
            </a:pPr>
            <a:endParaRPr lang="en-US" dirty="0"/>
          </a:p>
        </p:txBody>
      </p:sp>
    </p:spTree>
    <p:extLst>
      <p:ext uri="{BB962C8B-B14F-4D97-AF65-F5344CB8AC3E}">
        <p14:creationId xmlns:p14="http://schemas.microsoft.com/office/powerpoint/2010/main" val="2402525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457201"/>
            <a:ext cx="7315200" cy="5852160"/>
          </a:xfrm>
        </p:spPr>
        <p:txBody>
          <a:bodyPr>
            <a:normAutofit/>
          </a:bodyPr>
          <a:lstStyle/>
          <a:p>
            <a:pPr marL="45720" indent="0">
              <a:buNone/>
            </a:pPr>
            <a:r>
              <a:rPr lang="en-US" dirty="0"/>
              <a:t>&lt;!DOCTYPE html&gt;</a:t>
            </a:r>
          </a:p>
          <a:p>
            <a:pPr marL="45720" indent="0">
              <a:buNone/>
            </a:pPr>
            <a:r>
              <a:rPr lang="en-US" dirty="0"/>
              <a:t>&lt;html&gt;</a:t>
            </a:r>
          </a:p>
          <a:p>
            <a:pPr marL="45720" indent="0">
              <a:buNone/>
            </a:pPr>
            <a:r>
              <a:rPr lang="en-US" dirty="0"/>
              <a:t>&lt;body</a:t>
            </a:r>
            <a:r>
              <a:rPr lang="en-US" dirty="0" smtClean="0"/>
              <a:t>&gt;</a:t>
            </a:r>
            <a:endParaRPr lang="en-US" dirty="0"/>
          </a:p>
          <a:p>
            <a:pPr marL="45720" indent="0">
              <a:buNone/>
            </a:pPr>
            <a:r>
              <a:rPr lang="en-US" dirty="0"/>
              <a:t>&lt;p&gt;This is an inline span &lt;span style="border: 1px solid black"&gt;Hello World&lt;/span&gt; element inside a paragraph.&lt;/p&gt;</a:t>
            </a:r>
          </a:p>
          <a:p>
            <a:endParaRPr lang="en-US" dirty="0"/>
          </a:p>
          <a:p>
            <a:pPr marL="45720" indent="0">
              <a:buNone/>
            </a:pPr>
            <a:r>
              <a:rPr lang="en-US" dirty="0"/>
              <a:t>&lt;p&gt;The SPAN element is an inline element, and will not start on a new line and only takes up as much width as necessary.&lt;/p</a:t>
            </a:r>
            <a:r>
              <a:rPr lang="en-US" dirty="0" smtClean="0"/>
              <a:t>&gt;</a:t>
            </a:r>
            <a:endParaRPr lang="en-US" dirty="0"/>
          </a:p>
          <a:p>
            <a:pPr marL="45720" indent="0">
              <a:buNone/>
            </a:pPr>
            <a:r>
              <a:rPr lang="en-US" dirty="0"/>
              <a:t>&lt;/body&gt;</a:t>
            </a:r>
          </a:p>
          <a:p>
            <a:pPr marL="45720" indent="0">
              <a:buNone/>
            </a:pPr>
            <a:r>
              <a:rPr lang="en-US" dirty="0"/>
              <a:t>&lt;/html&gt;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1053" y="4537362"/>
            <a:ext cx="7264747" cy="1766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61461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5763" y="1218163"/>
            <a:ext cx="8825837" cy="51064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149025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class </a:t>
            </a:r>
            <a:r>
              <a:rPr lang="en-US" b="1" dirty="0" smtClean="0"/>
              <a:t>Attribute</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HTML class attribute is used to specify a class for an HTML element</a:t>
            </a:r>
            <a:r>
              <a:rPr lang="en-US" dirty="0" smtClean="0"/>
              <a:t>.</a:t>
            </a:r>
            <a:endParaRPr lang="en-US" dirty="0"/>
          </a:p>
          <a:p>
            <a:r>
              <a:rPr lang="en-US" dirty="0" smtClean="0"/>
              <a:t>Multiple </a:t>
            </a:r>
            <a:r>
              <a:rPr lang="en-US" dirty="0"/>
              <a:t>HTML elements can share the same class</a:t>
            </a:r>
            <a:r>
              <a:rPr lang="en-US" dirty="0" smtClean="0"/>
              <a:t>.</a:t>
            </a:r>
          </a:p>
          <a:p>
            <a:r>
              <a:rPr lang="en-US" dirty="0"/>
              <a:t>Using The class Attribute</a:t>
            </a:r>
          </a:p>
          <a:p>
            <a:endParaRPr lang="en-US" dirty="0"/>
          </a:p>
          <a:p>
            <a:r>
              <a:rPr lang="en-US" dirty="0"/>
              <a:t>The class attribute is often used to point to a class name in a style sheet. It can also be used by a JavaScript to access and manipulate elements with the specific class name.</a:t>
            </a:r>
          </a:p>
          <a:p>
            <a:endParaRPr lang="en-US" dirty="0"/>
          </a:p>
          <a:p>
            <a:r>
              <a:rPr lang="en-US" dirty="0"/>
              <a:t>In the following example we have three &lt;div&gt; elements with a class attribute with the value of "city". All of the three &lt;div&gt; elements will be styled equally according to the .city style definition in the head section:</a:t>
            </a:r>
          </a:p>
        </p:txBody>
      </p:sp>
    </p:spTree>
    <p:extLst>
      <p:ext uri="{BB962C8B-B14F-4D97-AF65-F5344CB8AC3E}">
        <p14:creationId xmlns:p14="http://schemas.microsoft.com/office/powerpoint/2010/main" val="24046537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609601"/>
            <a:ext cx="7315200" cy="5699760"/>
          </a:xfrm>
        </p:spPr>
        <p:txBody>
          <a:bodyPr>
            <a:normAutofit fontScale="92500" lnSpcReduction="20000"/>
          </a:bodyPr>
          <a:lstStyle/>
          <a:p>
            <a:pPr marL="45720" indent="0">
              <a:buNone/>
            </a:pPr>
            <a:r>
              <a:rPr lang="en-US" dirty="0" smtClean="0"/>
              <a:t>&lt;!</a:t>
            </a:r>
            <a:r>
              <a:rPr lang="en-US" dirty="0"/>
              <a:t>DOCTYPE html&gt;</a:t>
            </a:r>
          </a:p>
          <a:p>
            <a:pPr marL="45720" indent="0">
              <a:buNone/>
            </a:pPr>
            <a:r>
              <a:rPr lang="en-US" dirty="0"/>
              <a:t>&lt;html&gt;</a:t>
            </a:r>
          </a:p>
          <a:p>
            <a:pPr marL="45720" indent="0">
              <a:buNone/>
            </a:pPr>
            <a:r>
              <a:rPr lang="en-US" dirty="0"/>
              <a:t>&lt;head&gt;</a:t>
            </a:r>
          </a:p>
          <a:p>
            <a:pPr marL="45720" indent="0">
              <a:buNone/>
            </a:pPr>
            <a:r>
              <a:rPr lang="en-US" dirty="0"/>
              <a:t>&lt;style&gt;</a:t>
            </a:r>
          </a:p>
          <a:p>
            <a:pPr marL="45720" indent="0">
              <a:buNone/>
            </a:pPr>
            <a:r>
              <a:rPr lang="en-US" dirty="0"/>
              <a:t>.city {</a:t>
            </a:r>
          </a:p>
          <a:p>
            <a:pPr marL="45720" indent="0">
              <a:buNone/>
            </a:pPr>
            <a:r>
              <a:rPr lang="en-US" dirty="0"/>
              <a:t>  background-color: tomato;</a:t>
            </a:r>
          </a:p>
          <a:p>
            <a:pPr marL="45720" indent="0">
              <a:buNone/>
            </a:pPr>
            <a:r>
              <a:rPr lang="en-US" dirty="0"/>
              <a:t>  color: white;</a:t>
            </a:r>
          </a:p>
          <a:p>
            <a:pPr marL="45720" indent="0">
              <a:buNone/>
            </a:pPr>
            <a:r>
              <a:rPr lang="en-US" dirty="0"/>
              <a:t>  border: 2px solid black;</a:t>
            </a:r>
          </a:p>
          <a:p>
            <a:pPr marL="45720" indent="0">
              <a:buNone/>
            </a:pPr>
            <a:r>
              <a:rPr lang="en-US" dirty="0"/>
              <a:t>  margin: 20px;</a:t>
            </a:r>
          </a:p>
          <a:p>
            <a:pPr marL="45720" indent="0">
              <a:buNone/>
            </a:pPr>
            <a:r>
              <a:rPr lang="en-US" dirty="0"/>
              <a:t>  padding: 20px;</a:t>
            </a:r>
          </a:p>
          <a:p>
            <a:pPr marL="45720" indent="0">
              <a:buNone/>
            </a:pPr>
            <a:r>
              <a:rPr lang="en-US" dirty="0"/>
              <a:t>}</a:t>
            </a:r>
          </a:p>
          <a:p>
            <a:pPr marL="45720" indent="0">
              <a:buNone/>
            </a:pPr>
            <a:r>
              <a:rPr lang="en-US" dirty="0"/>
              <a:t>&lt;/style&gt;</a:t>
            </a:r>
          </a:p>
          <a:p>
            <a:pPr marL="45720" indent="0">
              <a:buNone/>
            </a:pPr>
            <a:r>
              <a:rPr lang="en-US" dirty="0"/>
              <a:t>&lt;/head&gt;</a:t>
            </a:r>
          </a:p>
          <a:p>
            <a:pPr marL="45720" indent="0">
              <a:buNone/>
            </a:pPr>
            <a:r>
              <a:rPr lang="en-US" dirty="0"/>
              <a:t>&lt;body&gt;</a:t>
            </a:r>
          </a:p>
          <a:p>
            <a:pPr marL="45720" indent="0">
              <a:buNone/>
            </a:pPr>
            <a:endParaRPr lang="en-US" dirty="0"/>
          </a:p>
          <a:p>
            <a:pPr marL="45720" indent="0">
              <a:buNone/>
            </a:pPr>
            <a:r>
              <a:rPr lang="en-US" dirty="0"/>
              <a:t>&lt;div class="city"&gt;</a:t>
            </a:r>
          </a:p>
          <a:p>
            <a:pPr marL="45720" indent="0">
              <a:buNone/>
            </a:pPr>
            <a:r>
              <a:rPr lang="en-US" dirty="0"/>
              <a:t>  &lt;h2&gt;London&lt;/h2&gt;</a:t>
            </a:r>
          </a:p>
          <a:p>
            <a:pPr marL="45720" indent="0">
              <a:buNone/>
            </a:pPr>
            <a:r>
              <a:rPr lang="en-US" dirty="0"/>
              <a:t>  &lt;p&gt;London is the capital of England.&lt;/p&gt;</a:t>
            </a:r>
          </a:p>
          <a:p>
            <a:pPr marL="45720" indent="0">
              <a:buNone/>
            </a:pPr>
            <a:r>
              <a:rPr lang="en-US" dirty="0"/>
              <a:t>&lt;/div&gt;</a:t>
            </a:r>
          </a:p>
          <a:p>
            <a:endParaRPr lang="en-US" dirty="0"/>
          </a:p>
        </p:txBody>
      </p:sp>
    </p:spTree>
    <p:extLst>
      <p:ext uri="{BB962C8B-B14F-4D97-AF65-F5344CB8AC3E}">
        <p14:creationId xmlns:p14="http://schemas.microsoft.com/office/powerpoint/2010/main" val="9366378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533401"/>
            <a:ext cx="7315200" cy="5775960"/>
          </a:xfrm>
        </p:spPr>
        <p:txBody>
          <a:bodyPr>
            <a:normAutofit/>
          </a:bodyPr>
          <a:lstStyle/>
          <a:p>
            <a:pPr marL="45720" indent="0">
              <a:buNone/>
            </a:pPr>
            <a:r>
              <a:rPr lang="en-US" dirty="0"/>
              <a:t>&lt;div class="city"&gt;</a:t>
            </a:r>
          </a:p>
          <a:p>
            <a:pPr marL="45720" indent="0">
              <a:buNone/>
            </a:pPr>
            <a:r>
              <a:rPr lang="en-US" dirty="0"/>
              <a:t>  &lt;h2&gt;Paris&lt;/h2&gt;</a:t>
            </a:r>
          </a:p>
          <a:p>
            <a:pPr marL="45720" indent="0">
              <a:buNone/>
            </a:pPr>
            <a:r>
              <a:rPr lang="en-US" dirty="0"/>
              <a:t>  &lt;p&gt;Paris is the capital of France.&lt;/p&gt;</a:t>
            </a:r>
          </a:p>
          <a:p>
            <a:pPr marL="45720" indent="0">
              <a:buNone/>
            </a:pPr>
            <a:r>
              <a:rPr lang="en-US" dirty="0"/>
              <a:t>&lt;/div&gt;</a:t>
            </a:r>
          </a:p>
          <a:p>
            <a:pPr marL="45720" indent="0">
              <a:buNone/>
            </a:pPr>
            <a:endParaRPr lang="en-US" dirty="0"/>
          </a:p>
          <a:p>
            <a:pPr marL="45720" indent="0">
              <a:buNone/>
            </a:pPr>
            <a:r>
              <a:rPr lang="en-US" dirty="0"/>
              <a:t>&lt;div class="city"&gt;</a:t>
            </a:r>
          </a:p>
          <a:p>
            <a:pPr marL="45720" indent="0">
              <a:buNone/>
            </a:pPr>
            <a:r>
              <a:rPr lang="en-US" dirty="0"/>
              <a:t>  &lt;h2&gt;Tokyo&lt;/h2&gt;</a:t>
            </a:r>
          </a:p>
          <a:p>
            <a:pPr marL="45720" indent="0">
              <a:buNone/>
            </a:pPr>
            <a:r>
              <a:rPr lang="en-US" dirty="0"/>
              <a:t>  &lt;p&gt;Tokyo is the capital of Japan.&lt;/p&gt;</a:t>
            </a:r>
          </a:p>
          <a:p>
            <a:pPr marL="45720" indent="0">
              <a:buNone/>
            </a:pPr>
            <a:r>
              <a:rPr lang="en-US" dirty="0"/>
              <a:t>&lt;/div&gt;</a:t>
            </a:r>
          </a:p>
          <a:p>
            <a:pPr marL="45720" indent="0">
              <a:buNone/>
            </a:pPr>
            <a:endParaRPr lang="en-US" dirty="0"/>
          </a:p>
          <a:p>
            <a:pPr marL="45720" indent="0">
              <a:buNone/>
            </a:pPr>
            <a:r>
              <a:rPr lang="en-US" dirty="0"/>
              <a:t>&lt;/body&gt;</a:t>
            </a:r>
          </a:p>
          <a:p>
            <a:pPr marL="45720" indent="0">
              <a:buNone/>
            </a:pPr>
            <a:r>
              <a:rPr lang="en-US" dirty="0"/>
              <a:t>&lt;/html&gt; </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733800"/>
            <a:ext cx="6372225"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965463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Tip: The class attribute can be used on any HTML element.</a:t>
            </a:r>
          </a:p>
          <a:p>
            <a:endParaRPr lang="en-US" dirty="0"/>
          </a:p>
          <a:p>
            <a:r>
              <a:rPr lang="en-US" dirty="0"/>
              <a:t>Note: The class name is case sensitive!</a:t>
            </a:r>
          </a:p>
        </p:txBody>
      </p:sp>
    </p:spTree>
    <p:extLst>
      <p:ext uri="{BB962C8B-B14F-4D97-AF65-F5344CB8AC3E}">
        <p14:creationId xmlns:p14="http://schemas.microsoft.com/office/powerpoint/2010/main" val="26515090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id </a:t>
            </a:r>
            <a:r>
              <a:rPr lang="en-US" b="1" dirty="0" smtClean="0"/>
              <a:t>Attribute</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HTML id attribute is used to specify a unique id for an HTML element</a:t>
            </a:r>
            <a:r>
              <a:rPr lang="en-US" dirty="0" smtClean="0"/>
              <a:t>.</a:t>
            </a:r>
            <a:endParaRPr lang="en-US" dirty="0"/>
          </a:p>
          <a:p>
            <a:r>
              <a:rPr lang="en-US" dirty="0"/>
              <a:t>You cannot have more than one element with the same id in an HTML document</a:t>
            </a:r>
            <a:r>
              <a:rPr lang="en-US" dirty="0" smtClean="0"/>
              <a:t>.</a:t>
            </a:r>
          </a:p>
          <a:p>
            <a:r>
              <a:rPr lang="en-US" dirty="0"/>
              <a:t>Using The id Attribute</a:t>
            </a:r>
          </a:p>
          <a:p>
            <a:endParaRPr lang="en-US" dirty="0"/>
          </a:p>
          <a:p>
            <a:r>
              <a:rPr lang="en-US" dirty="0"/>
              <a:t>The id attribute specifies a unique id for an HTML element. The value of the id attribute must be unique within the HTML document.</a:t>
            </a:r>
          </a:p>
          <a:p>
            <a:endParaRPr lang="en-US" dirty="0"/>
          </a:p>
          <a:p>
            <a:r>
              <a:rPr lang="en-US" dirty="0"/>
              <a:t>The id attribute is used to point to a specific style declaration in a style sheet. It is also used by JavaScript to access and manipulate the element with the specific id.</a:t>
            </a:r>
          </a:p>
          <a:p>
            <a:endParaRPr lang="en-US" dirty="0"/>
          </a:p>
        </p:txBody>
      </p:sp>
    </p:spTree>
    <p:extLst>
      <p:ext uri="{BB962C8B-B14F-4D97-AF65-F5344CB8AC3E}">
        <p14:creationId xmlns:p14="http://schemas.microsoft.com/office/powerpoint/2010/main" val="12496747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syntax for id is: write a hash character (#), followed by an id name. Then, define the CSS properties within curly braces {}.</a:t>
            </a:r>
          </a:p>
          <a:p>
            <a:endParaRPr lang="en-US" dirty="0"/>
          </a:p>
          <a:p>
            <a:r>
              <a:rPr lang="en-US" dirty="0"/>
              <a:t>In the following example we have an &lt;h1&gt; element that points to the id name "</a:t>
            </a:r>
            <a:r>
              <a:rPr lang="en-US" dirty="0" err="1"/>
              <a:t>myHeader</a:t>
            </a:r>
            <a:r>
              <a:rPr lang="en-US" dirty="0"/>
              <a:t>". This &lt;h1&gt; element will be styled according to the #</a:t>
            </a:r>
            <a:r>
              <a:rPr lang="en-US" dirty="0" err="1"/>
              <a:t>myHeader</a:t>
            </a:r>
            <a:r>
              <a:rPr lang="en-US" dirty="0"/>
              <a:t> style definition in the head section</a:t>
            </a:r>
          </a:p>
          <a:p>
            <a:endParaRPr lang="en-US" dirty="0"/>
          </a:p>
        </p:txBody>
      </p:sp>
    </p:spTree>
    <p:extLst>
      <p:ext uri="{BB962C8B-B14F-4D97-AF65-F5344CB8AC3E}">
        <p14:creationId xmlns:p14="http://schemas.microsoft.com/office/powerpoint/2010/main" val="18065601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533401"/>
            <a:ext cx="7315200" cy="5775960"/>
          </a:xfrm>
        </p:spPr>
        <p:txBody>
          <a:bodyPr>
            <a:normAutofit fontScale="85000" lnSpcReduction="20000"/>
          </a:bodyPr>
          <a:lstStyle/>
          <a:p>
            <a:pPr marL="45720" indent="0">
              <a:buNone/>
            </a:pPr>
            <a:r>
              <a:rPr lang="en-US" dirty="0"/>
              <a:t>&lt;!DOCTYPE html&gt;</a:t>
            </a:r>
          </a:p>
          <a:p>
            <a:pPr marL="45720" indent="0">
              <a:buNone/>
            </a:pPr>
            <a:r>
              <a:rPr lang="en-US" dirty="0"/>
              <a:t>&lt;html&gt;</a:t>
            </a:r>
          </a:p>
          <a:p>
            <a:pPr marL="45720" indent="0">
              <a:buNone/>
            </a:pPr>
            <a:r>
              <a:rPr lang="en-US" dirty="0"/>
              <a:t>&lt;head&gt;</a:t>
            </a:r>
          </a:p>
          <a:p>
            <a:pPr marL="45720" indent="0">
              <a:buNone/>
            </a:pPr>
            <a:r>
              <a:rPr lang="en-US" dirty="0"/>
              <a:t>&lt;style&gt;</a:t>
            </a:r>
          </a:p>
          <a:p>
            <a:pPr marL="45720" indent="0">
              <a:buNone/>
            </a:pPr>
            <a:r>
              <a:rPr lang="en-US" dirty="0"/>
              <a:t>#</a:t>
            </a:r>
            <a:r>
              <a:rPr lang="en-US" dirty="0" err="1"/>
              <a:t>myHeader</a:t>
            </a:r>
            <a:r>
              <a:rPr lang="en-US" dirty="0"/>
              <a:t> {</a:t>
            </a:r>
          </a:p>
          <a:p>
            <a:pPr marL="45720" indent="0">
              <a:buNone/>
            </a:pPr>
            <a:r>
              <a:rPr lang="en-US" dirty="0"/>
              <a:t>  background-color: </a:t>
            </a:r>
            <a:r>
              <a:rPr lang="en-US" dirty="0" err="1"/>
              <a:t>lightblue</a:t>
            </a:r>
            <a:r>
              <a:rPr lang="en-US" dirty="0"/>
              <a:t>;</a:t>
            </a:r>
          </a:p>
          <a:p>
            <a:pPr marL="45720" indent="0">
              <a:buNone/>
            </a:pPr>
            <a:r>
              <a:rPr lang="en-US" dirty="0"/>
              <a:t>  color: black;</a:t>
            </a:r>
          </a:p>
          <a:p>
            <a:pPr marL="45720" indent="0">
              <a:buNone/>
            </a:pPr>
            <a:r>
              <a:rPr lang="en-US" dirty="0"/>
              <a:t>  padding: 40px;</a:t>
            </a:r>
          </a:p>
          <a:p>
            <a:pPr marL="45720" indent="0">
              <a:buNone/>
            </a:pPr>
            <a:r>
              <a:rPr lang="en-US" dirty="0"/>
              <a:t>  text-align: center;</a:t>
            </a:r>
          </a:p>
          <a:p>
            <a:pPr marL="45720" indent="0">
              <a:buNone/>
            </a:pPr>
            <a:r>
              <a:rPr lang="en-US" dirty="0"/>
              <a:t>} </a:t>
            </a:r>
          </a:p>
          <a:p>
            <a:pPr marL="45720" indent="0">
              <a:buNone/>
            </a:pPr>
            <a:r>
              <a:rPr lang="en-US" dirty="0"/>
              <a:t>&lt;/style&gt;</a:t>
            </a:r>
          </a:p>
          <a:p>
            <a:pPr marL="45720" indent="0">
              <a:buNone/>
            </a:pPr>
            <a:r>
              <a:rPr lang="en-US" dirty="0"/>
              <a:t>&lt;/head&gt;</a:t>
            </a:r>
          </a:p>
          <a:p>
            <a:pPr marL="45720" indent="0">
              <a:buNone/>
            </a:pPr>
            <a:r>
              <a:rPr lang="en-US" dirty="0"/>
              <a:t>&lt;body&gt;</a:t>
            </a:r>
          </a:p>
          <a:p>
            <a:pPr marL="45720" indent="0">
              <a:buNone/>
            </a:pPr>
            <a:endParaRPr lang="en-US" dirty="0"/>
          </a:p>
          <a:p>
            <a:pPr marL="45720" indent="0">
              <a:buNone/>
            </a:pPr>
            <a:r>
              <a:rPr lang="en-US" dirty="0"/>
              <a:t>&lt;h2&gt;The id Attribute&lt;/h2&gt;</a:t>
            </a:r>
          </a:p>
          <a:p>
            <a:pPr marL="45720" indent="0">
              <a:buNone/>
            </a:pPr>
            <a:r>
              <a:rPr lang="en-US" dirty="0"/>
              <a:t>&lt;p&gt;Use CSS to style an element with the id "</a:t>
            </a:r>
            <a:r>
              <a:rPr lang="en-US" dirty="0" err="1"/>
              <a:t>myHeader</a:t>
            </a:r>
            <a:r>
              <a:rPr lang="en-US" dirty="0"/>
              <a:t>":&lt;/p&gt;</a:t>
            </a:r>
          </a:p>
          <a:p>
            <a:pPr marL="45720" indent="0">
              <a:buNone/>
            </a:pPr>
            <a:endParaRPr lang="en-US" dirty="0"/>
          </a:p>
          <a:p>
            <a:pPr marL="45720" indent="0">
              <a:buNone/>
            </a:pPr>
            <a:r>
              <a:rPr lang="en-US" dirty="0"/>
              <a:t>&lt;h1 id="</a:t>
            </a:r>
            <a:r>
              <a:rPr lang="en-US" dirty="0" err="1"/>
              <a:t>myHeader</a:t>
            </a:r>
            <a:r>
              <a:rPr lang="en-US" dirty="0"/>
              <a:t>"&gt;My Header&lt;/h1&gt;</a:t>
            </a:r>
          </a:p>
          <a:p>
            <a:pPr marL="45720" indent="0">
              <a:buNone/>
            </a:pPr>
            <a:endParaRPr lang="en-US" dirty="0"/>
          </a:p>
          <a:p>
            <a:pPr marL="45720" indent="0">
              <a:buNone/>
            </a:pPr>
            <a:r>
              <a:rPr lang="en-US" dirty="0"/>
              <a:t>&lt;/body&gt;</a:t>
            </a:r>
          </a:p>
          <a:p>
            <a:pPr marL="45720" indent="0">
              <a:buNone/>
            </a:pPr>
            <a:r>
              <a:rPr lang="en-US" dirty="0"/>
              <a:t>&lt;/html</a:t>
            </a:r>
            <a:r>
              <a:rPr lang="en-US" dirty="0" smtClean="0"/>
              <a:t>&gt;</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399" y="2057400"/>
            <a:ext cx="4980709" cy="21603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55699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45720" indent="0">
              <a:buNone/>
            </a:pPr>
            <a:endParaRPr lang="en-US" dirty="0"/>
          </a:p>
          <a:p>
            <a:r>
              <a:rPr lang="en-US" dirty="0"/>
              <a:t>Note: The id name is case sensitive!</a:t>
            </a:r>
          </a:p>
          <a:p>
            <a:endParaRPr lang="en-US" dirty="0"/>
          </a:p>
          <a:p>
            <a:r>
              <a:rPr lang="en-US" dirty="0"/>
              <a:t>Note: The id name must contain at least one character, cannot start with a number, and must not contain whitespaces (spaces, tabs, etc.).</a:t>
            </a:r>
          </a:p>
          <a:p>
            <a:endParaRPr lang="en-US" dirty="0"/>
          </a:p>
        </p:txBody>
      </p:sp>
    </p:spTree>
    <p:extLst>
      <p:ext uri="{BB962C8B-B14F-4D97-AF65-F5344CB8AC3E}">
        <p14:creationId xmlns:p14="http://schemas.microsoft.com/office/powerpoint/2010/main" val="30906510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315200" cy="1154097"/>
          </a:xfrm>
        </p:spPr>
        <p:txBody>
          <a:bodyPr>
            <a:normAutofit fontScale="90000"/>
          </a:bodyPr>
          <a:lstStyle/>
          <a:p>
            <a:r>
              <a:rPr lang="en-US" b="1" dirty="0"/>
              <a:t>HTML Responsive Web </a:t>
            </a:r>
            <a:r>
              <a:rPr lang="en-US" b="1" dirty="0" smtClean="0"/>
              <a:t>Design</a:t>
            </a:r>
            <a:endParaRPr lang="en-US" dirty="0"/>
          </a:p>
        </p:txBody>
      </p:sp>
      <p:sp>
        <p:nvSpPr>
          <p:cNvPr id="3" name="Content Placeholder 2"/>
          <p:cNvSpPr>
            <a:spLocks noGrp="1"/>
          </p:cNvSpPr>
          <p:nvPr>
            <p:ph idx="1"/>
          </p:nvPr>
        </p:nvSpPr>
        <p:spPr>
          <a:xfrm>
            <a:off x="914400" y="1143001"/>
            <a:ext cx="7315200" cy="5166360"/>
          </a:xfrm>
        </p:spPr>
        <p:txBody>
          <a:bodyPr/>
          <a:lstStyle/>
          <a:p>
            <a:r>
              <a:rPr lang="en-US" dirty="0"/>
              <a:t>Responsive web design is about creating web pages that look good on all devices! </a:t>
            </a:r>
          </a:p>
          <a:p>
            <a:r>
              <a:rPr lang="en-US" dirty="0"/>
              <a:t>A responsive web design will automatically adjust for different screen sizes and viewports.</a:t>
            </a:r>
          </a:p>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590800"/>
            <a:ext cx="7467600" cy="403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782241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Setting The </a:t>
            </a:r>
            <a:r>
              <a:rPr lang="en-US" b="1" dirty="0" smtClean="0"/>
              <a:t>Viewport</a:t>
            </a:r>
            <a:endParaRPr lang="en-US" dirty="0"/>
          </a:p>
        </p:txBody>
      </p:sp>
      <p:sp>
        <p:nvSpPr>
          <p:cNvPr id="3" name="Content Placeholder 2"/>
          <p:cNvSpPr>
            <a:spLocks noGrp="1"/>
          </p:cNvSpPr>
          <p:nvPr>
            <p:ph idx="1"/>
          </p:nvPr>
        </p:nvSpPr>
        <p:spPr/>
        <p:txBody>
          <a:bodyPr/>
          <a:lstStyle/>
          <a:p>
            <a:r>
              <a:rPr lang="en-US" dirty="0"/>
              <a:t>To create a responsive website, add the following &lt;meta&gt; tag to all your web pages:</a:t>
            </a:r>
          </a:p>
          <a:p>
            <a:r>
              <a:rPr lang="en-US" dirty="0"/>
              <a:t>Example</a:t>
            </a:r>
          </a:p>
          <a:p>
            <a:r>
              <a:rPr lang="en-US" dirty="0"/>
              <a:t>&lt;meta name="viewport" content="width=device-width, initial-scale=1.0"&gt; </a:t>
            </a:r>
          </a:p>
        </p:txBody>
      </p:sp>
    </p:spTree>
    <p:extLst>
      <p:ext uri="{BB962C8B-B14F-4D97-AF65-F5344CB8AC3E}">
        <p14:creationId xmlns:p14="http://schemas.microsoft.com/office/powerpoint/2010/main" val="9989413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685801"/>
            <a:ext cx="7315200" cy="5623560"/>
          </a:xfrm>
        </p:spPr>
        <p:txBody>
          <a:bodyPr/>
          <a:lstStyle/>
          <a:p>
            <a:r>
              <a:rPr lang="en-US" dirty="0"/>
              <a:t>This will set the viewport of your page, which will give the browser instructions on how to control the page's dimensions and scaling.</a:t>
            </a:r>
          </a:p>
          <a:p>
            <a:r>
              <a:rPr lang="en-US" dirty="0"/>
              <a:t>Here is an example of a web page </a:t>
            </a:r>
            <a:r>
              <a:rPr lang="en-US" i="1" dirty="0"/>
              <a:t>without</a:t>
            </a:r>
            <a:r>
              <a:rPr lang="en-US" dirty="0"/>
              <a:t> the viewport meta tag, and the same web page </a:t>
            </a:r>
            <a:r>
              <a:rPr lang="en-US" i="1" dirty="0"/>
              <a:t>with</a:t>
            </a:r>
            <a:r>
              <a:rPr lang="en-US" dirty="0"/>
              <a:t> the viewport meta tag:</a:t>
            </a:r>
          </a:p>
          <a:p>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427174"/>
            <a:ext cx="6567487" cy="43546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148669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Responsive </a:t>
            </a:r>
            <a:r>
              <a:rPr lang="en-US" b="1" dirty="0" smtClean="0"/>
              <a:t>Images</a:t>
            </a:r>
            <a:endParaRPr lang="en-US" dirty="0"/>
          </a:p>
        </p:txBody>
      </p:sp>
      <p:sp>
        <p:nvSpPr>
          <p:cNvPr id="3" name="Content Placeholder 2"/>
          <p:cNvSpPr>
            <a:spLocks noGrp="1"/>
          </p:cNvSpPr>
          <p:nvPr>
            <p:ph idx="1"/>
          </p:nvPr>
        </p:nvSpPr>
        <p:spPr/>
        <p:txBody>
          <a:bodyPr/>
          <a:lstStyle/>
          <a:p>
            <a:r>
              <a:rPr lang="en-US" dirty="0"/>
              <a:t>Responsive images are images that scale nicely to fit any browser size.</a:t>
            </a:r>
          </a:p>
          <a:p>
            <a:r>
              <a:rPr lang="en-US" dirty="0"/>
              <a:t>Using the width Property</a:t>
            </a:r>
          </a:p>
          <a:p>
            <a:endParaRPr lang="en-US" dirty="0"/>
          </a:p>
          <a:p>
            <a:r>
              <a:rPr lang="en-US" dirty="0"/>
              <a:t>If the CSS width property is set to 100%, the image will be responsive and scale up and down</a:t>
            </a:r>
          </a:p>
        </p:txBody>
      </p:sp>
    </p:spTree>
    <p:extLst>
      <p:ext uri="{BB962C8B-B14F-4D97-AF65-F5344CB8AC3E}">
        <p14:creationId xmlns:p14="http://schemas.microsoft.com/office/powerpoint/2010/main" val="13626009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609601"/>
            <a:ext cx="7315200" cy="5699760"/>
          </a:xfrm>
        </p:spPr>
        <p:txBody>
          <a:bodyPr>
            <a:normAutofit fontScale="92500" lnSpcReduction="10000"/>
          </a:bodyPr>
          <a:lstStyle/>
          <a:p>
            <a:pPr marL="45720" indent="0">
              <a:buNone/>
            </a:pPr>
            <a:r>
              <a:rPr lang="en-US" dirty="0"/>
              <a:t>&lt;!DOCTYPE html&gt;</a:t>
            </a:r>
          </a:p>
          <a:p>
            <a:pPr marL="45720" indent="0">
              <a:buNone/>
            </a:pPr>
            <a:r>
              <a:rPr lang="en-US" dirty="0"/>
              <a:t>&lt;html&gt;</a:t>
            </a:r>
          </a:p>
          <a:p>
            <a:pPr marL="45720" indent="0">
              <a:buNone/>
            </a:pPr>
            <a:r>
              <a:rPr lang="en-US" dirty="0"/>
              <a:t>&lt;head&gt;</a:t>
            </a:r>
          </a:p>
          <a:p>
            <a:pPr marL="45720" indent="0">
              <a:buNone/>
            </a:pPr>
            <a:r>
              <a:rPr lang="en-US" dirty="0"/>
              <a:t>&lt;meta name="viewport" content="width=device-width, initial-scale=1.0"&gt;</a:t>
            </a:r>
          </a:p>
          <a:p>
            <a:pPr marL="45720" indent="0">
              <a:buNone/>
            </a:pPr>
            <a:r>
              <a:rPr lang="en-US" dirty="0"/>
              <a:t>&lt;/head&gt;</a:t>
            </a:r>
          </a:p>
          <a:p>
            <a:pPr marL="45720" indent="0">
              <a:buNone/>
            </a:pPr>
            <a:r>
              <a:rPr lang="en-US" dirty="0"/>
              <a:t>&lt;body&gt;</a:t>
            </a:r>
          </a:p>
          <a:p>
            <a:endParaRPr lang="en-US" dirty="0"/>
          </a:p>
          <a:p>
            <a:pPr marL="45720" indent="0">
              <a:buNone/>
            </a:pPr>
            <a:r>
              <a:rPr lang="en-US" dirty="0"/>
              <a:t>&lt;h2&gt;Responsive Image&lt;/h2&gt;</a:t>
            </a:r>
          </a:p>
          <a:p>
            <a:pPr marL="45720" indent="0">
              <a:buNone/>
            </a:pPr>
            <a:r>
              <a:rPr lang="en-US" dirty="0"/>
              <a:t>&lt;p&gt;When the CSS width property is set in a percentage value, the image will scale up and down when resizing the browser window. Resize the browser window to see the effect.&lt;/p&gt;</a:t>
            </a:r>
          </a:p>
          <a:p>
            <a:endParaRPr lang="en-US" dirty="0"/>
          </a:p>
          <a:p>
            <a:pPr marL="45720" indent="0">
              <a:buNone/>
            </a:pPr>
            <a:r>
              <a:rPr lang="en-US" dirty="0"/>
              <a:t>&lt;</a:t>
            </a:r>
            <a:r>
              <a:rPr lang="en-US" dirty="0" err="1"/>
              <a:t>img</a:t>
            </a:r>
            <a:r>
              <a:rPr lang="en-US" dirty="0"/>
              <a:t> </a:t>
            </a:r>
            <a:r>
              <a:rPr lang="en-US" dirty="0" err="1"/>
              <a:t>src</a:t>
            </a:r>
            <a:r>
              <a:rPr lang="en-US" dirty="0"/>
              <a:t>="img_girl.jpg" style="width:100%;"&gt;</a:t>
            </a:r>
          </a:p>
          <a:p>
            <a:endParaRPr lang="en-US" dirty="0"/>
          </a:p>
          <a:p>
            <a:pPr marL="45720" indent="0">
              <a:buNone/>
            </a:pPr>
            <a:r>
              <a:rPr lang="en-US" dirty="0"/>
              <a:t>&lt;/body&gt;</a:t>
            </a:r>
          </a:p>
          <a:p>
            <a:pPr marL="45720" indent="0">
              <a:buNone/>
            </a:pPr>
            <a:r>
              <a:rPr lang="en-US" dirty="0"/>
              <a:t>&lt;/html&gt;</a:t>
            </a:r>
          </a:p>
          <a:p>
            <a:endParaRPr lang="en-US" dirty="0"/>
          </a:p>
        </p:txBody>
      </p:sp>
    </p:spTree>
    <p:extLst>
      <p:ext uri="{BB962C8B-B14F-4D97-AF65-F5344CB8AC3E}">
        <p14:creationId xmlns:p14="http://schemas.microsoft.com/office/powerpoint/2010/main" val="14585937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In </a:t>
            </a:r>
            <a:r>
              <a:rPr lang="en-US" dirty="0"/>
              <a:t>the example above, the image can be scaled up to be larger than its original size. A better solution, in many cases, will be to use the max-width property instead.</a:t>
            </a:r>
          </a:p>
          <a:p>
            <a:r>
              <a:rPr lang="en-US" b="1" dirty="0"/>
              <a:t>Using the max-width </a:t>
            </a:r>
            <a:r>
              <a:rPr lang="en-US" b="1" dirty="0" smtClean="0"/>
              <a:t>Property</a:t>
            </a:r>
            <a:endParaRPr lang="en-US" b="1" dirty="0"/>
          </a:p>
          <a:p>
            <a:r>
              <a:rPr lang="en-US" dirty="0"/>
              <a:t>If the max-width property is set to 100%, the image will scale down if it has to, but never scale up to be larger than its original </a:t>
            </a:r>
            <a:r>
              <a:rPr lang="en-US" dirty="0" smtClean="0"/>
              <a:t>size</a:t>
            </a:r>
          </a:p>
          <a:p>
            <a:r>
              <a:rPr lang="en-US" dirty="0"/>
              <a:t> &lt;</a:t>
            </a:r>
            <a:r>
              <a:rPr lang="en-US" dirty="0" err="1"/>
              <a:t>img</a:t>
            </a:r>
            <a:r>
              <a:rPr lang="en-US" dirty="0"/>
              <a:t> </a:t>
            </a:r>
            <a:r>
              <a:rPr lang="en-US" dirty="0" err="1"/>
              <a:t>src</a:t>
            </a:r>
            <a:r>
              <a:rPr lang="en-US" dirty="0"/>
              <a:t>="img_girl.jpg" style="max-width:100%;</a:t>
            </a:r>
            <a:r>
              <a:rPr lang="en-US" dirty="0" err="1"/>
              <a:t>height:auto</a:t>
            </a:r>
            <a:r>
              <a:rPr lang="en-US" dirty="0"/>
              <a:t>;"&gt; </a:t>
            </a:r>
          </a:p>
        </p:txBody>
      </p:sp>
    </p:spTree>
    <p:extLst>
      <p:ext uri="{BB962C8B-B14F-4D97-AF65-F5344CB8AC3E}">
        <p14:creationId xmlns:p14="http://schemas.microsoft.com/office/powerpoint/2010/main" val="41361118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Show Different Images Depending on Browser Width</a:t>
            </a:r>
          </a:p>
        </p:txBody>
      </p:sp>
      <p:sp>
        <p:nvSpPr>
          <p:cNvPr id="3" name="Content Placeholder 2"/>
          <p:cNvSpPr>
            <a:spLocks noGrp="1"/>
          </p:cNvSpPr>
          <p:nvPr>
            <p:ph idx="1"/>
          </p:nvPr>
        </p:nvSpPr>
        <p:spPr/>
        <p:txBody>
          <a:bodyPr/>
          <a:lstStyle/>
          <a:p>
            <a:r>
              <a:rPr lang="en-US" dirty="0"/>
              <a:t>The HTML &lt;picture&gt; element allows you to define different images for different browser window sizes</a:t>
            </a:r>
            <a:r>
              <a:rPr lang="en-US" dirty="0" smtClean="0"/>
              <a:t>.</a:t>
            </a:r>
            <a:endParaRPr lang="en-US" dirty="0"/>
          </a:p>
          <a:p>
            <a:r>
              <a:rPr lang="en-US" dirty="0"/>
              <a:t>Resize the browser window to see how the image below changes depending </a:t>
            </a:r>
            <a:r>
              <a:rPr lang="en-US" dirty="0" smtClean="0"/>
              <a:t>on </a:t>
            </a:r>
            <a:r>
              <a:rPr lang="en-US" dirty="0"/>
              <a:t>the width</a:t>
            </a:r>
          </a:p>
        </p:txBody>
      </p:sp>
    </p:spTree>
    <p:extLst>
      <p:ext uri="{BB962C8B-B14F-4D97-AF65-F5344CB8AC3E}">
        <p14:creationId xmlns:p14="http://schemas.microsoft.com/office/powerpoint/2010/main" val="57839508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533401"/>
            <a:ext cx="7315200" cy="5775960"/>
          </a:xfrm>
        </p:spPr>
        <p:txBody>
          <a:bodyPr>
            <a:normAutofit/>
          </a:bodyPr>
          <a:lstStyle/>
          <a:p>
            <a:pPr marL="45720" indent="0">
              <a:buNone/>
            </a:pPr>
            <a:r>
              <a:rPr lang="en-US" sz="2400" dirty="0"/>
              <a:t>&lt;!DOCTYPE html&gt;</a:t>
            </a:r>
          </a:p>
          <a:p>
            <a:pPr marL="45720" indent="0">
              <a:buNone/>
            </a:pPr>
            <a:r>
              <a:rPr lang="en-US" sz="2400" dirty="0"/>
              <a:t>&lt;html&gt;</a:t>
            </a:r>
          </a:p>
          <a:p>
            <a:pPr marL="45720" indent="0">
              <a:buNone/>
            </a:pPr>
            <a:r>
              <a:rPr lang="en-US" sz="2400" dirty="0"/>
              <a:t>&lt;head&gt;</a:t>
            </a:r>
          </a:p>
          <a:p>
            <a:pPr marL="45720" indent="0">
              <a:buNone/>
            </a:pPr>
            <a:r>
              <a:rPr lang="en-US" sz="2400" dirty="0"/>
              <a:t>&lt;meta name="viewport" content="width=device-width, initial-scale=1.0"&gt;</a:t>
            </a:r>
          </a:p>
          <a:p>
            <a:pPr marL="45720" indent="0">
              <a:buNone/>
            </a:pPr>
            <a:r>
              <a:rPr lang="en-US" sz="2400" dirty="0"/>
              <a:t>&lt;/head&gt;</a:t>
            </a:r>
          </a:p>
          <a:p>
            <a:pPr marL="45720" indent="0">
              <a:buNone/>
            </a:pPr>
            <a:r>
              <a:rPr lang="en-US" sz="2400" dirty="0"/>
              <a:t>&lt;body&gt;</a:t>
            </a:r>
          </a:p>
          <a:p>
            <a:endParaRPr lang="en-US" sz="2400" dirty="0"/>
          </a:p>
          <a:p>
            <a:pPr marL="45720" indent="0">
              <a:buNone/>
            </a:pPr>
            <a:r>
              <a:rPr lang="en-US" sz="2400" dirty="0"/>
              <a:t>&lt;h2&gt;Show Different Images Depending on Browser Width&lt;/h2&gt;</a:t>
            </a:r>
          </a:p>
          <a:p>
            <a:pPr marL="45720" indent="0">
              <a:buNone/>
            </a:pPr>
            <a:r>
              <a:rPr lang="en-US" sz="2400" dirty="0"/>
              <a:t>&lt;p&gt;Resize the browser width and the image will change at 600px and 1500px.&lt;/p&gt;</a:t>
            </a:r>
          </a:p>
          <a:p>
            <a:endParaRPr lang="en-US" sz="2400" dirty="0"/>
          </a:p>
          <a:p>
            <a:endParaRPr lang="en-US" sz="2400" dirty="0"/>
          </a:p>
        </p:txBody>
      </p:sp>
    </p:spTree>
    <p:extLst>
      <p:ext uri="{BB962C8B-B14F-4D97-AF65-F5344CB8AC3E}">
        <p14:creationId xmlns:p14="http://schemas.microsoft.com/office/powerpoint/2010/main" val="17427239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609601"/>
            <a:ext cx="7315200" cy="5699760"/>
          </a:xfrm>
        </p:spPr>
        <p:txBody>
          <a:bodyPr>
            <a:noAutofit/>
          </a:bodyPr>
          <a:lstStyle/>
          <a:p>
            <a:pPr marL="45720" indent="0">
              <a:buNone/>
            </a:pPr>
            <a:r>
              <a:rPr lang="en-US" sz="2800" dirty="0"/>
              <a:t>&lt;picture&gt;</a:t>
            </a:r>
          </a:p>
          <a:p>
            <a:pPr marL="45720" indent="0">
              <a:buNone/>
            </a:pPr>
            <a:r>
              <a:rPr lang="en-US" sz="2800" dirty="0"/>
              <a:t>  &lt;source </a:t>
            </a:r>
            <a:r>
              <a:rPr lang="en-US" sz="2800" dirty="0" err="1"/>
              <a:t>srcset</a:t>
            </a:r>
            <a:r>
              <a:rPr lang="en-US" sz="2800" dirty="0"/>
              <a:t>="img_smallflower.jpg" media="(max-width: 600px)"&gt;</a:t>
            </a:r>
          </a:p>
          <a:p>
            <a:pPr marL="45720" indent="0">
              <a:buNone/>
            </a:pPr>
            <a:r>
              <a:rPr lang="en-US" sz="2800" dirty="0"/>
              <a:t>  &lt;source </a:t>
            </a:r>
            <a:r>
              <a:rPr lang="en-US" sz="2800" dirty="0" err="1"/>
              <a:t>srcset</a:t>
            </a:r>
            <a:r>
              <a:rPr lang="en-US" sz="2800" dirty="0"/>
              <a:t>="img_flowers.jpg" media="(max-width: 1500px)"&gt;</a:t>
            </a:r>
          </a:p>
          <a:p>
            <a:pPr marL="45720" indent="0">
              <a:buNone/>
            </a:pPr>
            <a:r>
              <a:rPr lang="en-US" sz="2800" dirty="0"/>
              <a:t>  &lt;source </a:t>
            </a:r>
            <a:r>
              <a:rPr lang="en-US" sz="2800" dirty="0" err="1"/>
              <a:t>srcset</a:t>
            </a:r>
            <a:r>
              <a:rPr lang="en-US" sz="2800" dirty="0"/>
              <a:t>="flowers.jpg"&gt;</a:t>
            </a:r>
          </a:p>
          <a:p>
            <a:pPr marL="45720" indent="0">
              <a:buNone/>
            </a:pPr>
            <a:r>
              <a:rPr lang="en-US" sz="2800" dirty="0"/>
              <a:t>  &lt;</a:t>
            </a:r>
            <a:r>
              <a:rPr lang="en-US" sz="2800" dirty="0" err="1"/>
              <a:t>img</a:t>
            </a:r>
            <a:r>
              <a:rPr lang="en-US" sz="2800" dirty="0"/>
              <a:t> </a:t>
            </a:r>
            <a:r>
              <a:rPr lang="en-US" sz="2800" dirty="0" err="1"/>
              <a:t>src</a:t>
            </a:r>
            <a:r>
              <a:rPr lang="en-US" sz="2800" dirty="0"/>
              <a:t>="img_flowers.jpg" alt="Flowers" style="</a:t>
            </a:r>
            <a:r>
              <a:rPr lang="en-US" sz="2800" dirty="0" err="1"/>
              <a:t>width:auto</a:t>
            </a:r>
            <a:r>
              <a:rPr lang="en-US" sz="2800" dirty="0"/>
              <a:t>;"&gt;</a:t>
            </a:r>
          </a:p>
          <a:p>
            <a:pPr marL="45720" indent="0">
              <a:buNone/>
            </a:pPr>
            <a:r>
              <a:rPr lang="en-US" sz="2800" dirty="0"/>
              <a:t>&lt;/picture&gt;</a:t>
            </a:r>
          </a:p>
          <a:p>
            <a:endParaRPr lang="en-US" sz="2800" dirty="0"/>
          </a:p>
          <a:p>
            <a:pPr marL="45720" indent="0">
              <a:buNone/>
            </a:pPr>
            <a:r>
              <a:rPr lang="en-US" sz="2800" dirty="0"/>
              <a:t>&lt;/body&gt;</a:t>
            </a:r>
          </a:p>
          <a:p>
            <a:pPr marL="45720" indent="0">
              <a:buNone/>
            </a:pPr>
            <a:r>
              <a:rPr lang="en-US" sz="2800" dirty="0"/>
              <a:t>&lt;/html&gt;</a:t>
            </a:r>
          </a:p>
          <a:p>
            <a:endParaRPr lang="en-US" sz="2800" dirty="0"/>
          </a:p>
        </p:txBody>
      </p:sp>
    </p:spTree>
    <p:extLst>
      <p:ext uri="{BB962C8B-B14F-4D97-AF65-F5344CB8AC3E}">
        <p14:creationId xmlns:p14="http://schemas.microsoft.com/office/powerpoint/2010/main" val="21417778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Responsive Text Size</a:t>
            </a:r>
          </a:p>
        </p:txBody>
      </p:sp>
      <p:sp>
        <p:nvSpPr>
          <p:cNvPr id="3" name="Content Placeholder 2"/>
          <p:cNvSpPr>
            <a:spLocks noGrp="1"/>
          </p:cNvSpPr>
          <p:nvPr>
            <p:ph idx="1"/>
          </p:nvPr>
        </p:nvSpPr>
        <p:spPr/>
        <p:txBody>
          <a:bodyPr/>
          <a:lstStyle/>
          <a:p>
            <a:r>
              <a:rPr lang="en-US" dirty="0"/>
              <a:t>The text size can be set with a "</a:t>
            </a:r>
            <a:r>
              <a:rPr lang="en-US" dirty="0" err="1"/>
              <a:t>vw</a:t>
            </a:r>
            <a:r>
              <a:rPr lang="en-US" dirty="0"/>
              <a:t>" unit, which means the "viewport width</a:t>
            </a:r>
            <a:r>
              <a:rPr lang="en-US" dirty="0" smtClean="0"/>
              <a:t>".</a:t>
            </a:r>
            <a:endParaRPr lang="en-US" dirty="0"/>
          </a:p>
          <a:p>
            <a:r>
              <a:rPr lang="en-US" dirty="0"/>
              <a:t>That way the text size will follow the size of the browser </a:t>
            </a:r>
            <a:r>
              <a:rPr lang="en-US" dirty="0" smtClean="0"/>
              <a:t>window</a:t>
            </a:r>
          </a:p>
          <a:p>
            <a:r>
              <a:rPr lang="en-US" dirty="0"/>
              <a:t>Example</a:t>
            </a:r>
          </a:p>
          <a:p>
            <a:pPr marL="45720" indent="0">
              <a:buNone/>
            </a:pPr>
            <a:r>
              <a:rPr lang="en-US" dirty="0"/>
              <a:t>&lt;h1 style="font-size:10vw"&gt;Hello World&lt;/h1&gt; </a:t>
            </a:r>
            <a:endParaRPr lang="en-US" dirty="0" smtClean="0"/>
          </a:p>
          <a:p>
            <a:r>
              <a:rPr lang="en-US" dirty="0"/>
              <a:t>Viewport is the browser window size. 1vw = 1% of viewport width. If the viewport is 50cm wide, 1vw is 0.5cm.</a:t>
            </a:r>
          </a:p>
        </p:txBody>
      </p:sp>
    </p:spTree>
    <p:extLst>
      <p:ext uri="{BB962C8B-B14F-4D97-AF65-F5344CB8AC3E}">
        <p14:creationId xmlns:p14="http://schemas.microsoft.com/office/powerpoint/2010/main" val="5015063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Media </a:t>
            </a:r>
            <a:r>
              <a:rPr lang="en-US" b="1" dirty="0" smtClean="0"/>
              <a:t>Queries</a:t>
            </a:r>
            <a:endParaRPr lang="en-US" dirty="0"/>
          </a:p>
        </p:txBody>
      </p:sp>
      <p:sp>
        <p:nvSpPr>
          <p:cNvPr id="3" name="Content Placeholder 2"/>
          <p:cNvSpPr>
            <a:spLocks noGrp="1"/>
          </p:cNvSpPr>
          <p:nvPr>
            <p:ph idx="1"/>
          </p:nvPr>
        </p:nvSpPr>
        <p:spPr/>
        <p:txBody>
          <a:bodyPr/>
          <a:lstStyle/>
          <a:p>
            <a:r>
              <a:rPr lang="en-US" dirty="0"/>
              <a:t>In addition to resize text and images, it is also common to use media queries in responsive web pages.</a:t>
            </a:r>
          </a:p>
          <a:p>
            <a:endParaRPr lang="en-US" dirty="0"/>
          </a:p>
          <a:p>
            <a:r>
              <a:rPr lang="en-US" dirty="0"/>
              <a:t>With media queries you can define completely different styles for different browser sizes.</a:t>
            </a:r>
          </a:p>
          <a:p>
            <a:endParaRPr lang="en-US" dirty="0"/>
          </a:p>
          <a:p>
            <a:r>
              <a:rPr lang="en-US" dirty="0"/>
              <a:t>Example: resize the browser window to see that the three div elements </a:t>
            </a:r>
            <a:r>
              <a:rPr lang="en-US" dirty="0" smtClean="0"/>
              <a:t>will </a:t>
            </a:r>
            <a:r>
              <a:rPr lang="en-US" dirty="0"/>
              <a:t>display horizontally on large screens and stack vertically on small screens</a:t>
            </a:r>
          </a:p>
        </p:txBody>
      </p:sp>
    </p:spTree>
    <p:extLst>
      <p:ext uri="{BB962C8B-B14F-4D97-AF65-F5344CB8AC3E}">
        <p14:creationId xmlns:p14="http://schemas.microsoft.com/office/powerpoint/2010/main" val="41580160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533401"/>
            <a:ext cx="7315200" cy="5775960"/>
          </a:xfrm>
        </p:spPr>
        <p:txBody>
          <a:bodyPr>
            <a:normAutofit fontScale="92500" lnSpcReduction="20000"/>
          </a:bodyPr>
          <a:lstStyle/>
          <a:p>
            <a:pPr marL="45720" indent="0">
              <a:buNone/>
            </a:pPr>
            <a:r>
              <a:rPr lang="en-US" dirty="0" smtClean="0"/>
              <a:t>&lt;</a:t>
            </a:r>
            <a:r>
              <a:rPr lang="en-US" dirty="0"/>
              <a:t>style&gt;</a:t>
            </a:r>
          </a:p>
          <a:p>
            <a:pPr marL="45720" indent="0">
              <a:buNone/>
            </a:pPr>
            <a:r>
              <a:rPr lang="en-US" dirty="0"/>
              <a:t>.left, .right {</a:t>
            </a:r>
          </a:p>
          <a:p>
            <a:pPr marL="45720" indent="0">
              <a:buNone/>
            </a:pPr>
            <a:r>
              <a:rPr lang="en-US" dirty="0"/>
              <a:t>  float: left;</a:t>
            </a:r>
          </a:p>
          <a:p>
            <a:pPr marL="45720" indent="0">
              <a:buNone/>
            </a:pPr>
            <a:r>
              <a:rPr lang="en-US" dirty="0"/>
              <a:t>  width: 20%; /* The width is 20%, by default */</a:t>
            </a:r>
          </a:p>
          <a:p>
            <a:pPr marL="45720" indent="0">
              <a:buNone/>
            </a:pPr>
            <a:r>
              <a:rPr lang="en-US" dirty="0"/>
              <a:t>}</a:t>
            </a:r>
          </a:p>
          <a:p>
            <a:endParaRPr lang="en-US" dirty="0"/>
          </a:p>
          <a:p>
            <a:pPr marL="45720" indent="0">
              <a:buNone/>
            </a:pPr>
            <a:r>
              <a:rPr lang="en-US" dirty="0"/>
              <a:t>.main {</a:t>
            </a:r>
          </a:p>
          <a:p>
            <a:pPr marL="45720" indent="0">
              <a:buNone/>
            </a:pPr>
            <a:r>
              <a:rPr lang="en-US" dirty="0"/>
              <a:t>  float: left;</a:t>
            </a:r>
          </a:p>
          <a:p>
            <a:pPr marL="45720" indent="0">
              <a:buNone/>
            </a:pPr>
            <a:r>
              <a:rPr lang="en-US" dirty="0"/>
              <a:t>  width: 60%; /* The width is 60%, by default */</a:t>
            </a:r>
          </a:p>
          <a:p>
            <a:pPr marL="45720" indent="0">
              <a:buNone/>
            </a:pPr>
            <a:r>
              <a:rPr lang="en-US" dirty="0"/>
              <a:t>}</a:t>
            </a:r>
          </a:p>
          <a:p>
            <a:endParaRPr lang="en-US" dirty="0"/>
          </a:p>
          <a:p>
            <a:pPr marL="45720" indent="0">
              <a:buNone/>
            </a:pPr>
            <a:r>
              <a:rPr lang="en-US" dirty="0"/>
              <a:t>/* Use a media query to add a breakpoint at 800px: */</a:t>
            </a:r>
          </a:p>
          <a:p>
            <a:pPr marL="45720" indent="0">
              <a:buNone/>
            </a:pPr>
            <a:r>
              <a:rPr lang="en-US" dirty="0"/>
              <a:t>@media screen and (max-width: 800px) {</a:t>
            </a:r>
          </a:p>
          <a:p>
            <a:pPr marL="45720" indent="0">
              <a:buNone/>
            </a:pPr>
            <a:r>
              <a:rPr lang="en-US" dirty="0"/>
              <a:t>  .left, .main, .right {</a:t>
            </a:r>
          </a:p>
          <a:p>
            <a:pPr marL="45720" indent="0">
              <a:buNone/>
            </a:pPr>
            <a:r>
              <a:rPr lang="en-US" dirty="0"/>
              <a:t>    width: 100%; /* The width is 100%, when the viewport is 800px </a:t>
            </a:r>
            <a:r>
              <a:rPr lang="en-US" dirty="0" smtClean="0"/>
              <a:t>or </a:t>
            </a:r>
            <a:r>
              <a:rPr lang="en-US" dirty="0"/>
              <a:t>smaller */</a:t>
            </a:r>
          </a:p>
          <a:p>
            <a:pPr marL="45720" indent="0">
              <a:buNone/>
            </a:pPr>
            <a:r>
              <a:rPr lang="en-US" dirty="0"/>
              <a:t>  }</a:t>
            </a:r>
          </a:p>
          <a:p>
            <a:pPr marL="45720" indent="0">
              <a:buNone/>
            </a:pPr>
            <a:r>
              <a:rPr lang="en-US" dirty="0"/>
              <a:t>}</a:t>
            </a:r>
          </a:p>
          <a:p>
            <a:pPr marL="45720" indent="0">
              <a:buNone/>
            </a:pPr>
            <a:r>
              <a:rPr lang="en-US" dirty="0"/>
              <a:t>&lt;/style&gt; </a:t>
            </a:r>
          </a:p>
        </p:txBody>
      </p:sp>
    </p:spTree>
    <p:extLst>
      <p:ext uri="{BB962C8B-B14F-4D97-AF65-F5344CB8AC3E}">
        <p14:creationId xmlns:p14="http://schemas.microsoft.com/office/powerpoint/2010/main" val="32156828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Semantic </a:t>
            </a:r>
            <a:r>
              <a:rPr lang="en-US" b="1" dirty="0" smtClean="0"/>
              <a:t>Elements</a:t>
            </a:r>
            <a:endParaRPr lang="en-US" dirty="0"/>
          </a:p>
        </p:txBody>
      </p:sp>
      <p:sp>
        <p:nvSpPr>
          <p:cNvPr id="3" name="Content Placeholder 2"/>
          <p:cNvSpPr>
            <a:spLocks noGrp="1"/>
          </p:cNvSpPr>
          <p:nvPr>
            <p:ph idx="1"/>
          </p:nvPr>
        </p:nvSpPr>
        <p:spPr/>
        <p:txBody>
          <a:bodyPr/>
          <a:lstStyle/>
          <a:p>
            <a:r>
              <a:rPr lang="en-US" dirty="0"/>
              <a:t>A semantic element clearly describes its meaning to both the browser and the developer.</a:t>
            </a:r>
          </a:p>
          <a:p>
            <a:endParaRPr lang="en-US" dirty="0"/>
          </a:p>
          <a:p>
            <a:r>
              <a:rPr lang="en-US" dirty="0"/>
              <a:t>Examples of non-semantic elements: &lt;div&gt; and &lt;span&gt; - Tells nothing about its content.</a:t>
            </a:r>
          </a:p>
          <a:p>
            <a:endParaRPr lang="en-US" dirty="0"/>
          </a:p>
          <a:p>
            <a:r>
              <a:rPr lang="en-US" dirty="0"/>
              <a:t>Examples of semantic elements: &lt;form&gt;, &lt;table&gt;, and &lt;article&gt; - Clearly defines its content.</a:t>
            </a:r>
          </a:p>
        </p:txBody>
      </p:sp>
    </p:spTree>
    <p:extLst>
      <p:ext uri="{BB962C8B-B14F-4D97-AF65-F5344CB8AC3E}">
        <p14:creationId xmlns:p14="http://schemas.microsoft.com/office/powerpoint/2010/main" val="159576780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Many web sites contain HTML code like: &lt;div id="</a:t>
            </a:r>
            <a:r>
              <a:rPr lang="en-US" dirty="0" err="1"/>
              <a:t>nav</a:t>
            </a:r>
            <a:r>
              <a:rPr lang="en-US" dirty="0"/>
              <a:t>"&gt; &lt;div class="header"&gt; &lt;div id="footer"&gt; to indicate navigation, header, and footer.</a:t>
            </a:r>
          </a:p>
          <a:p>
            <a:endParaRPr lang="en-US" dirty="0"/>
          </a:p>
          <a:p>
            <a:r>
              <a:rPr lang="en-US" dirty="0"/>
              <a:t>In HTML there are some semantic elements that can be used to define different parts of a web page</a:t>
            </a:r>
          </a:p>
        </p:txBody>
      </p:sp>
    </p:spTree>
    <p:extLst>
      <p:ext uri="{BB962C8B-B14F-4D97-AF65-F5344CB8AC3E}">
        <p14:creationId xmlns:p14="http://schemas.microsoft.com/office/powerpoint/2010/main" val="25071542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09800" y="1143000"/>
            <a:ext cx="4114800" cy="48529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590136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457200"/>
            <a:ext cx="7315200" cy="1154097"/>
          </a:xfrm>
        </p:spPr>
        <p:txBody>
          <a:bodyPr>
            <a:normAutofit/>
          </a:bodyPr>
          <a:lstStyle/>
          <a:p>
            <a:r>
              <a:rPr lang="en-US" b="1" dirty="0"/>
              <a:t>Semantic Elements in </a:t>
            </a:r>
            <a:r>
              <a:rPr lang="en-US" b="1" dirty="0" smtClean="0"/>
              <a:t>HTML</a:t>
            </a:r>
            <a:endParaRPr lang="en-US"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1986638"/>
            <a:ext cx="7315200" cy="44903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1575633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875" y="1600200"/>
            <a:ext cx="8096250" cy="3733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95933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Entities</a:t>
            </a:r>
            <a:endParaRPr lang="en-US" dirty="0"/>
          </a:p>
        </p:txBody>
      </p:sp>
      <p:sp>
        <p:nvSpPr>
          <p:cNvPr id="3" name="Content Placeholder 2"/>
          <p:cNvSpPr>
            <a:spLocks noGrp="1"/>
          </p:cNvSpPr>
          <p:nvPr>
            <p:ph idx="1"/>
          </p:nvPr>
        </p:nvSpPr>
        <p:spPr/>
        <p:txBody>
          <a:bodyPr>
            <a:normAutofit lnSpcReduction="10000"/>
          </a:bodyPr>
          <a:lstStyle/>
          <a:p>
            <a:r>
              <a:rPr lang="en-US" dirty="0"/>
              <a:t>Some characters are reserved in HTML.</a:t>
            </a:r>
          </a:p>
          <a:p>
            <a:r>
              <a:rPr lang="en-US" dirty="0"/>
              <a:t>If you use the less than (&lt;) or greater than (&gt;) signs in your text, the browser might mix them with tags.</a:t>
            </a:r>
          </a:p>
          <a:p>
            <a:r>
              <a:rPr lang="en-US" dirty="0"/>
              <a:t>Character entities are used to display reserved characters in HTML.</a:t>
            </a:r>
          </a:p>
          <a:p>
            <a:r>
              <a:rPr lang="en-US" dirty="0"/>
              <a:t>A character entity looks like this:</a:t>
            </a:r>
          </a:p>
          <a:p>
            <a:pPr marL="45720" indent="0">
              <a:buNone/>
            </a:pPr>
            <a:r>
              <a:rPr lang="en-US" dirty="0"/>
              <a:t>&amp;</a:t>
            </a:r>
            <a:r>
              <a:rPr lang="en-US" i="1" dirty="0" err="1"/>
              <a:t>entity_name</a:t>
            </a:r>
            <a:r>
              <a:rPr lang="en-US" dirty="0"/>
              <a:t>; </a:t>
            </a:r>
            <a:endParaRPr lang="en-US" dirty="0" smtClean="0"/>
          </a:p>
          <a:p>
            <a:pPr marL="45720" indent="0">
              <a:buNone/>
            </a:pPr>
            <a:r>
              <a:rPr lang="en-US" dirty="0" smtClean="0"/>
              <a:t>OR</a:t>
            </a:r>
            <a:endParaRPr lang="en-US" dirty="0"/>
          </a:p>
          <a:p>
            <a:pPr marL="45720" indent="0">
              <a:buNone/>
            </a:pPr>
            <a:r>
              <a:rPr lang="en-US" dirty="0"/>
              <a:t>&amp;#</a:t>
            </a:r>
            <a:r>
              <a:rPr lang="en-US" i="1" dirty="0" err="1"/>
              <a:t>entity_number</a:t>
            </a:r>
            <a:r>
              <a:rPr lang="en-US" dirty="0"/>
              <a:t>; </a:t>
            </a:r>
          </a:p>
          <a:p>
            <a:r>
              <a:rPr lang="en-US" dirty="0"/>
              <a:t>To display a less than sign (&lt;) we must write: </a:t>
            </a:r>
            <a:r>
              <a:rPr lang="en-US" b="1" dirty="0"/>
              <a:t>&amp;</a:t>
            </a:r>
            <a:r>
              <a:rPr lang="en-US" b="1" dirty="0" err="1"/>
              <a:t>lt</a:t>
            </a:r>
            <a:r>
              <a:rPr lang="en-US" b="1" dirty="0"/>
              <a:t>;</a:t>
            </a:r>
            <a:r>
              <a:rPr lang="en-US" dirty="0"/>
              <a:t> or </a:t>
            </a:r>
            <a:r>
              <a:rPr lang="en-US" b="1" dirty="0"/>
              <a:t>&amp;#60;</a:t>
            </a:r>
            <a:endParaRPr lang="en-US" dirty="0"/>
          </a:p>
          <a:p>
            <a:endParaRPr lang="en-US" dirty="0"/>
          </a:p>
        </p:txBody>
      </p:sp>
    </p:spTree>
    <p:extLst>
      <p:ext uri="{BB962C8B-B14F-4D97-AF65-F5344CB8AC3E}">
        <p14:creationId xmlns:p14="http://schemas.microsoft.com/office/powerpoint/2010/main" val="7319419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Advantage of using an entity name:</a:t>
            </a:r>
            <a:r>
              <a:rPr lang="en-US" dirty="0"/>
              <a:t> An entity name is easy to remember.</a:t>
            </a:r>
            <a:br>
              <a:rPr lang="en-US" dirty="0"/>
            </a:br>
            <a:endParaRPr lang="en-US" dirty="0" smtClean="0"/>
          </a:p>
          <a:p>
            <a:r>
              <a:rPr lang="en-US" b="1" dirty="0" smtClean="0"/>
              <a:t>Disadvantage </a:t>
            </a:r>
            <a:r>
              <a:rPr lang="en-US" b="1" dirty="0"/>
              <a:t>of using an entity name:</a:t>
            </a:r>
            <a:r>
              <a:rPr lang="en-US" dirty="0"/>
              <a:t> Browsers may not support all entity names, but the support for entity numbers is good.</a:t>
            </a:r>
          </a:p>
        </p:txBody>
      </p:sp>
    </p:spTree>
    <p:extLst>
      <p:ext uri="{BB962C8B-B14F-4D97-AF65-F5344CB8AC3E}">
        <p14:creationId xmlns:p14="http://schemas.microsoft.com/office/powerpoint/2010/main" val="184198996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Non-breaking </a:t>
            </a:r>
            <a:r>
              <a:rPr lang="en-US" b="1" dirty="0" smtClean="0"/>
              <a:t>Space</a:t>
            </a:r>
            <a:endParaRPr lang="en-US" dirty="0"/>
          </a:p>
        </p:txBody>
      </p:sp>
      <p:sp>
        <p:nvSpPr>
          <p:cNvPr id="3" name="Content Placeholder 2"/>
          <p:cNvSpPr>
            <a:spLocks noGrp="1"/>
          </p:cNvSpPr>
          <p:nvPr>
            <p:ph idx="1"/>
          </p:nvPr>
        </p:nvSpPr>
        <p:spPr/>
        <p:txBody>
          <a:bodyPr>
            <a:normAutofit lnSpcReduction="10000"/>
          </a:bodyPr>
          <a:lstStyle/>
          <a:p>
            <a:r>
              <a:rPr lang="en-US" dirty="0"/>
              <a:t>A commonly used entity in HTML is the non-breaking space: </a:t>
            </a:r>
            <a:r>
              <a:rPr lang="en-US" b="1" dirty="0"/>
              <a:t>&amp;</a:t>
            </a:r>
            <a:r>
              <a:rPr lang="en-US" b="1" dirty="0" err="1"/>
              <a:t>nbsp</a:t>
            </a:r>
            <a:r>
              <a:rPr lang="en-US" b="1" dirty="0"/>
              <a:t>;</a:t>
            </a:r>
            <a:endParaRPr lang="en-US" dirty="0"/>
          </a:p>
          <a:p>
            <a:r>
              <a:rPr lang="en-US" dirty="0"/>
              <a:t>A non-breaking space is a space that will not break into a new line.</a:t>
            </a:r>
          </a:p>
          <a:p>
            <a:r>
              <a:rPr lang="en-US" dirty="0"/>
              <a:t>Two words separated by a non-breaking space will stick together (not break into a new line). This is handy when breaking the words might be disruptive.</a:t>
            </a:r>
          </a:p>
          <a:p>
            <a:r>
              <a:rPr lang="en-US" dirty="0"/>
              <a:t>Examples:</a:t>
            </a:r>
          </a:p>
          <a:p>
            <a:r>
              <a:rPr lang="en-US" dirty="0"/>
              <a:t>§ 10</a:t>
            </a:r>
          </a:p>
          <a:p>
            <a:r>
              <a:rPr lang="en-US" dirty="0"/>
              <a:t>10 km/h</a:t>
            </a:r>
          </a:p>
          <a:p>
            <a:r>
              <a:rPr lang="en-US" dirty="0"/>
              <a:t>10 PM</a:t>
            </a:r>
          </a:p>
          <a:p>
            <a:endParaRPr lang="en-US" dirty="0"/>
          </a:p>
        </p:txBody>
      </p:sp>
    </p:spTree>
    <p:extLst>
      <p:ext uri="{BB962C8B-B14F-4D97-AF65-F5344CB8AC3E}">
        <p14:creationId xmlns:p14="http://schemas.microsoft.com/office/powerpoint/2010/main" val="116000193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Another common use of the non-breaking space is to prevent browsers from truncating spaces in HTML pages.</a:t>
            </a:r>
          </a:p>
          <a:p>
            <a:r>
              <a:rPr lang="en-US" dirty="0"/>
              <a:t>If you write 10 spaces in your text, the browser will remove 9 of them. To add real spaces to your text, you can use the </a:t>
            </a:r>
            <a:r>
              <a:rPr lang="en-US" b="1" dirty="0"/>
              <a:t>&amp;</a:t>
            </a:r>
            <a:r>
              <a:rPr lang="en-US" b="1" dirty="0" err="1"/>
              <a:t>nbsp</a:t>
            </a:r>
            <a:r>
              <a:rPr lang="en-US" b="1" dirty="0"/>
              <a:t>;</a:t>
            </a:r>
            <a:r>
              <a:rPr lang="en-US" dirty="0"/>
              <a:t> character entity.</a:t>
            </a:r>
          </a:p>
          <a:p>
            <a:r>
              <a:rPr lang="en-US" b="1" dirty="0"/>
              <a:t>Tip:</a:t>
            </a:r>
            <a:r>
              <a:rPr lang="en-US" dirty="0"/>
              <a:t> The non-breaking hyphen (</a:t>
            </a:r>
            <a:r>
              <a:rPr lang="en-US" dirty="0">
                <a:hlinkClick r:id="rId2"/>
              </a:rPr>
              <a:t>&amp;#8209;</a:t>
            </a:r>
            <a:r>
              <a:rPr lang="en-US" dirty="0"/>
              <a:t>) is used to define a hyphen character (‑) that does not break into a new line</a:t>
            </a:r>
            <a:r>
              <a:rPr lang="en-US" dirty="0" smtClean="0"/>
              <a:t>.</a:t>
            </a:r>
          </a:p>
          <a:p>
            <a:r>
              <a:rPr lang="en-US" b="1" dirty="0"/>
              <a:t>Note:</a:t>
            </a:r>
            <a:r>
              <a:rPr lang="en-US" dirty="0"/>
              <a:t> Entity names are case sensitive.</a:t>
            </a:r>
          </a:p>
          <a:p>
            <a:endParaRPr lang="en-US" dirty="0"/>
          </a:p>
        </p:txBody>
      </p:sp>
    </p:spTree>
    <p:extLst>
      <p:ext uri="{BB962C8B-B14F-4D97-AF65-F5344CB8AC3E}">
        <p14:creationId xmlns:p14="http://schemas.microsoft.com/office/powerpoint/2010/main" val="47171790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04800"/>
            <a:ext cx="7315200" cy="1154097"/>
          </a:xfrm>
        </p:spPr>
        <p:txBody>
          <a:bodyPr>
            <a:normAutofit fontScale="90000"/>
          </a:bodyPr>
          <a:lstStyle/>
          <a:p>
            <a:r>
              <a:rPr lang="en-US" b="1" dirty="0"/>
              <a:t>Some Useful HTML Character </a:t>
            </a:r>
            <a:r>
              <a:rPr lang="en-US" b="1" dirty="0" smtClean="0"/>
              <a:t>Entities</a:t>
            </a:r>
            <a:endParaRPr lang="en-US" dirty="0"/>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9335" y="1600200"/>
            <a:ext cx="6763065" cy="49099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0164455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348779"/>
            <a:ext cx="7696200" cy="25765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5389251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Symbols</a:t>
            </a:r>
            <a:endParaRPr lang="en-US" dirty="0"/>
          </a:p>
        </p:txBody>
      </p:sp>
      <p:sp>
        <p:nvSpPr>
          <p:cNvPr id="3" name="Content Placeholder 2"/>
          <p:cNvSpPr>
            <a:spLocks noGrp="1"/>
          </p:cNvSpPr>
          <p:nvPr>
            <p:ph idx="1"/>
          </p:nvPr>
        </p:nvSpPr>
        <p:spPr/>
        <p:txBody>
          <a:bodyPr>
            <a:normAutofit fontScale="85000" lnSpcReduction="20000"/>
          </a:bodyPr>
          <a:lstStyle/>
          <a:p>
            <a:r>
              <a:rPr lang="en-US" dirty="0"/>
              <a:t>Many mathematical, technical, and currency symbols, are not present on a normal keyboard</a:t>
            </a:r>
            <a:r>
              <a:rPr lang="en-US" dirty="0" smtClean="0"/>
              <a:t>.</a:t>
            </a:r>
            <a:endParaRPr lang="en-US" dirty="0"/>
          </a:p>
          <a:p>
            <a:r>
              <a:rPr lang="en-US" dirty="0"/>
              <a:t>To add such symbols to an HTML page, you can use the entity name or the entity number (a decimal or a hexadecimal reference) for the symbol</a:t>
            </a:r>
            <a:r>
              <a:rPr lang="en-US" dirty="0" smtClean="0"/>
              <a:t>.</a:t>
            </a:r>
          </a:p>
          <a:p>
            <a:r>
              <a:rPr lang="en-US" b="1" dirty="0"/>
              <a:t>Example</a:t>
            </a:r>
          </a:p>
          <a:p>
            <a:r>
              <a:rPr lang="en-US" dirty="0"/>
              <a:t>Display the euro sign, €, with an entity name, a decimal, and a hexadecimal value:</a:t>
            </a:r>
          </a:p>
          <a:p>
            <a:pPr marL="45720" indent="0">
              <a:buNone/>
            </a:pPr>
            <a:r>
              <a:rPr lang="en-US" dirty="0"/>
              <a:t>&lt;p&gt;I will display &amp;euro;&lt;/p&gt;</a:t>
            </a:r>
            <a:br>
              <a:rPr lang="en-US" dirty="0"/>
            </a:br>
            <a:r>
              <a:rPr lang="en-US" dirty="0"/>
              <a:t>&lt;p&gt;I will display &amp;#8364;&lt;/p&gt;</a:t>
            </a:r>
            <a:br>
              <a:rPr lang="en-US" dirty="0"/>
            </a:br>
            <a:r>
              <a:rPr lang="en-US" dirty="0"/>
              <a:t>&lt;p&gt;I will display &amp;#x20AC;&lt;/p&gt; </a:t>
            </a:r>
          </a:p>
          <a:p>
            <a:r>
              <a:rPr lang="en-US" b="1" dirty="0"/>
              <a:t>Will display as:</a:t>
            </a:r>
          </a:p>
          <a:p>
            <a:pPr marL="45720" indent="0">
              <a:buNone/>
            </a:pPr>
            <a:r>
              <a:rPr lang="en-US" dirty="0"/>
              <a:t>I will display €</a:t>
            </a:r>
            <a:br>
              <a:rPr lang="en-US" dirty="0"/>
            </a:br>
            <a:r>
              <a:rPr lang="en-US" dirty="0"/>
              <a:t>I will display €</a:t>
            </a:r>
            <a:br>
              <a:rPr lang="en-US" dirty="0"/>
            </a:br>
            <a:r>
              <a:rPr lang="en-US" dirty="0"/>
              <a:t>I will display € </a:t>
            </a:r>
          </a:p>
          <a:p>
            <a:endParaRPr lang="en-US" dirty="0"/>
          </a:p>
        </p:txBody>
      </p:sp>
    </p:spTree>
    <p:extLst>
      <p:ext uri="{BB962C8B-B14F-4D97-AF65-F5344CB8AC3E}">
        <p14:creationId xmlns:p14="http://schemas.microsoft.com/office/powerpoint/2010/main" val="29436661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81000"/>
            <a:ext cx="7315200" cy="1154097"/>
          </a:xfrm>
        </p:spPr>
        <p:txBody>
          <a:bodyPr>
            <a:normAutofit fontScale="90000"/>
          </a:bodyPr>
          <a:lstStyle/>
          <a:p>
            <a:r>
              <a:rPr lang="en-US" b="1" dirty="0"/>
              <a:t>Some Mathematical Symbols Supported by </a:t>
            </a:r>
            <a:r>
              <a:rPr lang="en-US" b="1" dirty="0" smtClean="0"/>
              <a:t>HTML</a:t>
            </a:r>
            <a:endParaRPr lang="en-US" dirty="0"/>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84162" y="1600200"/>
            <a:ext cx="5234021" cy="495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397669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81000"/>
            <a:ext cx="7315200" cy="1154097"/>
          </a:xfrm>
        </p:spPr>
        <p:txBody>
          <a:bodyPr>
            <a:normAutofit fontScale="90000"/>
          </a:bodyPr>
          <a:lstStyle/>
          <a:p>
            <a:r>
              <a:rPr lang="en-US" b="1" dirty="0"/>
              <a:t>Some Greek Letters Supported by </a:t>
            </a:r>
            <a:r>
              <a:rPr lang="en-US" b="1" dirty="0" smtClean="0"/>
              <a:t>HTML</a:t>
            </a:r>
            <a:endParaRPr lang="en-US" dirty="0"/>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61595" y="1676400"/>
            <a:ext cx="7744205" cy="43990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229719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04800"/>
            <a:ext cx="7315200" cy="1154097"/>
          </a:xfrm>
        </p:spPr>
        <p:txBody>
          <a:bodyPr>
            <a:normAutofit fontScale="90000"/>
          </a:bodyPr>
          <a:lstStyle/>
          <a:p>
            <a:r>
              <a:rPr lang="en-US" b="1" dirty="0"/>
              <a:t>Some Other Entities Supported by </a:t>
            </a:r>
            <a:r>
              <a:rPr lang="en-US" b="1" dirty="0" smtClean="0"/>
              <a:t>HTML</a:t>
            </a:r>
            <a:endParaRPr lang="en-US" dirty="0"/>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1" y="1654175"/>
            <a:ext cx="6858000" cy="49190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1710558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14600"/>
            <a:ext cx="7467600"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7132479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5103"/>
            <a:ext cx="7315200" cy="1154097"/>
          </a:xfrm>
        </p:spPr>
        <p:txBody>
          <a:bodyPr>
            <a:normAutofit/>
          </a:bodyPr>
          <a:lstStyle/>
          <a:p>
            <a:r>
              <a:rPr lang="en-US" b="1" dirty="0"/>
              <a:t>HTML Canvas </a:t>
            </a:r>
            <a:r>
              <a:rPr lang="en-US" b="1" dirty="0" smtClean="0"/>
              <a:t>Graphics</a:t>
            </a:r>
            <a:endParaRPr lang="en-US" dirty="0"/>
          </a:p>
        </p:txBody>
      </p:sp>
      <p:sp>
        <p:nvSpPr>
          <p:cNvPr id="3" name="Content Placeholder 2"/>
          <p:cNvSpPr>
            <a:spLocks noGrp="1"/>
          </p:cNvSpPr>
          <p:nvPr>
            <p:ph idx="1"/>
          </p:nvPr>
        </p:nvSpPr>
        <p:spPr>
          <a:xfrm>
            <a:off x="914400" y="1447800"/>
            <a:ext cx="7315200" cy="3539527"/>
          </a:xfrm>
        </p:spPr>
        <p:txBody>
          <a:bodyPr/>
          <a:lstStyle/>
          <a:p>
            <a:r>
              <a:rPr lang="en-US" dirty="0"/>
              <a:t>The HTML &lt;canvas&gt; element is used to draw graphics on a web page.</a:t>
            </a:r>
          </a:p>
          <a:p>
            <a:r>
              <a:rPr lang="en-US" dirty="0"/>
              <a:t>The graphic </a:t>
            </a:r>
            <a:r>
              <a:rPr lang="en-US" dirty="0" smtClean="0"/>
              <a:t>below </a:t>
            </a:r>
            <a:r>
              <a:rPr lang="en-US" dirty="0"/>
              <a:t>is created with &lt;canvas&gt;. It shows four elements: a red rectangle, a gradient rectangle, a multicolor rectangle, and a multicolor text.</a:t>
            </a:r>
          </a:p>
          <a:p>
            <a:endParaRPr 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3873" y="3581400"/>
            <a:ext cx="4353612" cy="2590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4565735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HTML &lt;canvas&gt; element is used to draw graphics, on the fly, via JavaScript.</a:t>
            </a:r>
          </a:p>
          <a:p>
            <a:r>
              <a:rPr lang="en-US" dirty="0"/>
              <a:t>The &lt;canvas&gt; element is only a container for graphics. You must use JavaScript to actually draw the graphics.</a:t>
            </a:r>
          </a:p>
          <a:p>
            <a:r>
              <a:rPr lang="en-US" dirty="0"/>
              <a:t>Canvas has several methods for drawing paths, boxes, circles, text, and adding images.</a:t>
            </a:r>
          </a:p>
          <a:p>
            <a:endParaRPr lang="en-US" dirty="0"/>
          </a:p>
        </p:txBody>
      </p:sp>
    </p:spTree>
    <p:extLst>
      <p:ext uri="{BB962C8B-B14F-4D97-AF65-F5344CB8AC3E}">
        <p14:creationId xmlns:p14="http://schemas.microsoft.com/office/powerpoint/2010/main" val="235708078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Canvas </a:t>
            </a:r>
            <a:r>
              <a:rPr lang="en-US" b="1" dirty="0" smtClean="0"/>
              <a:t>Examples</a:t>
            </a:r>
            <a:endParaRPr lang="en-US" dirty="0"/>
          </a:p>
        </p:txBody>
      </p:sp>
      <p:sp>
        <p:nvSpPr>
          <p:cNvPr id="3" name="Content Placeholder 2"/>
          <p:cNvSpPr>
            <a:spLocks noGrp="1"/>
          </p:cNvSpPr>
          <p:nvPr>
            <p:ph idx="1"/>
          </p:nvPr>
        </p:nvSpPr>
        <p:spPr/>
        <p:txBody>
          <a:bodyPr>
            <a:normAutofit fontScale="92500" lnSpcReduction="10000"/>
          </a:bodyPr>
          <a:lstStyle/>
          <a:p>
            <a:r>
              <a:rPr lang="en-US" dirty="0"/>
              <a:t>A canvas is a rectangular area on an HTML page. By default, a canvas has no border and no content.</a:t>
            </a:r>
          </a:p>
          <a:p>
            <a:endParaRPr lang="en-US" dirty="0"/>
          </a:p>
          <a:p>
            <a:r>
              <a:rPr lang="en-US" dirty="0"/>
              <a:t>The markup looks like this:</a:t>
            </a:r>
          </a:p>
          <a:p>
            <a:r>
              <a:rPr lang="en-US" dirty="0"/>
              <a:t>&lt;canvas id="</a:t>
            </a:r>
            <a:r>
              <a:rPr lang="en-US" dirty="0" err="1"/>
              <a:t>myCanvas</a:t>
            </a:r>
            <a:r>
              <a:rPr lang="en-US" dirty="0"/>
              <a:t>" width="200" height="100"&gt;&lt;/canvas&gt;</a:t>
            </a:r>
          </a:p>
          <a:p>
            <a:endParaRPr lang="en-US" dirty="0"/>
          </a:p>
          <a:p>
            <a:r>
              <a:rPr lang="en-US" dirty="0"/>
              <a:t>Note: Always specify an id attribute (to be referred to in a script), and a width and height attribute to define the size of the canvas. To add a border, use the style attribute.</a:t>
            </a:r>
          </a:p>
          <a:p>
            <a:endParaRPr lang="en-US" dirty="0"/>
          </a:p>
          <a:p>
            <a:r>
              <a:rPr lang="en-US" dirty="0"/>
              <a:t>Here is an example of a basic, empty canvas:</a:t>
            </a:r>
          </a:p>
        </p:txBody>
      </p:sp>
    </p:spTree>
    <p:extLst>
      <p:ext uri="{BB962C8B-B14F-4D97-AF65-F5344CB8AC3E}">
        <p14:creationId xmlns:p14="http://schemas.microsoft.com/office/powerpoint/2010/main" val="339061159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609601"/>
            <a:ext cx="7315200" cy="5699760"/>
          </a:xfrm>
        </p:spPr>
        <p:txBody>
          <a:bodyPr>
            <a:normAutofit/>
          </a:bodyPr>
          <a:lstStyle/>
          <a:p>
            <a:pPr marL="45720" indent="0">
              <a:buNone/>
            </a:pPr>
            <a:r>
              <a:rPr lang="en-US" dirty="0"/>
              <a:t>&lt;!DOCTYPE html&gt;</a:t>
            </a:r>
          </a:p>
          <a:p>
            <a:pPr marL="45720" indent="0">
              <a:buNone/>
            </a:pPr>
            <a:r>
              <a:rPr lang="en-US" dirty="0"/>
              <a:t>&lt;html&gt;</a:t>
            </a:r>
          </a:p>
          <a:p>
            <a:pPr marL="45720" indent="0">
              <a:buNone/>
            </a:pPr>
            <a:r>
              <a:rPr lang="en-US" dirty="0"/>
              <a:t>&lt;body&gt;</a:t>
            </a:r>
          </a:p>
          <a:p>
            <a:endParaRPr lang="en-US" dirty="0"/>
          </a:p>
          <a:p>
            <a:pPr marL="45720" indent="0">
              <a:buNone/>
            </a:pPr>
            <a:r>
              <a:rPr lang="en-US" dirty="0"/>
              <a:t>&lt;canvas id="</a:t>
            </a:r>
            <a:r>
              <a:rPr lang="en-US" dirty="0" err="1"/>
              <a:t>myCanvas</a:t>
            </a:r>
            <a:r>
              <a:rPr lang="en-US" dirty="0"/>
              <a:t>" width="200" height="100" style="border:1px solid #000000;"&gt;</a:t>
            </a:r>
          </a:p>
          <a:p>
            <a:pPr marL="45720" indent="0">
              <a:buNone/>
            </a:pPr>
            <a:r>
              <a:rPr lang="en-US" dirty="0"/>
              <a:t>Your browser does not support the HTML canvas tag.</a:t>
            </a:r>
          </a:p>
          <a:p>
            <a:pPr marL="45720" indent="0">
              <a:buNone/>
            </a:pPr>
            <a:r>
              <a:rPr lang="en-US" dirty="0"/>
              <a:t>&lt;/canvas&gt;</a:t>
            </a:r>
          </a:p>
          <a:p>
            <a:endParaRPr lang="en-US" dirty="0"/>
          </a:p>
          <a:p>
            <a:pPr marL="45720" indent="0">
              <a:buNone/>
            </a:pPr>
            <a:r>
              <a:rPr lang="en-US" dirty="0"/>
              <a:t>&lt;/body&gt;</a:t>
            </a:r>
          </a:p>
          <a:p>
            <a:pPr marL="45720" indent="0">
              <a:buNone/>
            </a:pPr>
            <a:r>
              <a:rPr lang="en-US" dirty="0"/>
              <a:t>&lt;/html&gt;</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0" y="4343400"/>
            <a:ext cx="3276600" cy="16518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123345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Add a </a:t>
            </a:r>
            <a:r>
              <a:rPr lang="en-US" b="1" dirty="0" smtClean="0"/>
              <a:t>JavaScript</a:t>
            </a:r>
            <a:endParaRPr lang="en-US" dirty="0"/>
          </a:p>
        </p:txBody>
      </p:sp>
      <p:sp>
        <p:nvSpPr>
          <p:cNvPr id="3" name="Content Placeholder 2"/>
          <p:cNvSpPr>
            <a:spLocks noGrp="1"/>
          </p:cNvSpPr>
          <p:nvPr>
            <p:ph idx="1"/>
          </p:nvPr>
        </p:nvSpPr>
        <p:spPr/>
        <p:txBody>
          <a:bodyPr/>
          <a:lstStyle/>
          <a:p>
            <a:r>
              <a:rPr lang="en-US" dirty="0"/>
              <a:t>After creating the rectangular canvas area, you must add a JavaScript to do the drawing.</a:t>
            </a:r>
          </a:p>
          <a:p>
            <a:r>
              <a:rPr lang="en-US" dirty="0"/>
              <a:t>Here are some examples:</a:t>
            </a:r>
          </a:p>
          <a:p>
            <a:r>
              <a:rPr lang="en-US" b="1" dirty="0"/>
              <a:t>Draw a Line</a:t>
            </a:r>
          </a:p>
          <a:p>
            <a:endParaRPr lang="en-U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4495799"/>
            <a:ext cx="3581400" cy="18054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1095426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533401"/>
            <a:ext cx="7315200" cy="5775960"/>
          </a:xfrm>
        </p:spPr>
        <p:txBody>
          <a:bodyPr>
            <a:normAutofit/>
          </a:bodyPr>
          <a:lstStyle/>
          <a:p>
            <a:pPr marL="45720" indent="0">
              <a:buNone/>
            </a:pPr>
            <a:r>
              <a:rPr lang="en-US" sz="2800" dirty="0"/>
              <a:t>&lt;!DOCTYPE html&gt;</a:t>
            </a:r>
          </a:p>
          <a:p>
            <a:pPr marL="45720" indent="0">
              <a:buNone/>
            </a:pPr>
            <a:r>
              <a:rPr lang="en-US" sz="2800" dirty="0"/>
              <a:t>&lt;html&gt;</a:t>
            </a:r>
          </a:p>
          <a:p>
            <a:pPr marL="45720" indent="0">
              <a:buNone/>
            </a:pPr>
            <a:r>
              <a:rPr lang="en-US" sz="2800" dirty="0"/>
              <a:t>&lt;body&gt;</a:t>
            </a:r>
          </a:p>
          <a:p>
            <a:endParaRPr lang="en-US" sz="2800" dirty="0"/>
          </a:p>
          <a:p>
            <a:pPr marL="45720" indent="0">
              <a:buNone/>
            </a:pPr>
            <a:r>
              <a:rPr lang="en-US" sz="2800" dirty="0"/>
              <a:t>&lt;canvas id="</a:t>
            </a:r>
            <a:r>
              <a:rPr lang="en-US" sz="2800" dirty="0" err="1"/>
              <a:t>myCanvas</a:t>
            </a:r>
            <a:r>
              <a:rPr lang="en-US" sz="2800" dirty="0"/>
              <a:t>" width="200" height="100" style="border:1px solid #d3d3d3;"&gt;</a:t>
            </a:r>
          </a:p>
          <a:p>
            <a:pPr marL="45720" indent="0">
              <a:buNone/>
            </a:pPr>
            <a:r>
              <a:rPr lang="en-US" sz="2800" dirty="0"/>
              <a:t>Your browser does not support the HTML canvas tag.&lt;/canvas&gt;</a:t>
            </a:r>
          </a:p>
          <a:p>
            <a:endParaRPr lang="en-US" sz="2800" dirty="0"/>
          </a:p>
        </p:txBody>
      </p:sp>
    </p:spTree>
    <p:extLst>
      <p:ext uri="{BB962C8B-B14F-4D97-AF65-F5344CB8AC3E}">
        <p14:creationId xmlns:p14="http://schemas.microsoft.com/office/powerpoint/2010/main" val="112955709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838201"/>
            <a:ext cx="7315200" cy="5471160"/>
          </a:xfrm>
        </p:spPr>
        <p:txBody>
          <a:bodyPr>
            <a:noAutofit/>
          </a:bodyPr>
          <a:lstStyle/>
          <a:p>
            <a:pPr marL="45720" indent="0">
              <a:buNone/>
            </a:pPr>
            <a:r>
              <a:rPr lang="en-US" sz="2800" dirty="0"/>
              <a:t>&lt;script&gt;</a:t>
            </a:r>
          </a:p>
          <a:p>
            <a:pPr marL="45720" indent="0">
              <a:buNone/>
            </a:pPr>
            <a:r>
              <a:rPr lang="en-US" sz="2800" dirty="0" err="1"/>
              <a:t>var</a:t>
            </a:r>
            <a:r>
              <a:rPr lang="en-US" sz="2800" dirty="0"/>
              <a:t> c = </a:t>
            </a:r>
            <a:r>
              <a:rPr lang="en-US" sz="2800" dirty="0" err="1"/>
              <a:t>document.getElementById</a:t>
            </a:r>
            <a:r>
              <a:rPr lang="en-US" sz="2800" dirty="0"/>
              <a:t>("</a:t>
            </a:r>
            <a:r>
              <a:rPr lang="en-US" sz="2800" dirty="0" err="1"/>
              <a:t>myCanvas</a:t>
            </a:r>
            <a:r>
              <a:rPr lang="en-US" sz="2800" dirty="0"/>
              <a:t>");</a:t>
            </a:r>
          </a:p>
          <a:p>
            <a:pPr marL="45720" indent="0">
              <a:buNone/>
            </a:pPr>
            <a:r>
              <a:rPr lang="en-US" sz="2800" dirty="0" err="1"/>
              <a:t>var</a:t>
            </a:r>
            <a:r>
              <a:rPr lang="en-US" sz="2800" dirty="0"/>
              <a:t> </a:t>
            </a:r>
            <a:r>
              <a:rPr lang="en-US" sz="2800" dirty="0" err="1"/>
              <a:t>ctx</a:t>
            </a:r>
            <a:r>
              <a:rPr lang="en-US" sz="2800" dirty="0"/>
              <a:t> = </a:t>
            </a:r>
            <a:r>
              <a:rPr lang="en-US" sz="2800" dirty="0" err="1"/>
              <a:t>c.getContext</a:t>
            </a:r>
            <a:r>
              <a:rPr lang="en-US" sz="2800" dirty="0"/>
              <a:t>("2d");</a:t>
            </a:r>
          </a:p>
          <a:p>
            <a:pPr marL="45720" indent="0">
              <a:buNone/>
            </a:pPr>
            <a:r>
              <a:rPr lang="en-US" sz="2800" dirty="0" err="1"/>
              <a:t>ctx.moveTo</a:t>
            </a:r>
            <a:r>
              <a:rPr lang="en-US" sz="2800" dirty="0"/>
              <a:t>(0,0);</a:t>
            </a:r>
          </a:p>
          <a:p>
            <a:pPr marL="45720" indent="0">
              <a:buNone/>
            </a:pPr>
            <a:r>
              <a:rPr lang="en-US" sz="2800" dirty="0" err="1"/>
              <a:t>ctx.lineTo</a:t>
            </a:r>
            <a:r>
              <a:rPr lang="en-US" sz="2800" dirty="0"/>
              <a:t>(200,100);</a:t>
            </a:r>
          </a:p>
          <a:p>
            <a:pPr marL="45720" indent="0">
              <a:buNone/>
            </a:pPr>
            <a:r>
              <a:rPr lang="en-US" sz="2800" dirty="0" err="1"/>
              <a:t>ctx.stroke</a:t>
            </a:r>
            <a:r>
              <a:rPr lang="en-US" sz="2800" dirty="0"/>
              <a:t>();</a:t>
            </a:r>
          </a:p>
          <a:p>
            <a:pPr marL="45720" indent="0">
              <a:buNone/>
            </a:pPr>
            <a:r>
              <a:rPr lang="en-US" sz="2800" dirty="0"/>
              <a:t>&lt;/script&gt;</a:t>
            </a:r>
          </a:p>
          <a:p>
            <a:endParaRPr lang="en-US" sz="2800" dirty="0"/>
          </a:p>
          <a:p>
            <a:pPr marL="45720" indent="0">
              <a:buNone/>
            </a:pPr>
            <a:r>
              <a:rPr lang="en-US" sz="2800" dirty="0"/>
              <a:t>&lt;/body&gt;</a:t>
            </a:r>
          </a:p>
          <a:p>
            <a:pPr marL="45720" indent="0">
              <a:buNone/>
            </a:pPr>
            <a:r>
              <a:rPr lang="en-US" sz="2800" dirty="0"/>
              <a:t>&lt;/html&gt;</a:t>
            </a:r>
          </a:p>
          <a:p>
            <a:endParaRPr lang="en-US" sz="2800" dirty="0"/>
          </a:p>
        </p:txBody>
      </p:sp>
    </p:spTree>
    <p:extLst>
      <p:ext uri="{BB962C8B-B14F-4D97-AF65-F5344CB8AC3E}">
        <p14:creationId xmlns:p14="http://schemas.microsoft.com/office/powerpoint/2010/main" val="376488242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315200" cy="1154097"/>
          </a:xfrm>
        </p:spPr>
        <p:txBody>
          <a:bodyPr>
            <a:normAutofit/>
          </a:bodyPr>
          <a:lstStyle/>
          <a:p>
            <a:r>
              <a:rPr lang="en-US" b="1" dirty="0"/>
              <a:t>Draw a </a:t>
            </a:r>
            <a:r>
              <a:rPr lang="en-US" b="1" dirty="0" smtClean="0"/>
              <a:t>Circle</a:t>
            </a:r>
            <a:endParaRPr lang="en-US" dirty="0"/>
          </a:p>
        </p:txBody>
      </p:sp>
      <p:sp>
        <p:nvSpPr>
          <p:cNvPr id="3" name="Content Placeholder 2"/>
          <p:cNvSpPr>
            <a:spLocks noGrp="1"/>
          </p:cNvSpPr>
          <p:nvPr>
            <p:ph idx="1"/>
          </p:nvPr>
        </p:nvSpPr>
        <p:spPr>
          <a:xfrm>
            <a:off x="914400" y="1219201"/>
            <a:ext cx="7315200" cy="5090160"/>
          </a:xfrm>
        </p:spPr>
        <p:txBody>
          <a:bodyPr>
            <a:normAutofit/>
          </a:bodyPr>
          <a:lstStyle/>
          <a:p>
            <a:pPr marL="45720" indent="0">
              <a:buNone/>
            </a:pPr>
            <a:r>
              <a:rPr lang="en-US" sz="2800" dirty="0"/>
              <a:t>&lt;!DOCTYPE html&gt;</a:t>
            </a:r>
          </a:p>
          <a:p>
            <a:pPr marL="45720" indent="0">
              <a:buNone/>
            </a:pPr>
            <a:r>
              <a:rPr lang="en-US" sz="2800" dirty="0"/>
              <a:t>&lt;html&gt;</a:t>
            </a:r>
          </a:p>
          <a:p>
            <a:pPr marL="45720" indent="0">
              <a:buNone/>
            </a:pPr>
            <a:r>
              <a:rPr lang="en-US" sz="2800" dirty="0"/>
              <a:t>&lt;body&gt;</a:t>
            </a:r>
          </a:p>
          <a:p>
            <a:endParaRPr lang="en-US" sz="2800" dirty="0"/>
          </a:p>
          <a:p>
            <a:pPr marL="45720" indent="0">
              <a:buNone/>
            </a:pPr>
            <a:r>
              <a:rPr lang="en-US" sz="2800" dirty="0"/>
              <a:t>&lt;canvas id="</a:t>
            </a:r>
            <a:r>
              <a:rPr lang="en-US" sz="2800" dirty="0" err="1"/>
              <a:t>myCanvas</a:t>
            </a:r>
            <a:r>
              <a:rPr lang="en-US" sz="2800" dirty="0"/>
              <a:t>" width="200" height="100" style="border:1px solid #d3d3d3;"&gt;</a:t>
            </a:r>
          </a:p>
          <a:p>
            <a:pPr marL="45720" indent="0">
              <a:buNone/>
            </a:pPr>
            <a:r>
              <a:rPr lang="en-US" sz="2800" dirty="0"/>
              <a:t>Your browser does not support the HTML canvas tag.&lt;/canvas&gt;</a:t>
            </a:r>
          </a:p>
          <a:p>
            <a:endParaRPr lang="en-US" sz="2800" dirty="0"/>
          </a:p>
        </p:txBody>
      </p:sp>
    </p:spTree>
    <p:extLst>
      <p:ext uri="{BB962C8B-B14F-4D97-AF65-F5344CB8AC3E}">
        <p14:creationId xmlns:p14="http://schemas.microsoft.com/office/powerpoint/2010/main" val="321871480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838201"/>
            <a:ext cx="7315200" cy="5471160"/>
          </a:xfrm>
        </p:spPr>
        <p:txBody>
          <a:bodyPr>
            <a:noAutofit/>
          </a:bodyPr>
          <a:lstStyle/>
          <a:p>
            <a:pPr marL="45720" indent="0">
              <a:buNone/>
            </a:pPr>
            <a:r>
              <a:rPr lang="en-US" sz="2800" dirty="0"/>
              <a:t>&lt;script&gt;</a:t>
            </a:r>
          </a:p>
          <a:p>
            <a:pPr marL="45720" indent="0">
              <a:buNone/>
            </a:pPr>
            <a:r>
              <a:rPr lang="en-US" sz="2800" dirty="0" err="1"/>
              <a:t>var</a:t>
            </a:r>
            <a:r>
              <a:rPr lang="en-US" sz="2800" dirty="0"/>
              <a:t> c = </a:t>
            </a:r>
            <a:r>
              <a:rPr lang="en-US" sz="2800" dirty="0" err="1"/>
              <a:t>document.getElementById</a:t>
            </a:r>
            <a:r>
              <a:rPr lang="en-US" sz="2800" dirty="0"/>
              <a:t>("</a:t>
            </a:r>
            <a:r>
              <a:rPr lang="en-US" sz="2800" dirty="0" err="1"/>
              <a:t>myCanvas</a:t>
            </a:r>
            <a:r>
              <a:rPr lang="en-US" sz="2800" dirty="0"/>
              <a:t>");</a:t>
            </a:r>
          </a:p>
          <a:p>
            <a:pPr marL="45720" indent="0">
              <a:buNone/>
            </a:pPr>
            <a:r>
              <a:rPr lang="en-US" sz="2800" dirty="0" err="1"/>
              <a:t>var</a:t>
            </a:r>
            <a:r>
              <a:rPr lang="en-US" sz="2800" dirty="0"/>
              <a:t> </a:t>
            </a:r>
            <a:r>
              <a:rPr lang="en-US" sz="2800" dirty="0" err="1"/>
              <a:t>ctx</a:t>
            </a:r>
            <a:r>
              <a:rPr lang="en-US" sz="2800" dirty="0"/>
              <a:t> = </a:t>
            </a:r>
            <a:r>
              <a:rPr lang="en-US" sz="2800" dirty="0" err="1"/>
              <a:t>c.getContext</a:t>
            </a:r>
            <a:r>
              <a:rPr lang="en-US" sz="2800" dirty="0"/>
              <a:t>("2d");</a:t>
            </a:r>
          </a:p>
          <a:p>
            <a:pPr marL="45720" indent="0">
              <a:buNone/>
            </a:pPr>
            <a:r>
              <a:rPr lang="en-US" sz="2800" dirty="0" err="1"/>
              <a:t>ctx.beginPath</a:t>
            </a:r>
            <a:r>
              <a:rPr lang="en-US" sz="2800" dirty="0"/>
              <a:t>();</a:t>
            </a:r>
          </a:p>
          <a:p>
            <a:pPr marL="45720" indent="0">
              <a:buNone/>
            </a:pPr>
            <a:r>
              <a:rPr lang="en-US" sz="2800" dirty="0"/>
              <a:t>ctx.arc(95,50,40,0,2*</a:t>
            </a:r>
            <a:r>
              <a:rPr lang="en-US" sz="2800" dirty="0" err="1"/>
              <a:t>Math.PI</a:t>
            </a:r>
            <a:r>
              <a:rPr lang="en-US" sz="2800" dirty="0"/>
              <a:t>);</a:t>
            </a:r>
          </a:p>
          <a:p>
            <a:pPr marL="45720" indent="0">
              <a:buNone/>
            </a:pPr>
            <a:r>
              <a:rPr lang="en-US" sz="2800" dirty="0" err="1"/>
              <a:t>ctx.stroke</a:t>
            </a:r>
            <a:r>
              <a:rPr lang="en-US" sz="2800" dirty="0"/>
              <a:t>();</a:t>
            </a:r>
          </a:p>
          <a:p>
            <a:pPr marL="45720" indent="0">
              <a:buNone/>
            </a:pPr>
            <a:r>
              <a:rPr lang="en-US" sz="2800" dirty="0"/>
              <a:t>&lt;/script&gt; </a:t>
            </a:r>
          </a:p>
          <a:p>
            <a:endParaRPr lang="en-US" sz="2800" dirty="0"/>
          </a:p>
          <a:p>
            <a:pPr marL="45720" indent="0">
              <a:buNone/>
            </a:pPr>
            <a:r>
              <a:rPr lang="en-US" sz="2800" dirty="0"/>
              <a:t>&lt;/body&gt;</a:t>
            </a:r>
          </a:p>
          <a:p>
            <a:pPr marL="45720" indent="0">
              <a:buNone/>
            </a:pPr>
            <a:r>
              <a:rPr lang="en-US" sz="2800" dirty="0"/>
              <a:t>&lt;/html&gt;</a:t>
            </a:r>
          </a:p>
          <a:p>
            <a:endParaRPr lang="en-US" sz="28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8344" y="4267200"/>
            <a:ext cx="3929922" cy="1981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152438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arc() method adds an arc (curve) to the path.</a:t>
            </a:r>
          </a:p>
          <a:p>
            <a:r>
              <a:rPr lang="en-US" dirty="0"/>
              <a:t>The arc() method creates a circle or a part of a circle.</a:t>
            </a:r>
          </a:p>
          <a:p>
            <a:r>
              <a:rPr lang="en-US" dirty="0"/>
              <a:t>Use the stroke() or fill() method to draw the path.</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3874" y="4267200"/>
            <a:ext cx="3482139" cy="175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691667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Center: arc(</a:t>
            </a:r>
            <a:r>
              <a:rPr lang="en-US" b="1" dirty="0"/>
              <a:t>100, 75</a:t>
            </a:r>
            <a:r>
              <a:rPr lang="en-US" dirty="0"/>
              <a:t>, 50, 0 * </a:t>
            </a:r>
            <a:r>
              <a:rPr lang="en-US" dirty="0" err="1"/>
              <a:t>Math.PI</a:t>
            </a:r>
            <a:r>
              <a:rPr lang="en-US" dirty="0"/>
              <a:t>, 1.5 * </a:t>
            </a:r>
            <a:r>
              <a:rPr lang="en-US" dirty="0" err="1"/>
              <a:t>Math.PI</a:t>
            </a:r>
            <a:r>
              <a:rPr lang="en-US" dirty="0"/>
              <a:t>)</a:t>
            </a:r>
          </a:p>
          <a:p>
            <a:r>
              <a:rPr lang="en-US" dirty="0"/>
              <a:t>Start angle: arc(100, 75, 50,</a:t>
            </a:r>
            <a:r>
              <a:rPr lang="en-US" b="1" dirty="0"/>
              <a:t> 0</a:t>
            </a:r>
            <a:r>
              <a:rPr lang="en-US" dirty="0"/>
              <a:t>, 1.5 * </a:t>
            </a:r>
            <a:r>
              <a:rPr lang="en-US" dirty="0" err="1"/>
              <a:t>Math.PI</a:t>
            </a:r>
            <a:r>
              <a:rPr lang="en-US" dirty="0"/>
              <a:t>)</a:t>
            </a:r>
          </a:p>
          <a:p>
            <a:r>
              <a:rPr lang="en-US" dirty="0"/>
              <a:t>End angle: arc(100, 75, 50, 0 * </a:t>
            </a:r>
            <a:r>
              <a:rPr lang="en-US" dirty="0" err="1"/>
              <a:t>Math.PI</a:t>
            </a:r>
            <a:r>
              <a:rPr lang="en-US" dirty="0"/>
              <a:t>,</a:t>
            </a:r>
            <a:r>
              <a:rPr lang="en-US" b="1" dirty="0"/>
              <a:t> 1.5 * </a:t>
            </a:r>
            <a:r>
              <a:rPr lang="en-US" b="1" dirty="0" err="1"/>
              <a:t>Math.PI</a:t>
            </a:r>
            <a:r>
              <a:rPr lang="en-US" dirty="0" smtClean="0"/>
              <a:t>)</a:t>
            </a:r>
          </a:p>
          <a:p>
            <a:endParaRPr lang="en-IN" dirty="0"/>
          </a:p>
          <a:p>
            <a:r>
              <a:rPr lang="en-US" b="1" dirty="0"/>
              <a:t>Note</a:t>
            </a:r>
          </a:p>
          <a:p>
            <a:r>
              <a:rPr lang="en-US" dirty="0"/>
              <a:t>To create a circle: Set start angle to 0 and end angle to 2*</a:t>
            </a:r>
            <a:r>
              <a:rPr lang="en-US" dirty="0" err="1"/>
              <a:t>Math.PI</a:t>
            </a:r>
            <a:r>
              <a:rPr lang="en-US" dirty="0"/>
              <a:t>.</a:t>
            </a:r>
          </a:p>
          <a:p>
            <a:r>
              <a:rPr lang="en-US" dirty="0"/>
              <a:t>To create half a circle: Set start angle to 0 and end angle to </a:t>
            </a:r>
            <a:r>
              <a:rPr lang="en-US" dirty="0" err="1"/>
              <a:t>Math.PI</a:t>
            </a:r>
            <a:r>
              <a:rPr lang="en-US" dirty="0"/>
              <a:t>.</a:t>
            </a:r>
          </a:p>
          <a:p>
            <a:endParaRPr lang="en-US" dirty="0"/>
          </a:p>
        </p:txBody>
      </p:sp>
    </p:spTree>
    <p:extLst>
      <p:ext uri="{BB962C8B-B14F-4D97-AF65-F5344CB8AC3E}">
        <p14:creationId xmlns:p14="http://schemas.microsoft.com/office/powerpoint/2010/main" val="105551038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04800"/>
            <a:ext cx="7315200" cy="1154097"/>
          </a:xfrm>
        </p:spPr>
        <p:txBody>
          <a:bodyPr>
            <a:normAutofit/>
          </a:bodyPr>
          <a:lstStyle/>
          <a:p>
            <a:r>
              <a:rPr lang="en-US" b="1" dirty="0"/>
              <a:t>Draw a </a:t>
            </a:r>
            <a:r>
              <a:rPr lang="en-US" b="1" dirty="0" smtClean="0"/>
              <a:t>Text</a:t>
            </a:r>
            <a:endParaRPr lang="en-US" dirty="0"/>
          </a:p>
        </p:txBody>
      </p:sp>
      <p:sp>
        <p:nvSpPr>
          <p:cNvPr id="3" name="Content Placeholder 2"/>
          <p:cNvSpPr>
            <a:spLocks noGrp="1"/>
          </p:cNvSpPr>
          <p:nvPr>
            <p:ph idx="1"/>
          </p:nvPr>
        </p:nvSpPr>
        <p:spPr>
          <a:xfrm>
            <a:off x="914400" y="1524001"/>
            <a:ext cx="7315200" cy="4785360"/>
          </a:xfrm>
        </p:spPr>
        <p:txBody>
          <a:bodyPr/>
          <a:lstStyle/>
          <a:p>
            <a:pPr marL="45720" indent="0">
              <a:buNone/>
            </a:pPr>
            <a:r>
              <a:rPr lang="en-US" dirty="0"/>
              <a:t>&lt;script&gt;</a:t>
            </a:r>
            <a:br>
              <a:rPr lang="en-US" dirty="0"/>
            </a:br>
            <a:r>
              <a:rPr lang="en-US" dirty="0" err="1"/>
              <a:t>var</a:t>
            </a:r>
            <a:r>
              <a:rPr lang="en-US" dirty="0"/>
              <a:t> c = </a:t>
            </a:r>
            <a:r>
              <a:rPr lang="en-US" dirty="0" err="1"/>
              <a:t>document.getElementById</a:t>
            </a:r>
            <a:r>
              <a:rPr lang="en-US" dirty="0"/>
              <a:t>("</a:t>
            </a:r>
            <a:r>
              <a:rPr lang="en-US" dirty="0" err="1"/>
              <a:t>myCanvas</a:t>
            </a:r>
            <a:r>
              <a:rPr lang="en-US" dirty="0"/>
              <a:t>");</a:t>
            </a:r>
            <a:br>
              <a:rPr lang="en-US" dirty="0"/>
            </a:br>
            <a:r>
              <a:rPr lang="en-US" dirty="0" err="1"/>
              <a:t>var</a:t>
            </a:r>
            <a:r>
              <a:rPr lang="en-US" dirty="0"/>
              <a:t> </a:t>
            </a:r>
            <a:r>
              <a:rPr lang="en-US" dirty="0" err="1"/>
              <a:t>ctx</a:t>
            </a:r>
            <a:r>
              <a:rPr lang="en-US" dirty="0"/>
              <a:t> = </a:t>
            </a:r>
            <a:r>
              <a:rPr lang="en-US" dirty="0" err="1"/>
              <a:t>c.getContext</a:t>
            </a:r>
            <a:r>
              <a:rPr lang="en-US" dirty="0"/>
              <a:t>("2d");</a:t>
            </a:r>
            <a:br>
              <a:rPr lang="en-US" dirty="0"/>
            </a:br>
            <a:r>
              <a:rPr lang="en-US" dirty="0" err="1"/>
              <a:t>ctx.font</a:t>
            </a:r>
            <a:r>
              <a:rPr lang="en-US" dirty="0"/>
              <a:t> = "30px Arial";</a:t>
            </a:r>
            <a:br>
              <a:rPr lang="en-US" dirty="0"/>
            </a:br>
            <a:r>
              <a:rPr lang="en-US" dirty="0" err="1"/>
              <a:t>ctx.fillText</a:t>
            </a:r>
            <a:r>
              <a:rPr lang="en-US" dirty="0"/>
              <a:t>("Hello World", 10, 50);</a:t>
            </a:r>
            <a:br>
              <a:rPr lang="en-US" dirty="0"/>
            </a:br>
            <a:r>
              <a:rPr lang="en-US" dirty="0"/>
              <a:t>&lt;/script&gt; </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3886200"/>
            <a:ext cx="3505200" cy="175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420861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315200" cy="1154097"/>
          </a:xfrm>
        </p:spPr>
        <p:txBody>
          <a:bodyPr>
            <a:normAutofit/>
          </a:bodyPr>
          <a:lstStyle/>
          <a:p>
            <a:r>
              <a:rPr lang="en-US" b="1" dirty="0"/>
              <a:t>Stroke </a:t>
            </a:r>
            <a:r>
              <a:rPr lang="en-US" b="1" dirty="0" smtClean="0"/>
              <a:t>Text</a:t>
            </a:r>
            <a:endParaRPr lang="en-US" dirty="0"/>
          </a:p>
        </p:txBody>
      </p:sp>
      <p:sp>
        <p:nvSpPr>
          <p:cNvPr id="3" name="Content Placeholder 2"/>
          <p:cNvSpPr>
            <a:spLocks noGrp="1"/>
          </p:cNvSpPr>
          <p:nvPr>
            <p:ph idx="1"/>
          </p:nvPr>
        </p:nvSpPr>
        <p:spPr>
          <a:xfrm>
            <a:off x="914400" y="1371601"/>
            <a:ext cx="7315200" cy="4937760"/>
          </a:xfrm>
        </p:spPr>
        <p:txBody>
          <a:bodyPr/>
          <a:lstStyle/>
          <a:p>
            <a:pPr marL="45720" indent="0">
              <a:buNone/>
            </a:pPr>
            <a:r>
              <a:rPr lang="en-US" dirty="0"/>
              <a:t>&lt;script&gt;</a:t>
            </a:r>
            <a:br>
              <a:rPr lang="en-US" dirty="0"/>
            </a:br>
            <a:r>
              <a:rPr lang="en-US" dirty="0" err="1"/>
              <a:t>var</a:t>
            </a:r>
            <a:r>
              <a:rPr lang="en-US" dirty="0"/>
              <a:t> c = </a:t>
            </a:r>
            <a:r>
              <a:rPr lang="en-US" dirty="0" err="1"/>
              <a:t>document.getElementById</a:t>
            </a:r>
            <a:r>
              <a:rPr lang="en-US" dirty="0"/>
              <a:t>("</a:t>
            </a:r>
            <a:r>
              <a:rPr lang="en-US" dirty="0" err="1"/>
              <a:t>myCanvas</a:t>
            </a:r>
            <a:r>
              <a:rPr lang="en-US" dirty="0"/>
              <a:t>");</a:t>
            </a:r>
            <a:br>
              <a:rPr lang="en-US" dirty="0"/>
            </a:br>
            <a:r>
              <a:rPr lang="en-US" dirty="0" err="1"/>
              <a:t>var</a:t>
            </a:r>
            <a:r>
              <a:rPr lang="en-US" dirty="0"/>
              <a:t> </a:t>
            </a:r>
            <a:r>
              <a:rPr lang="en-US" dirty="0" err="1"/>
              <a:t>ctx</a:t>
            </a:r>
            <a:r>
              <a:rPr lang="en-US" dirty="0"/>
              <a:t> = </a:t>
            </a:r>
            <a:r>
              <a:rPr lang="en-US" dirty="0" err="1"/>
              <a:t>c.getContext</a:t>
            </a:r>
            <a:r>
              <a:rPr lang="en-US" dirty="0"/>
              <a:t>("2d");</a:t>
            </a:r>
            <a:br>
              <a:rPr lang="en-US" dirty="0"/>
            </a:br>
            <a:r>
              <a:rPr lang="en-US" dirty="0" err="1"/>
              <a:t>ctx.font</a:t>
            </a:r>
            <a:r>
              <a:rPr lang="en-US" dirty="0"/>
              <a:t> = "30px Arial";</a:t>
            </a:r>
            <a:br>
              <a:rPr lang="en-US" dirty="0"/>
            </a:br>
            <a:r>
              <a:rPr lang="en-US" dirty="0" err="1"/>
              <a:t>ctx.strokeText</a:t>
            </a:r>
            <a:r>
              <a:rPr lang="en-US" dirty="0"/>
              <a:t>("Hello World", 10, 50);</a:t>
            </a:r>
            <a:br>
              <a:rPr lang="en-US" dirty="0"/>
            </a:br>
            <a:r>
              <a:rPr lang="en-US" dirty="0"/>
              <a:t>&lt;/script&gt; </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0547" y="3581400"/>
            <a:ext cx="3223978" cy="16253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568419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text -The </a:t>
            </a:r>
            <a:r>
              <a:rPr lang="en-US" dirty="0"/>
              <a:t>text to write on the canvas 	</a:t>
            </a:r>
            <a:endParaRPr lang="en-US" dirty="0" smtClean="0"/>
          </a:p>
          <a:p>
            <a:r>
              <a:rPr lang="en-US" dirty="0"/>
              <a:t>x</a:t>
            </a:r>
            <a:r>
              <a:rPr lang="en-US" dirty="0" smtClean="0"/>
              <a:t> - The </a:t>
            </a:r>
            <a:r>
              <a:rPr lang="en-US" dirty="0"/>
              <a:t>x coordinate to start the text 	</a:t>
            </a:r>
          </a:p>
          <a:p>
            <a:r>
              <a:rPr lang="en-US" dirty="0" smtClean="0"/>
              <a:t>y - The </a:t>
            </a:r>
            <a:r>
              <a:rPr lang="en-US" dirty="0"/>
              <a:t>y coordinate to start the text 	</a:t>
            </a:r>
          </a:p>
          <a:p>
            <a:r>
              <a:rPr lang="en-US" dirty="0" err="1"/>
              <a:t>maxWidth</a:t>
            </a:r>
            <a:r>
              <a:rPr lang="en-US" dirty="0"/>
              <a:t> </a:t>
            </a:r>
            <a:r>
              <a:rPr lang="en-US" dirty="0" smtClean="0"/>
              <a:t>(</a:t>
            </a:r>
            <a:r>
              <a:rPr lang="en-US" dirty="0"/>
              <a:t>Optional) </a:t>
            </a:r>
            <a:r>
              <a:rPr lang="en-US" dirty="0" smtClean="0"/>
              <a:t>- The </a:t>
            </a:r>
            <a:r>
              <a:rPr lang="en-US" dirty="0"/>
              <a:t>maximum text width in pixels</a:t>
            </a:r>
          </a:p>
        </p:txBody>
      </p:sp>
    </p:spTree>
    <p:extLst>
      <p:ext uri="{BB962C8B-B14F-4D97-AF65-F5344CB8AC3E}">
        <p14:creationId xmlns:p14="http://schemas.microsoft.com/office/powerpoint/2010/main" val="193669783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315200" cy="1154097"/>
          </a:xfrm>
        </p:spPr>
        <p:txBody>
          <a:bodyPr>
            <a:normAutofit/>
          </a:bodyPr>
          <a:lstStyle/>
          <a:p>
            <a:r>
              <a:rPr lang="en-US" b="1" dirty="0"/>
              <a:t>Draw Linear </a:t>
            </a:r>
            <a:r>
              <a:rPr lang="en-US" b="1" dirty="0" smtClean="0"/>
              <a:t>Gradient</a:t>
            </a:r>
            <a:endParaRPr lang="en-US" dirty="0"/>
          </a:p>
        </p:txBody>
      </p:sp>
      <p:sp>
        <p:nvSpPr>
          <p:cNvPr id="3" name="Content Placeholder 2"/>
          <p:cNvSpPr>
            <a:spLocks noGrp="1"/>
          </p:cNvSpPr>
          <p:nvPr>
            <p:ph idx="1"/>
          </p:nvPr>
        </p:nvSpPr>
        <p:spPr>
          <a:xfrm>
            <a:off x="914400" y="1337273"/>
            <a:ext cx="7315200" cy="3539527"/>
          </a:xfrm>
        </p:spPr>
        <p:txBody>
          <a:bodyPr>
            <a:noAutofit/>
          </a:bodyPr>
          <a:lstStyle/>
          <a:p>
            <a:pPr marL="45720" indent="0">
              <a:buNone/>
            </a:pPr>
            <a:r>
              <a:rPr lang="en-US" sz="2400" dirty="0"/>
              <a:t>&lt;script&gt;</a:t>
            </a:r>
            <a:br>
              <a:rPr lang="en-US" sz="2400" dirty="0"/>
            </a:br>
            <a:r>
              <a:rPr lang="en-US" sz="2400" dirty="0" err="1"/>
              <a:t>var</a:t>
            </a:r>
            <a:r>
              <a:rPr lang="en-US" sz="2400" dirty="0"/>
              <a:t> c = </a:t>
            </a:r>
            <a:r>
              <a:rPr lang="en-US" sz="2400" dirty="0" err="1"/>
              <a:t>document.getElementById</a:t>
            </a:r>
            <a:r>
              <a:rPr lang="en-US" sz="2400" dirty="0"/>
              <a:t>("</a:t>
            </a:r>
            <a:r>
              <a:rPr lang="en-US" sz="2400" dirty="0" err="1"/>
              <a:t>myCanvas</a:t>
            </a:r>
            <a:r>
              <a:rPr lang="en-US" sz="2400" dirty="0"/>
              <a:t>");</a:t>
            </a:r>
            <a:br>
              <a:rPr lang="en-US" sz="2400" dirty="0"/>
            </a:br>
            <a:r>
              <a:rPr lang="en-US" sz="2400" dirty="0" err="1"/>
              <a:t>var</a:t>
            </a:r>
            <a:r>
              <a:rPr lang="en-US" sz="2400" dirty="0"/>
              <a:t> </a:t>
            </a:r>
            <a:r>
              <a:rPr lang="en-US" sz="2400" dirty="0" err="1"/>
              <a:t>ctx</a:t>
            </a:r>
            <a:r>
              <a:rPr lang="en-US" sz="2400" dirty="0"/>
              <a:t> = </a:t>
            </a:r>
            <a:r>
              <a:rPr lang="en-US" sz="2400" dirty="0" err="1"/>
              <a:t>c.getContext</a:t>
            </a:r>
            <a:r>
              <a:rPr lang="en-US" sz="2400" dirty="0"/>
              <a:t>("2d");</a:t>
            </a:r>
            <a:br>
              <a:rPr lang="en-US" sz="2400" dirty="0"/>
            </a:br>
            <a:r>
              <a:rPr lang="en-US" sz="2400" dirty="0"/>
              <a:t/>
            </a:r>
            <a:br>
              <a:rPr lang="en-US" sz="2400" dirty="0"/>
            </a:br>
            <a:r>
              <a:rPr lang="en-US" sz="2400" dirty="0"/>
              <a:t>// Create gradient</a:t>
            </a:r>
            <a:br>
              <a:rPr lang="en-US" sz="2400" dirty="0"/>
            </a:br>
            <a:r>
              <a:rPr lang="en-US" sz="2400" dirty="0" err="1"/>
              <a:t>var</a:t>
            </a:r>
            <a:r>
              <a:rPr lang="en-US" sz="2400" dirty="0"/>
              <a:t> </a:t>
            </a:r>
            <a:r>
              <a:rPr lang="en-US" sz="2400" dirty="0" err="1"/>
              <a:t>grd</a:t>
            </a:r>
            <a:r>
              <a:rPr lang="en-US" sz="2400" dirty="0"/>
              <a:t> = </a:t>
            </a:r>
            <a:r>
              <a:rPr lang="en-US" sz="2400" dirty="0" err="1"/>
              <a:t>ctx.createLinearGradient</a:t>
            </a:r>
            <a:r>
              <a:rPr lang="en-US" sz="2400" dirty="0"/>
              <a:t>(0, 0, 200, 0);</a:t>
            </a:r>
            <a:br>
              <a:rPr lang="en-US" sz="2400" dirty="0"/>
            </a:br>
            <a:r>
              <a:rPr lang="en-US" sz="2400" dirty="0" err="1"/>
              <a:t>grd.addColorStop</a:t>
            </a:r>
            <a:r>
              <a:rPr lang="en-US" sz="2400" dirty="0"/>
              <a:t>(0, "red");</a:t>
            </a:r>
            <a:br>
              <a:rPr lang="en-US" sz="2400" dirty="0"/>
            </a:br>
            <a:r>
              <a:rPr lang="en-US" sz="2400" dirty="0" err="1"/>
              <a:t>grd.addColorStop</a:t>
            </a:r>
            <a:r>
              <a:rPr lang="en-US" sz="2400" dirty="0"/>
              <a:t>(1, "white");</a:t>
            </a:r>
            <a:br>
              <a:rPr lang="en-US" sz="2400" dirty="0"/>
            </a:br>
            <a:r>
              <a:rPr lang="en-US" sz="2400" dirty="0"/>
              <a:t/>
            </a:r>
            <a:br>
              <a:rPr lang="en-US" sz="2400" dirty="0"/>
            </a:br>
            <a:r>
              <a:rPr lang="en-US" sz="2400" dirty="0"/>
              <a:t>// Fill with gradient</a:t>
            </a:r>
            <a:br>
              <a:rPr lang="en-US" sz="2400" dirty="0"/>
            </a:br>
            <a:r>
              <a:rPr lang="en-US" sz="2400" dirty="0" err="1"/>
              <a:t>ctx.fillStyle</a:t>
            </a:r>
            <a:r>
              <a:rPr lang="en-US" sz="2400" dirty="0"/>
              <a:t> = </a:t>
            </a:r>
            <a:r>
              <a:rPr lang="en-US" sz="2400" dirty="0" err="1"/>
              <a:t>grd</a:t>
            </a:r>
            <a:r>
              <a:rPr lang="en-US" sz="2400" dirty="0"/>
              <a:t>;</a:t>
            </a:r>
            <a:br>
              <a:rPr lang="en-US" sz="2400" dirty="0"/>
            </a:br>
            <a:r>
              <a:rPr lang="en-US" sz="2400" dirty="0" err="1"/>
              <a:t>ctx.fillRect</a:t>
            </a:r>
            <a:r>
              <a:rPr lang="en-US" sz="2400" dirty="0"/>
              <a:t>(10, 10, 150, 80);</a:t>
            </a:r>
            <a:br>
              <a:rPr lang="en-US" sz="2400" dirty="0"/>
            </a:br>
            <a:r>
              <a:rPr lang="en-US" sz="2400" dirty="0"/>
              <a:t>&lt;/script&gt; </a:t>
            </a:r>
          </a:p>
        </p:txBody>
      </p:sp>
      <p:pic>
        <p:nvPicPr>
          <p:cNvPr id="184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4114800"/>
            <a:ext cx="3816558" cy="192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9819461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315200" cy="1154097"/>
          </a:xfrm>
        </p:spPr>
        <p:txBody>
          <a:bodyPr>
            <a:normAutofit/>
          </a:bodyPr>
          <a:lstStyle/>
          <a:p>
            <a:r>
              <a:rPr lang="en-US" b="1" dirty="0"/>
              <a:t>Draw Circular </a:t>
            </a:r>
            <a:r>
              <a:rPr lang="en-US" b="1" dirty="0" smtClean="0"/>
              <a:t>Gradient</a:t>
            </a:r>
            <a:endParaRPr lang="en-US" dirty="0"/>
          </a:p>
        </p:txBody>
      </p:sp>
      <p:sp>
        <p:nvSpPr>
          <p:cNvPr id="3" name="Content Placeholder 2"/>
          <p:cNvSpPr>
            <a:spLocks noGrp="1"/>
          </p:cNvSpPr>
          <p:nvPr>
            <p:ph idx="1"/>
          </p:nvPr>
        </p:nvSpPr>
        <p:spPr>
          <a:xfrm>
            <a:off x="914400" y="1371600"/>
            <a:ext cx="7315200" cy="3539527"/>
          </a:xfrm>
        </p:spPr>
        <p:txBody>
          <a:bodyPr>
            <a:normAutofit fontScale="92500" lnSpcReduction="10000"/>
          </a:bodyPr>
          <a:lstStyle/>
          <a:p>
            <a:pPr marL="45720" indent="0">
              <a:buNone/>
            </a:pPr>
            <a:r>
              <a:rPr lang="en-US" dirty="0"/>
              <a:t>&lt;script&gt;</a:t>
            </a:r>
            <a:br>
              <a:rPr lang="en-US" dirty="0"/>
            </a:br>
            <a:r>
              <a:rPr lang="en-US" dirty="0" err="1"/>
              <a:t>var</a:t>
            </a:r>
            <a:r>
              <a:rPr lang="en-US" dirty="0"/>
              <a:t> c = </a:t>
            </a:r>
            <a:r>
              <a:rPr lang="en-US" dirty="0" err="1"/>
              <a:t>document.getElementById</a:t>
            </a:r>
            <a:r>
              <a:rPr lang="en-US" dirty="0"/>
              <a:t>("</a:t>
            </a:r>
            <a:r>
              <a:rPr lang="en-US" dirty="0" err="1"/>
              <a:t>myCanvas</a:t>
            </a:r>
            <a:r>
              <a:rPr lang="en-US" dirty="0"/>
              <a:t>");</a:t>
            </a:r>
            <a:br>
              <a:rPr lang="en-US" dirty="0"/>
            </a:br>
            <a:r>
              <a:rPr lang="en-US" dirty="0" err="1"/>
              <a:t>var</a:t>
            </a:r>
            <a:r>
              <a:rPr lang="en-US" dirty="0"/>
              <a:t> </a:t>
            </a:r>
            <a:r>
              <a:rPr lang="en-US" dirty="0" err="1"/>
              <a:t>ctx</a:t>
            </a:r>
            <a:r>
              <a:rPr lang="en-US" dirty="0"/>
              <a:t> = </a:t>
            </a:r>
            <a:r>
              <a:rPr lang="en-US" dirty="0" err="1"/>
              <a:t>c.getContext</a:t>
            </a:r>
            <a:r>
              <a:rPr lang="en-US" dirty="0"/>
              <a:t>("2d");</a:t>
            </a:r>
            <a:br>
              <a:rPr lang="en-US" dirty="0"/>
            </a:br>
            <a:r>
              <a:rPr lang="en-US" dirty="0"/>
              <a:t/>
            </a:r>
            <a:br>
              <a:rPr lang="en-US" dirty="0"/>
            </a:br>
            <a:r>
              <a:rPr lang="en-US" dirty="0"/>
              <a:t>// Create gradient</a:t>
            </a:r>
            <a:br>
              <a:rPr lang="en-US" dirty="0"/>
            </a:br>
            <a:r>
              <a:rPr lang="en-US" dirty="0" err="1"/>
              <a:t>var</a:t>
            </a:r>
            <a:r>
              <a:rPr lang="en-US" dirty="0"/>
              <a:t> </a:t>
            </a:r>
            <a:r>
              <a:rPr lang="en-US" dirty="0" err="1"/>
              <a:t>grd</a:t>
            </a:r>
            <a:r>
              <a:rPr lang="en-US" dirty="0"/>
              <a:t> = </a:t>
            </a:r>
            <a:r>
              <a:rPr lang="en-US" dirty="0" err="1"/>
              <a:t>ctx.createRadialGradient</a:t>
            </a:r>
            <a:r>
              <a:rPr lang="en-US" dirty="0"/>
              <a:t>(75, 50, 5, 90, 60, 100);</a:t>
            </a:r>
            <a:br>
              <a:rPr lang="en-US" dirty="0"/>
            </a:br>
            <a:r>
              <a:rPr lang="en-US" dirty="0" err="1"/>
              <a:t>grd.addColorStop</a:t>
            </a:r>
            <a:r>
              <a:rPr lang="en-US" dirty="0"/>
              <a:t>(0, "red");</a:t>
            </a:r>
            <a:br>
              <a:rPr lang="en-US" dirty="0"/>
            </a:br>
            <a:r>
              <a:rPr lang="en-US" dirty="0" err="1"/>
              <a:t>grd.addColorStop</a:t>
            </a:r>
            <a:r>
              <a:rPr lang="en-US" dirty="0"/>
              <a:t>(1, "white");</a:t>
            </a:r>
            <a:br>
              <a:rPr lang="en-US" dirty="0"/>
            </a:br>
            <a:r>
              <a:rPr lang="en-US" dirty="0"/>
              <a:t/>
            </a:r>
            <a:br>
              <a:rPr lang="en-US" dirty="0"/>
            </a:br>
            <a:r>
              <a:rPr lang="en-US" dirty="0"/>
              <a:t>// Fill with gradient</a:t>
            </a:r>
            <a:br>
              <a:rPr lang="en-US" dirty="0"/>
            </a:br>
            <a:r>
              <a:rPr lang="en-US" dirty="0" err="1"/>
              <a:t>ctx.fillStyle</a:t>
            </a:r>
            <a:r>
              <a:rPr lang="en-US" dirty="0"/>
              <a:t> = </a:t>
            </a:r>
            <a:r>
              <a:rPr lang="en-US" dirty="0" err="1"/>
              <a:t>grd</a:t>
            </a:r>
            <a:r>
              <a:rPr lang="en-US" dirty="0"/>
              <a:t>;</a:t>
            </a:r>
            <a:br>
              <a:rPr lang="en-US" dirty="0"/>
            </a:br>
            <a:r>
              <a:rPr lang="en-US" dirty="0" err="1"/>
              <a:t>ctx.fillRect</a:t>
            </a:r>
            <a:r>
              <a:rPr lang="en-US" dirty="0"/>
              <a:t>(10, 10, 150, 80);</a:t>
            </a:r>
            <a:br>
              <a:rPr lang="en-US" dirty="0"/>
            </a:br>
            <a:r>
              <a:rPr lang="en-US" dirty="0"/>
              <a:t>&lt;/script&gt; </a:t>
            </a: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4343400"/>
            <a:ext cx="3657600"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2185401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990601"/>
            <a:ext cx="7315200" cy="5318760"/>
          </a:xfrm>
        </p:spPr>
        <p:txBody>
          <a:bodyPr>
            <a:normAutofit fontScale="85000" lnSpcReduction="10000"/>
          </a:bodyPr>
          <a:lstStyle/>
          <a:p>
            <a:r>
              <a:rPr lang="en-US" i="1" dirty="0" err="1"/>
              <a:t>context</a:t>
            </a:r>
            <a:r>
              <a:rPr lang="en-US" dirty="0" err="1"/>
              <a:t>.createLinearGradient</a:t>
            </a:r>
            <a:r>
              <a:rPr lang="en-US" dirty="0"/>
              <a:t>(</a:t>
            </a:r>
            <a:r>
              <a:rPr lang="en-US" i="1" dirty="0"/>
              <a:t>x0, y0, x1, y1</a:t>
            </a:r>
            <a:r>
              <a:rPr lang="en-US" dirty="0" smtClean="0"/>
              <a:t>)</a:t>
            </a:r>
          </a:p>
          <a:p>
            <a:r>
              <a:rPr lang="en-US" dirty="0"/>
              <a:t>x0 </a:t>
            </a:r>
            <a:r>
              <a:rPr lang="en-US" dirty="0" smtClean="0"/>
              <a:t>- The </a:t>
            </a:r>
            <a:r>
              <a:rPr lang="en-US" dirty="0"/>
              <a:t>x-coordinate of the start point of the gradient </a:t>
            </a:r>
          </a:p>
          <a:p>
            <a:r>
              <a:rPr lang="en-US" dirty="0" smtClean="0"/>
              <a:t>y0 - The </a:t>
            </a:r>
            <a:r>
              <a:rPr lang="en-US" dirty="0"/>
              <a:t>y-coordinate of the start point of the gradient </a:t>
            </a:r>
          </a:p>
          <a:p>
            <a:r>
              <a:rPr lang="en-US" dirty="0"/>
              <a:t>x1 </a:t>
            </a:r>
            <a:r>
              <a:rPr lang="en-US" dirty="0" smtClean="0"/>
              <a:t>- The </a:t>
            </a:r>
            <a:r>
              <a:rPr lang="en-US" dirty="0"/>
              <a:t>x-coordinate of the end point of the gradient 	</a:t>
            </a:r>
          </a:p>
          <a:p>
            <a:r>
              <a:rPr lang="en-US" dirty="0"/>
              <a:t>y1 </a:t>
            </a:r>
            <a:r>
              <a:rPr lang="en-US" dirty="0" smtClean="0"/>
              <a:t>- The </a:t>
            </a:r>
            <a:r>
              <a:rPr lang="en-US" dirty="0"/>
              <a:t>y-coordinate of the end point of the </a:t>
            </a:r>
            <a:r>
              <a:rPr lang="en-US" dirty="0" smtClean="0"/>
              <a:t>gradient</a:t>
            </a:r>
          </a:p>
          <a:p>
            <a:endParaRPr lang="en-IN" dirty="0"/>
          </a:p>
          <a:p>
            <a:r>
              <a:rPr lang="en-US" i="1" dirty="0" err="1"/>
              <a:t>context</a:t>
            </a:r>
            <a:r>
              <a:rPr lang="en-US" dirty="0" err="1"/>
              <a:t>.fillRect</a:t>
            </a:r>
            <a:r>
              <a:rPr lang="en-US" dirty="0"/>
              <a:t>(</a:t>
            </a:r>
            <a:r>
              <a:rPr lang="en-US" i="1" dirty="0"/>
              <a:t>x, y, width, height</a:t>
            </a:r>
            <a:r>
              <a:rPr lang="en-US" dirty="0"/>
              <a:t>)</a:t>
            </a:r>
            <a:endParaRPr lang="en-US" dirty="0" smtClean="0"/>
          </a:p>
          <a:p>
            <a:r>
              <a:rPr lang="en-US" dirty="0"/>
              <a:t>The </a:t>
            </a:r>
            <a:r>
              <a:rPr lang="en-US" dirty="0" err="1"/>
              <a:t>fillRect</a:t>
            </a:r>
            <a:r>
              <a:rPr lang="en-US" dirty="0"/>
              <a:t>() method draws a "filled" rectangle</a:t>
            </a:r>
            <a:r>
              <a:rPr lang="en-US" dirty="0" smtClean="0"/>
              <a:t>.</a:t>
            </a:r>
          </a:p>
          <a:p>
            <a:r>
              <a:rPr lang="en-US" dirty="0"/>
              <a:t>The </a:t>
            </a:r>
            <a:r>
              <a:rPr lang="en-US" dirty="0" err="1"/>
              <a:t>fillRect</a:t>
            </a:r>
            <a:r>
              <a:rPr lang="en-US" dirty="0"/>
              <a:t>() method does not change the current path.</a:t>
            </a:r>
          </a:p>
          <a:p>
            <a:r>
              <a:rPr lang="en-US" dirty="0"/>
              <a:t>The default </a:t>
            </a:r>
            <a:r>
              <a:rPr lang="en-US" dirty="0" err="1"/>
              <a:t>fillStyle</a:t>
            </a:r>
            <a:r>
              <a:rPr lang="en-US" dirty="0"/>
              <a:t> is #000000 (solid black).</a:t>
            </a:r>
          </a:p>
          <a:p>
            <a:endParaRPr lang="en-US" dirty="0" smtClean="0"/>
          </a:p>
          <a:p>
            <a:r>
              <a:rPr lang="en-US" dirty="0" smtClean="0"/>
              <a:t>The </a:t>
            </a:r>
            <a:r>
              <a:rPr lang="en-US" b="1" dirty="0" err="1"/>
              <a:t>fillRect</a:t>
            </a:r>
            <a:r>
              <a:rPr lang="en-US" b="1" dirty="0"/>
              <a:t>()</a:t>
            </a:r>
            <a:r>
              <a:rPr lang="en-US" dirty="0"/>
              <a:t> method draws a </a:t>
            </a:r>
            <a:r>
              <a:rPr lang="en-US" dirty="0" smtClean="0"/>
              <a:t>rectangle </a:t>
            </a:r>
            <a:r>
              <a:rPr lang="en-US" dirty="0"/>
              <a:t>with a top-left corner at position </a:t>
            </a:r>
            <a:r>
              <a:rPr lang="en-US" dirty="0" smtClean="0"/>
              <a:t>10,10</a:t>
            </a:r>
            <a:r>
              <a:rPr lang="en-US" dirty="0"/>
              <a:t>. The rectangle is 150 pixel wide and </a:t>
            </a:r>
            <a:r>
              <a:rPr lang="en-US" dirty="0" smtClean="0"/>
              <a:t>80 </a:t>
            </a:r>
            <a:r>
              <a:rPr lang="en-US" dirty="0"/>
              <a:t>pixels high</a:t>
            </a:r>
            <a:r>
              <a:rPr lang="en-US" dirty="0" smtClean="0"/>
              <a:t>.</a:t>
            </a:r>
          </a:p>
          <a:p>
            <a:r>
              <a:rPr lang="en-US" dirty="0"/>
              <a:t>x </a:t>
            </a:r>
            <a:r>
              <a:rPr lang="en-US" dirty="0" smtClean="0"/>
              <a:t>- The </a:t>
            </a:r>
            <a:r>
              <a:rPr lang="en-US" dirty="0"/>
              <a:t>x-coordinate of the upper-left corner of the </a:t>
            </a:r>
            <a:r>
              <a:rPr lang="en-US" dirty="0" smtClean="0"/>
              <a:t>rectangle</a:t>
            </a:r>
            <a:endParaRPr lang="en-US" dirty="0"/>
          </a:p>
          <a:p>
            <a:r>
              <a:rPr lang="en-US" dirty="0"/>
              <a:t>y </a:t>
            </a:r>
            <a:r>
              <a:rPr lang="en-US" dirty="0" smtClean="0"/>
              <a:t>- The </a:t>
            </a:r>
            <a:r>
              <a:rPr lang="en-US" dirty="0"/>
              <a:t>y-coordinate of the upper-left corner of the </a:t>
            </a:r>
            <a:r>
              <a:rPr lang="en-US" dirty="0" smtClean="0"/>
              <a:t>rectangle</a:t>
            </a:r>
            <a:r>
              <a:rPr lang="en-US" dirty="0"/>
              <a:t>	</a:t>
            </a:r>
          </a:p>
          <a:p>
            <a:r>
              <a:rPr lang="en-US" dirty="0"/>
              <a:t>width 	</a:t>
            </a:r>
            <a:r>
              <a:rPr lang="en-US" dirty="0" smtClean="0"/>
              <a:t>- The </a:t>
            </a:r>
            <a:r>
              <a:rPr lang="en-US" dirty="0"/>
              <a:t>width of the rectangle, in pixels 	</a:t>
            </a:r>
          </a:p>
          <a:p>
            <a:r>
              <a:rPr lang="en-US" dirty="0"/>
              <a:t>height </a:t>
            </a:r>
            <a:r>
              <a:rPr lang="en-US" dirty="0" smtClean="0"/>
              <a:t>-The </a:t>
            </a:r>
            <a:r>
              <a:rPr lang="en-US" dirty="0"/>
              <a:t>height of the rectangle, in pixels</a:t>
            </a:r>
          </a:p>
        </p:txBody>
      </p:sp>
    </p:spTree>
    <p:extLst>
      <p:ext uri="{BB962C8B-B14F-4D97-AF65-F5344CB8AC3E}">
        <p14:creationId xmlns:p14="http://schemas.microsoft.com/office/powerpoint/2010/main" val="411654952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533401"/>
            <a:ext cx="7315200" cy="5775960"/>
          </a:xfrm>
        </p:spPr>
        <p:txBody>
          <a:bodyPr/>
          <a:lstStyle/>
          <a:p>
            <a:r>
              <a:rPr lang="en-US" i="1" dirty="0" err="1"/>
              <a:t>context</a:t>
            </a:r>
            <a:r>
              <a:rPr lang="en-US" dirty="0" err="1"/>
              <a:t>.createRadialGradient</a:t>
            </a:r>
            <a:r>
              <a:rPr lang="en-US" dirty="0"/>
              <a:t>(</a:t>
            </a:r>
            <a:r>
              <a:rPr lang="en-US" i="1" dirty="0"/>
              <a:t>x0, y0, r0, x1, y1, r1</a:t>
            </a:r>
            <a:r>
              <a:rPr lang="en-US" dirty="0" smtClean="0"/>
              <a:t>)</a:t>
            </a:r>
          </a:p>
          <a:p>
            <a:endParaRPr lang="en-IN" dirty="0"/>
          </a:p>
          <a:p>
            <a:r>
              <a:rPr lang="en-US" dirty="0"/>
              <a:t>x0 </a:t>
            </a:r>
            <a:r>
              <a:rPr lang="en-US" dirty="0" smtClean="0"/>
              <a:t>- The </a:t>
            </a:r>
            <a:r>
              <a:rPr lang="en-US" dirty="0"/>
              <a:t>x-coordinate of the starting circle of the gradient</a:t>
            </a:r>
          </a:p>
          <a:p>
            <a:r>
              <a:rPr lang="en-US" dirty="0"/>
              <a:t>y0 </a:t>
            </a:r>
            <a:r>
              <a:rPr lang="en-US" dirty="0" smtClean="0"/>
              <a:t>- The </a:t>
            </a:r>
            <a:r>
              <a:rPr lang="en-US" dirty="0"/>
              <a:t>y-coordinate of the starting circle of the gradient</a:t>
            </a:r>
          </a:p>
          <a:p>
            <a:r>
              <a:rPr lang="en-US" dirty="0"/>
              <a:t>r0 </a:t>
            </a:r>
            <a:r>
              <a:rPr lang="en-US" dirty="0" smtClean="0"/>
              <a:t>- The </a:t>
            </a:r>
            <a:r>
              <a:rPr lang="en-US" dirty="0"/>
              <a:t>radius of the starting circle</a:t>
            </a:r>
          </a:p>
          <a:p>
            <a:r>
              <a:rPr lang="en-US" dirty="0"/>
              <a:t>x1 </a:t>
            </a:r>
            <a:r>
              <a:rPr lang="en-US" dirty="0" smtClean="0"/>
              <a:t>- The </a:t>
            </a:r>
            <a:r>
              <a:rPr lang="en-US" dirty="0"/>
              <a:t>x-coordinate of the ending circle of the gradient</a:t>
            </a:r>
          </a:p>
          <a:p>
            <a:r>
              <a:rPr lang="en-US" dirty="0"/>
              <a:t>y1 </a:t>
            </a:r>
            <a:r>
              <a:rPr lang="en-US" dirty="0" smtClean="0"/>
              <a:t>- The </a:t>
            </a:r>
            <a:r>
              <a:rPr lang="en-US" dirty="0"/>
              <a:t>y-coordinate of the ending circle of the gradient</a:t>
            </a:r>
          </a:p>
          <a:p>
            <a:r>
              <a:rPr lang="en-US" dirty="0"/>
              <a:t>r1 </a:t>
            </a:r>
            <a:r>
              <a:rPr lang="en-US" dirty="0" smtClean="0"/>
              <a:t>- The </a:t>
            </a:r>
            <a:r>
              <a:rPr lang="en-US" dirty="0"/>
              <a:t>radius of the ending </a:t>
            </a:r>
            <a:r>
              <a:rPr lang="en-US" dirty="0" smtClean="0"/>
              <a:t>circle</a:t>
            </a:r>
          </a:p>
          <a:p>
            <a:endParaRPr lang="en-IN" dirty="0"/>
          </a:p>
          <a:p>
            <a:r>
              <a:rPr lang="en-US" i="1" dirty="0" err="1"/>
              <a:t>gradient</a:t>
            </a:r>
            <a:r>
              <a:rPr lang="en-US" dirty="0" err="1"/>
              <a:t>.addColorStop</a:t>
            </a:r>
            <a:r>
              <a:rPr lang="en-US" dirty="0"/>
              <a:t>(</a:t>
            </a:r>
            <a:r>
              <a:rPr lang="en-US" i="1" dirty="0"/>
              <a:t>stop</a:t>
            </a:r>
            <a:r>
              <a:rPr lang="en-US" dirty="0"/>
              <a:t>,</a:t>
            </a:r>
            <a:r>
              <a:rPr lang="en-US" i="1" dirty="0"/>
              <a:t> color</a:t>
            </a:r>
            <a:r>
              <a:rPr lang="en-US" dirty="0" smtClean="0"/>
              <a:t>)</a:t>
            </a:r>
          </a:p>
          <a:p>
            <a:r>
              <a:rPr lang="en-US" dirty="0"/>
              <a:t>stop </a:t>
            </a:r>
            <a:r>
              <a:rPr lang="en-US" dirty="0" smtClean="0"/>
              <a:t>-</a:t>
            </a:r>
            <a:r>
              <a:rPr lang="en-US" dirty="0"/>
              <a:t>	A value between 0 and 1. The position between </a:t>
            </a:r>
            <a:r>
              <a:rPr lang="en-US" dirty="0" err="1"/>
              <a:t>gradian</a:t>
            </a:r>
            <a:r>
              <a:rPr lang="en-US" dirty="0"/>
              <a:t> start and end 	</a:t>
            </a:r>
          </a:p>
          <a:p>
            <a:r>
              <a:rPr lang="en-US" dirty="0"/>
              <a:t>color 	</a:t>
            </a:r>
            <a:r>
              <a:rPr lang="en-US" dirty="0" smtClean="0"/>
              <a:t>- A </a:t>
            </a:r>
            <a:r>
              <a:rPr lang="en-US" dirty="0"/>
              <a:t>CSS color value to display at the stop position</a:t>
            </a:r>
          </a:p>
        </p:txBody>
      </p:sp>
    </p:spTree>
    <p:extLst>
      <p:ext uri="{BB962C8B-B14F-4D97-AF65-F5344CB8AC3E}">
        <p14:creationId xmlns:p14="http://schemas.microsoft.com/office/powerpoint/2010/main" val="359210181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SVG Graphics</a:t>
            </a:r>
          </a:p>
        </p:txBody>
      </p:sp>
      <p:sp>
        <p:nvSpPr>
          <p:cNvPr id="3" name="Content Placeholder 2"/>
          <p:cNvSpPr>
            <a:spLocks noGrp="1"/>
          </p:cNvSpPr>
          <p:nvPr>
            <p:ph idx="1"/>
          </p:nvPr>
        </p:nvSpPr>
        <p:spPr/>
        <p:txBody>
          <a:bodyPr/>
          <a:lstStyle/>
          <a:p>
            <a:r>
              <a:rPr lang="en-US" dirty="0"/>
              <a:t>SVG defines vector-based graphics in XML format</a:t>
            </a:r>
            <a:r>
              <a:rPr lang="en-US" dirty="0" smtClean="0"/>
              <a:t>.</a:t>
            </a:r>
          </a:p>
          <a:p>
            <a:r>
              <a:rPr lang="en-US" dirty="0"/>
              <a:t>SVG stands for Scalable Vector Graphics</a:t>
            </a:r>
          </a:p>
          <a:p>
            <a:r>
              <a:rPr lang="en-US" dirty="0"/>
              <a:t>SVG is used to define graphics for the Web</a:t>
            </a:r>
          </a:p>
          <a:p>
            <a:r>
              <a:rPr lang="en-US" dirty="0"/>
              <a:t>SVG is a W3C </a:t>
            </a:r>
            <a:r>
              <a:rPr lang="en-US" dirty="0" smtClean="0"/>
              <a:t>recommendation</a:t>
            </a:r>
          </a:p>
          <a:p>
            <a:r>
              <a:rPr lang="en-US" dirty="0"/>
              <a:t>The HTML &lt;</a:t>
            </a:r>
            <a:r>
              <a:rPr lang="en-US" dirty="0" err="1"/>
              <a:t>svg</a:t>
            </a:r>
            <a:r>
              <a:rPr lang="en-US" dirty="0"/>
              <a:t>&gt; element is a container for SVG graphics.</a:t>
            </a:r>
          </a:p>
          <a:p>
            <a:r>
              <a:rPr lang="en-US" dirty="0"/>
              <a:t>SVG has several methods for drawing paths, boxes, circles, text, and graphic images.</a:t>
            </a:r>
          </a:p>
          <a:p>
            <a:endParaRPr lang="en-US" dirty="0"/>
          </a:p>
          <a:p>
            <a:endParaRPr lang="en-US" dirty="0"/>
          </a:p>
        </p:txBody>
      </p:sp>
    </p:spTree>
    <p:extLst>
      <p:ext uri="{BB962C8B-B14F-4D97-AF65-F5344CB8AC3E}">
        <p14:creationId xmlns:p14="http://schemas.microsoft.com/office/powerpoint/2010/main" val="351553407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315200" cy="1154097"/>
          </a:xfrm>
        </p:spPr>
        <p:txBody>
          <a:bodyPr>
            <a:normAutofit/>
          </a:bodyPr>
          <a:lstStyle/>
          <a:p>
            <a:r>
              <a:rPr lang="en-US" b="1" dirty="0"/>
              <a:t>SVG </a:t>
            </a:r>
            <a:r>
              <a:rPr lang="en-US" b="1" dirty="0" smtClean="0"/>
              <a:t>Circle</a:t>
            </a:r>
            <a:endParaRPr lang="en-US" dirty="0"/>
          </a:p>
        </p:txBody>
      </p:sp>
      <p:sp>
        <p:nvSpPr>
          <p:cNvPr id="3" name="Content Placeholder 2"/>
          <p:cNvSpPr>
            <a:spLocks noGrp="1"/>
          </p:cNvSpPr>
          <p:nvPr>
            <p:ph idx="1"/>
          </p:nvPr>
        </p:nvSpPr>
        <p:spPr>
          <a:xfrm>
            <a:off x="914400" y="1295401"/>
            <a:ext cx="7315200" cy="5013960"/>
          </a:xfrm>
        </p:spPr>
        <p:txBody>
          <a:bodyPr>
            <a:noAutofit/>
          </a:bodyPr>
          <a:lstStyle/>
          <a:p>
            <a:pPr marL="45720" indent="0">
              <a:buNone/>
            </a:pPr>
            <a:r>
              <a:rPr lang="en-US" sz="2600" dirty="0"/>
              <a:t>&lt;!DOCTYPE html&gt;</a:t>
            </a:r>
          </a:p>
          <a:p>
            <a:pPr marL="45720" indent="0">
              <a:buNone/>
            </a:pPr>
            <a:r>
              <a:rPr lang="en-US" sz="2600" dirty="0"/>
              <a:t>&lt;html&gt;</a:t>
            </a:r>
          </a:p>
          <a:p>
            <a:pPr marL="45720" indent="0">
              <a:buNone/>
            </a:pPr>
            <a:r>
              <a:rPr lang="en-US" sz="2600" dirty="0"/>
              <a:t>&lt;body</a:t>
            </a:r>
            <a:r>
              <a:rPr lang="en-US" sz="2600" dirty="0" smtClean="0"/>
              <a:t>&gt;</a:t>
            </a:r>
            <a:endParaRPr lang="en-US" sz="2600" dirty="0"/>
          </a:p>
          <a:p>
            <a:pPr marL="45720" indent="0">
              <a:buNone/>
            </a:pPr>
            <a:r>
              <a:rPr lang="en-US" sz="2600" dirty="0"/>
              <a:t>&lt;</a:t>
            </a:r>
            <a:r>
              <a:rPr lang="en-US" sz="2600" dirty="0" err="1"/>
              <a:t>svg</a:t>
            </a:r>
            <a:r>
              <a:rPr lang="en-US" sz="2600" dirty="0"/>
              <a:t> width="100" height="100"&gt;</a:t>
            </a:r>
          </a:p>
          <a:p>
            <a:pPr marL="45720" indent="0">
              <a:buNone/>
            </a:pPr>
            <a:r>
              <a:rPr lang="en-US" sz="2600" dirty="0"/>
              <a:t>  &lt;circle cx="50" cy="50" r="40"</a:t>
            </a:r>
          </a:p>
          <a:p>
            <a:pPr marL="45720" indent="0">
              <a:buNone/>
            </a:pPr>
            <a:r>
              <a:rPr lang="en-US" sz="2600" dirty="0"/>
              <a:t>  stroke="green" stroke-width="4" fill="yellow" /&gt;</a:t>
            </a:r>
          </a:p>
          <a:p>
            <a:pPr marL="45720" indent="0">
              <a:buNone/>
            </a:pPr>
            <a:r>
              <a:rPr lang="en-US" sz="2600" dirty="0"/>
              <a:t>Sorry, your browser does not support inline SVG.</a:t>
            </a:r>
          </a:p>
          <a:p>
            <a:pPr marL="45720" indent="0">
              <a:buNone/>
            </a:pPr>
            <a:r>
              <a:rPr lang="en-US" sz="2600" dirty="0"/>
              <a:t>&lt;/</a:t>
            </a:r>
            <a:r>
              <a:rPr lang="en-US" sz="2600" dirty="0" err="1"/>
              <a:t>svg</a:t>
            </a:r>
            <a:r>
              <a:rPr lang="en-US" sz="2600" dirty="0" smtClean="0"/>
              <a:t>&gt;</a:t>
            </a:r>
            <a:endParaRPr lang="en-US" sz="2600" dirty="0"/>
          </a:p>
          <a:p>
            <a:pPr marL="45720" indent="0">
              <a:buNone/>
            </a:pPr>
            <a:r>
              <a:rPr lang="en-US" sz="2600" dirty="0"/>
              <a:t>&lt;/body&gt;</a:t>
            </a:r>
          </a:p>
          <a:p>
            <a:pPr marL="45720" indent="0">
              <a:buNone/>
            </a:pPr>
            <a:r>
              <a:rPr lang="en-US" sz="2600" dirty="0"/>
              <a:t>&lt;/html&gt;</a:t>
            </a:r>
          </a:p>
          <a:p>
            <a:endParaRPr lang="en-US" sz="2600"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1219200"/>
            <a:ext cx="1447800" cy="144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1100653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315200" cy="1154097"/>
          </a:xfrm>
        </p:spPr>
        <p:txBody>
          <a:bodyPr>
            <a:normAutofit/>
          </a:bodyPr>
          <a:lstStyle/>
          <a:p>
            <a:r>
              <a:rPr lang="en-US" b="1" dirty="0"/>
              <a:t>SVG </a:t>
            </a:r>
            <a:r>
              <a:rPr lang="en-US" b="1" dirty="0" smtClean="0"/>
              <a:t>Rectangle</a:t>
            </a:r>
            <a:endParaRPr lang="en-US" dirty="0"/>
          </a:p>
        </p:txBody>
      </p:sp>
      <p:sp>
        <p:nvSpPr>
          <p:cNvPr id="3" name="Content Placeholder 2"/>
          <p:cNvSpPr>
            <a:spLocks noGrp="1"/>
          </p:cNvSpPr>
          <p:nvPr>
            <p:ph idx="1"/>
          </p:nvPr>
        </p:nvSpPr>
        <p:spPr>
          <a:xfrm>
            <a:off x="914400" y="1295401"/>
            <a:ext cx="7315200" cy="5013960"/>
          </a:xfrm>
        </p:spPr>
        <p:txBody>
          <a:bodyPr>
            <a:normAutofit/>
          </a:bodyPr>
          <a:lstStyle/>
          <a:p>
            <a:pPr marL="45720" indent="0">
              <a:buNone/>
            </a:pPr>
            <a:r>
              <a:rPr lang="en-US" sz="2800" dirty="0"/>
              <a:t>&lt;</a:t>
            </a:r>
            <a:r>
              <a:rPr lang="en-US" sz="2800" dirty="0" err="1"/>
              <a:t>svg</a:t>
            </a:r>
            <a:r>
              <a:rPr lang="en-US" sz="2800" dirty="0"/>
              <a:t> width="400" height="100"&gt;</a:t>
            </a:r>
            <a:br>
              <a:rPr lang="en-US" sz="2800" dirty="0"/>
            </a:br>
            <a:r>
              <a:rPr lang="en-US" sz="2800" dirty="0"/>
              <a:t>  &lt;</a:t>
            </a:r>
            <a:r>
              <a:rPr lang="en-US" sz="2800" dirty="0" err="1"/>
              <a:t>rect</a:t>
            </a:r>
            <a:r>
              <a:rPr lang="en-US" sz="2800" dirty="0"/>
              <a:t> width="400" height="100" style="</a:t>
            </a:r>
            <a:r>
              <a:rPr lang="en-US" sz="2800" dirty="0" err="1"/>
              <a:t>fill:rgb</a:t>
            </a:r>
            <a:r>
              <a:rPr lang="en-US" sz="2800" dirty="0"/>
              <a:t>(0,0,255);stroke-width:10;stroke:rgb(0,0,0)" /&gt;</a:t>
            </a:r>
            <a:br>
              <a:rPr lang="en-US" sz="2800" dirty="0"/>
            </a:br>
            <a:r>
              <a:rPr lang="en-US" sz="2800" dirty="0"/>
              <a:t>&lt;/</a:t>
            </a:r>
            <a:r>
              <a:rPr lang="en-US" sz="2800" dirty="0" err="1"/>
              <a:t>svg</a:t>
            </a:r>
            <a:r>
              <a:rPr lang="en-US" sz="2800" dirty="0"/>
              <a:t>&gt;</a:t>
            </a:r>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8850" y="4000500"/>
            <a:ext cx="4686300" cy="1257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3768289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315200" cy="1154097"/>
          </a:xfrm>
        </p:spPr>
        <p:txBody>
          <a:bodyPr>
            <a:normAutofit/>
          </a:bodyPr>
          <a:lstStyle/>
          <a:p>
            <a:r>
              <a:rPr lang="en-US" b="1" dirty="0"/>
              <a:t>SVG Rounded </a:t>
            </a:r>
            <a:r>
              <a:rPr lang="en-US" b="1" dirty="0" smtClean="0"/>
              <a:t>Rectangle</a:t>
            </a:r>
            <a:endParaRPr lang="en-US" dirty="0"/>
          </a:p>
        </p:txBody>
      </p:sp>
      <p:sp>
        <p:nvSpPr>
          <p:cNvPr id="3" name="Content Placeholder 2"/>
          <p:cNvSpPr>
            <a:spLocks noGrp="1"/>
          </p:cNvSpPr>
          <p:nvPr>
            <p:ph idx="1"/>
          </p:nvPr>
        </p:nvSpPr>
        <p:spPr>
          <a:xfrm>
            <a:off x="914400" y="1219201"/>
            <a:ext cx="7315200" cy="5090160"/>
          </a:xfrm>
        </p:spPr>
        <p:txBody>
          <a:bodyPr>
            <a:normAutofit/>
          </a:bodyPr>
          <a:lstStyle/>
          <a:p>
            <a:pPr marL="45720" indent="0">
              <a:buNone/>
            </a:pPr>
            <a:r>
              <a:rPr lang="en-US" sz="2800" dirty="0"/>
              <a:t>&lt;</a:t>
            </a:r>
            <a:r>
              <a:rPr lang="en-US" sz="2800" dirty="0" err="1"/>
              <a:t>svg</a:t>
            </a:r>
            <a:r>
              <a:rPr lang="en-US" sz="2800" dirty="0"/>
              <a:t> width="400" height="180"&gt;</a:t>
            </a:r>
            <a:br>
              <a:rPr lang="en-US" sz="2800" dirty="0"/>
            </a:br>
            <a:r>
              <a:rPr lang="en-US" sz="2800" dirty="0"/>
              <a:t>  &lt;</a:t>
            </a:r>
            <a:r>
              <a:rPr lang="en-US" sz="2800" dirty="0" err="1"/>
              <a:t>rect</a:t>
            </a:r>
            <a:r>
              <a:rPr lang="en-US" sz="2800" dirty="0"/>
              <a:t> x="50" y="20" </a:t>
            </a:r>
            <a:r>
              <a:rPr lang="en-US" sz="2800" dirty="0" err="1"/>
              <a:t>rx</a:t>
            </a:r>
            <a:r>
              <a:rPr lang="en-US" sz="2800" dirty="0"/>
              <a:t>="20" </a:t>
            </a:r>
            <a:r>
              <a:rPr lang="en-US" sz="2800" dirty="0" err="1"/>
              <a:t>ry</a:t>
            </a:r>
            <a:r>
              <a:rPr lang="en-US" sz="2800" dirty="0"/>
              <a:t>="20" width="150" height="150"</a:t>
            </a:r>
            <a:br>
              <a:rPr lang="en-US" sz="2800" dirty="0"/>
            </a:br>
            <a:r>
              <a:rPr lang="en-US" sz="2800" dirty="0"/>
              <a:t>  style="fill:red;stroke:black;stroke-width:5;opacity:0.5" /&gt;</a:t>
            </a:r>
            <a:br>
              <a:rPr lang="en-US" sz="2800" dirty="0"/>
            </a:br>
            <a:r>
              <a:rPr lang="en-US" sz="2800" dirty="0"/>
              <a:t>&lt;/</a:t>
            </a:r>
            <a:r>
              <a:rPr lang="en-US" sz="2800" dirty="0" err="1"/>
              <a:t>svg</a:t>
            </a:r>
            <a:r>
              <a:rPr lang="en-US" sz="2800" dirty="0" smtClean="0"/>
              <a:t>&gt;</a:t>
            </a:r>
          </a:p>
          <a:p>
            <a:pPr marL="45720" indent="0">
              <a:buNone/>
            </a:pPr>
            <a:endParaRPr lang="en-US" sz="2800" dirty="0"/>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3657600"/>
            <a:ext cx="2895600"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2731377"/>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315200" cy="1154097"/>
          </a:xfrm>
        </p:spPr>
        <p:txBody>
          <a:bodyPr>
            <a:normAutofit/>
          </a:bodyPr>
          <a:lstStyle/>
          <a:p>
            <a:r>
              <a:rPr lang="en-US" b="1" dirty="0"/>
              <a:t>SVG </a:t>
            </a:r>
            <a:r>
              <a:rPr lang="en-US" b="1" dirty="0" smtClean="0"/>
              <a:t>Star</a:t>
            </a:r>
            <a:endParaRPr lang="en-US" dirty="0"/>
          </a:p>
        </p:txBody>
      </p:sp>
      <p:sp>
        <p:nvSpPr>
          <p:cNvPr id="3" name="Content Placeholder 2"/>
          <p:cNvSpPr>
            <a:spLocks noGrp="1"/>
          </p:cNvSpPr>
          <p:nvPr>
            <p:ph idx="1"/>
          </p:nvPr>
        </p:nvSpPr>
        <p:spPr>
          <a:xfrm>
            <a:off x="914400" y="1295401"/>
            <a:ext cx="7315200" cy="5013960"/>
          </a:xfrm>
        </p:spPr>
        <p:txBody>
          <a:bodyPr>
            <a:normAutofit/>
          </a:bodyPr>
          <a:lstStyle/>
          <a:p>
            <a:pPr marL="45720" indent="0">
              <a:buNone/>
            </a:pPr>
            <a:r>
              <a:rPr lang="en-US" sz="2800" dirty="0"/>
              <a:t>&lt;</a:t>
            </a:r>
            <a:r>
              <a:rPr lang="en-US" sz="2800" dirty="0" err="1"/>
              <a:t>svg</a:t>
            </a:r>
            <a:r>
              <a:rPr lang="en-US" sz="2800" dirty="0"/>
              <a:t> width="300" height="200"&gt;</a:t>
            </a:r>
            <a:br>
              <a:rPr lang="en-US" sz="2800" dirty="0"/>
            </a:br>
            <a:r>
              <a:rPr lang="en-US" sz="2800" dirty="0"/>
              <a:t>  &lt;polygon points="100,10 40,198 190,78 10,78 160,198"</a:t>
            </a:r>
            <a:br>
              <a:rPr lang="en-US" sz="2800" dirty="0"/>
            </a:br>
            <a:r>
              <a:rPr lang="en-US" sz="2800" dirty="0"/>
              <a:t>  style="fill:lime;stroke:purple;stroke-width:5;fill-rule:evenodd;" /&gt;</a:t>
            </a:r>
            <a:br>
              <a:rPr lang="en-US" sz="2800" dirty="0"/>
            </a:br>
            <a:r>
              <a:rPr lang="en-US" sz="2800" dirty="0"/>
              <a:t>&lt;/</a:t>
            </a:r>
            <a:r>
              <a:rPr lang="en-US" sz="2800" dirty="0" err="1"/>
              <a:t>svg</a:t>
            </a:r>
            <a:r>
              <a:rPr lang="en-US" sz="2800" dirty="0"/>
              <a:t>&gt;</a:t>
            </a: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3399" y="3657600"/>
            <a:ext cx="2600325" cy="26650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9320892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76200"/>
            <a:ext cx="7315200" cy="1154097"/>
          </a:xfrm>
        </p:spPr>
        <p:txBody>
          <a:bodyPr>
            <a:normAutofit/>
          </a:bodyPr>
          <a:lstStyle/>
          <a:p>
            <a:r>
              <a:rPr lang="en-US" b="1" dirty="0"/>
              <a:t>SVG </a:t>
            </a:r>
            <a:r>
              <a:rPr lang="en-US" b="1" dirty="0" smtClean="0"/>
              <a:t>Logo</a:t>
            </a:r>
            <a:endParaRPr lang="en-US" dirty="0"/>
          </a:p>
        </p:txBody>
      </p:sp>
      <p:sp>
        <p:nvSpPr>
          <p:cNvPr id="3" name="Content Placeholder 2"/>
          <p:cNvSpPr>
            <a:spLocks noGrp="1"/>
          </p:cNvSpPr>
          <p:nvPr>
            <p:ph idx="1"/>
          </p:nvPr>
        </p:nvSpPr>
        <p:spPr>
          <a:xfrm>
            <a:off x="914400" y="1371601"/>
            <a:ext cx="7315200" cy="4937760"/>
          </a:xfrm>
        </p:spPr>
        <p:txBody>
          <a:bodyPr>
            <a:normAutofit/>
          </a:bodyPr>
          <a:lstStyle/>
          <a:p>
            <a:pPr marL="45720" indent="0">
              <a:buNone/>
            </a:pPr>
            <a:r>
              <a:rPr lang="en-US" sz="2800" dirty="0"/>
              <a:t>&lt;</a:t>
            </a:r>
            <a:r>
              <a:rPr lang="en-US" sz="2800" dirty="0" err="1"/>
              <a:t>svg</a:t>
            </a:r>
            <a:r>
              <a:rPr lang="en-US" sz="2800" dirty="0"/>
              <a:t> height="130" width="500"&gt;</a:t>
            </a:r>
            <a:br>
              <a:rPr lang="en-US" sz="2800" dirty="0"/>
            </a:br>
            <a:r>
              <a:rPr lang="en-US" sz="2800" dirty="0"/>
              <a:t>  &lt;</a:t>
            </a:r>
            <a:r>
              <a:rPr lang="en-US" sz="2800" dirty="0" err="1"/>
              <a:t>defs</a:t>
            </a:r>
            <a:r>
              <a:rPr lang="en-US" sz="2800" dirty="0"/>
              <a:t>&gt;</a:t>
            </a:r>
            <a:br>
              <a:rPr lang="en-US" sz="2800" dirty="0"/>
            </a:br>
            <a:r>
              <a:rPr lang="en-US" sz="2800" dirty="0"/>
              <a:t>    &lt;</a:t>
            </a:r>
            <a:r>
              <a:rPr lang="en-US" sz="2800" dirty="0" err="1"/>
              <a:t>linearGradient</a:t>
            </a:r>
            <a:r>
              <a:rPr lang="en-US" sz="2800" dirty="0"/>
              <a:t> id="grad1" x1="0%" y1="0%" x2="100%" y2="0%"&gt;</a:t>
            </a:r>
            <a:br>
              <a:rPr lang="en-US" sz="2800" dirty="0"/>
            </a:br>
            <a:r>
              <a:rPr lang="en-US" sz="2800" dirty="0"/>
              <a:t>      &lt;stop offset="0%" style="</a:t>
            </a:r>
            <a:r>
              <a:rPr lang="en-US" sz="2800" dirty="0" err="1"/>
              <a:t>stop-color:rgb</a:t>
            </a:r>
            <a:r>
              <a:rPr lang="en-US" sz="2800" dirty="0"/>
              <a:t>(255,255,0);stop-opacity:1" /&gt;</a:t>
            </a:r>
            <a:br>
              <a:rPr lang="en-US" sz="2800" dirty="0"/>
            </a:br>
            <a:r>
              <a:rPr lang="en-US" sz="2800" dirty="0"/>
              <a:t>      &lt;stop offset="100%" style="</a:t>
            </a:r>
            <a:r>
              <a:rPr lang="en-US" sz="2800" dirty="0" err="1"/>
              <a:t>stop-color:rgb</a:t>
            </a:r>
            <a:r>
              <a:rPr lang="en-US" sz="2800" dirty="0"/>
              <a:t>(255,0,0);stop-opacity:1" /&gt;</a:t>
            </a:r>
            <a:br>
              <a:rPr lang="en-US" sz="2800" dirty="0"/>
            </a:br>
            <a:r>
              <a:rPr lang="en-US" sz="2800" dirty="0"/>
              <a:t>    &lt;/</a:t>
            </a:r>
            <a:r>
              <a:rPr lang="en-US" sz="2800" dirty="0" err="1"/>
              <a:t>linearGradient</a:t>
            </a:r>
            <a:r>
              <a:rPr lang="en-US" sz="2800" dirty="0"/>
              <a:t>&gt;</a:t>
            </a:r>
            <a:br>
              <a:rPr lang="en-US" sz="2800" dirty="0"/>
            </a:br>
            <a:r>
              <a:rPr lang="en-US" sz="2800" dirty="0"/>
              <a:t>  &lt;/</a:t>
            </a:r>
            <a:r>
              <a:rPr lang="en-US" sz="2800" dirty="0" err="1"/>
              <a:t>defs</a:t>
            </a:r>
            <a:r>
              <a:rPr lang="en-US" sz="2800" dirty="0"/>
              <a:t>&gt;</a:t>
            </a:r>
            <a:br>
              <a:rPr lang="en-US" sz="2800" dirty="0"/>
            </a:br>
            <a:r>
              <a:rPr lang="en-US" sz="2800" dirty="0"/>
              <a:t> </a:t>
            </a:r>
          </a:p>
        </p:txBody>
      </p:sp>
      <p:pic>
        <p:nvPicPr>
          <p:cNvPr id="245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152400"/>
            <a:ext cx="2171700" cy="144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0088094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1371601"/>
            <a:ext cx="7315200" cy="4937760"/>
          </a:xfrm>
        </p:spPr>
        <p:txBody>
          <a:bodyPr>
            <a:normAutofit/>
          </a:bodyPr>
          <a:lstStyle/>
          <a:p>
            <a:r>
              <a:rPr lang="en-US" sz="2800" dirty="0"/>
              <a:t>&lt;ellipse cx="100" cy="70" </a:t>
            </a:r>
            <a:r>
              <a:rPr lang="en-US" sz="2800" dirty="0" err="1"/>
              <a:t>rx</a:t>
            </a:r>
            <a:r>
              <a:rPr lang="en-US" sz="2800" dirty="0"/>
              <a:t>="85" </a:t>
            </a:r>
            <a:r>
              <a:rPr lang="en-US" sz="2800" dirty="0" err="1"/>
              <a:t>ry</a:t>
            </a:r>
            <a:r>
              <a:rPr lang="en-US" sz="2800" dirty="0"/>
              <a:t>="55" fill="</a:t>
            </a:r>
            <a:r>
              <a:rPr lang="en-US" sz="2800" dirty="0" err="1"/>
              <a:t>url</a:t>
            </a:r>
            <a:r>
              <a:rPr lang="en-US" sz="2800" dirty="0"/>
              <a:t>(#grad1)" /&gt;</a:t>
            </a:r>
            <a:br>
              <a:rPr lang="en-US" sz="2800" dirty="0"/>
            </a:br>
            <a:r>
              <a:rPr lang="en-US" sz="2800" dirty="0"/>
              <a:t>  &lt;text fill="#</a:t>
            </a:r>
            <a:r>
              <a:rPr lang="en-US" sz="2800" dirty="0" err="1"/>
              <a:t>ffffff</a:t>
            </a:r>
            <a:r>
              <a:rPr lang="en-US" sz="2800" dirty="0"/>
              <a:t>" font-size="45" font-family="Verdana" x="50" y="86"&gt;SVG&lt;/text&gt;</a:t>
            </a:r>
            <a:br>
              <a:rPr lang="en-US" sz="2800" dirty="0"/>
            </a:br>
            <a:r>
              <a:rPr lang="en-US" sz="2800" dirty="0"/>
              <a:t>  Sorry, your browser does not support inline SVG.</a:t>
            </a:r>
            <a:br>
              <a:rPr lang="en-US" sz="2800" dirty="0"/>
            </a:br>
            <a:r>
              <a:rPr lang="en-US" sz="2800" dirty="0"/>
              <a:t>&lt;/</a:t>
            </a:r>
            <a:r>
              <a:rPr lang="en-US" sz="2800" dirty="0" err="1"/>
              <a:t>svg</a:t>
            </a:r>
            <a:r>
              <a:rPr lang="en-US" sz="2800" dirty="0"/>
              <a:t>&gt;</a:t>
            </a:r>
          </a:p>
          <a:p>
            <a:endParaRPr lang="en-US" sz="2800" dirty="0"/>
          </a:p>
        </p:txBody>
      </p:sp>
    </p:spTree>
    <p:extLst>
      <p:ext uri="{BB962C8B-B14F-4D97-AF65-F5344CB8AC3E}">
        <p14:creationId xmlns:p14="http://schemas.microsoft.com/office/powerpoint/2010/main" val="59766512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Differences Between SVG and </a:t>
            </a:r>
            <a:r>
              <a:rPr lang="en-US" b="1" dirty="0" smtClean="0"/>
              <a:t>Canvas</a:t>
            </a:r>
            <a:endParaRPr lang="en-US" dirty="0"/>
          </a:p>
        </p:txBody>
      </p:sp>
      <p:sp>
        <p:nvSpPr>
          <p:cNvPr id="3" name="Content Placeholder 2"/>
          <p:cNvSpPr>
            <a:spLocks noGrp="1"/>
          </p:cNvSpPr>
          <p:nvPr>
            <p:ph idx="1"/>
          </p:nvPr>
        </p:nvSpPr>
        <p:spPr/>
        <p:txBody>
          <a:bodyPr>
            <a:normAutofit fontScale="92500" lnSpcReduction="10000"/>
          </a:bodyPr>
          <a:lstStyle/>
          <a:p>
            <a:r>
              <a:rPr lang="en-US" dirty="0"/>
              <a:t>SVG is a language for describing 2D graphics in XML.</a:t>
            </a:r>
          </a:p>
          <a:p>
            <a:r>
              <a:rPr lang="en-US" dirty="0"/>
              <a:t>Canvas draws 2D graphics, on the fly (with a JavaScript).</a:t>
            </a:r>
          </a:p>
          <a:p>
            <a:r>
              <a:rPr lang="en-US" dirty="0"/>
              <a:t>SVG is XML based, which means that every element is available within the SVG DOM. You can attach JavaScript event handlers for an element.</a:t>
            </a:r>
          </a:p>
          <a:p>
            <a:r>
              <a:rPr lang="en-US" dirty="0"/>
              <a:t>In SVG, each drawn shape is remembered as an object. If attributes of an SVG object are changed, the browser can automatically re-render the shape.</a:t>
            </a:r>
          </a:p>
          <a:p>
            <a:r>
              <a:rPr lang="en-US" dirty="0"/>
              <a:t>Canvas is rendered pixel by pixel. In canvas, once the graphic is drawn, it is forgotten by the browser. If its position should be changed, the entire scene needs to be redrawn, including any objects that might have been covered by the graphic.</a:t>
            </a:r>
          </a:p>
          <a:p>
            <a:endParaRPr lang="en-US" dirty="0"/>
          </a:p>
        </p:txBody>
      </p:sp>
    </p:spTree>
    <p:extLst>
      <p:ext uri="{BB962C8B-B14F-4D97-AF65-F5344CB8AC3E}">
        <p14:creationId xmlns:p14="http://schemas.microsoft.com/office/powerpoint/2010/main" val="294012109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315200" cy="1154097"/>
          </a:xfrm>
        </p:spPr>
        <p:txBody>
          <a:bodyPr>
            <a:normAutofit fontScale="90000"/>
          </a:bodyPr>
          <a:lstStyle/>
          <a:p>
            <a:r>
              <a:rPr lang="en-US" b="1" dirty="0"/>
              <a:t>Comparison of Canvas and </a:t>
            </a:r>
            <a:r>
              <a:rPr lang="en-US" b="1" dirty="0" smtClean="0"/>
              <a:t>SVG</a:t>
            </a:r>
            <a:endParaRPr lang="en-US" dirty="0"/>
          </a:p>
        </p:txBody>
      </p:sp>
      <p:pic>
        <p:nvPicPr>
          <p:cNvPr id="2560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1600200"/>
            <a:ext cx="7315200" cy="43071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789887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Multimedia</a:t>
            </a:r>
            <a:endParaRPr lang="en-US" dirty="0"/>
          </a:p>
        </p:txBody>
      </p:sp>
      <p:sp>
        <p:nvSpPr>
          <p:cNvPr id="3" name="Content Placeholder 2"/>
          <p:cNvSpPr>
            <a:spLocks noGrp="1"/>
          </p:cNvSpPr>
          <p:nvPr>
            <p:ph idx="1"/>
          </p:nvPr>
        </p:nvSpPr>
        <p:spPr/>
        <p:txBody>
          <a:bodyPr/>
          <a:lstStyle/>
          <a:p>
            <a:r>
              <a:rPr lang="en-US" dirty="0"/>
              <a:t>Multimedia on the web is sound, music, videos, movies, and animations</a:t>
            </a:r>
            <a:r>
              <a:rPr lang="en-US" dirty="0" smtClean="0"/>
              <a:t>.</a:t>
            </a:r>
          </a:p>
          <a:p>
            <a:r>
              <a:rPr lang="en-US" dirty="0"/>
              <a:t>Multimedia comes in many different formats. It can be almost anything you can hear or see, like images, music, sound, videos, records, films, animations, and more.</a:t>
            </a:r>
          </a:p>
          <a:p>
            <a:r>
              <a:rPr lang="en-US" dirty="0"/>
              <a:t>Web pages often contain multimedia elements of different types and formats.</a:t>
            </a:r>
          </a:p>
          <a:p>
            <a:endParaRPr lang="en-US" dirty="0"/>
          </a:p>
        </p:txBody>
      </p:sp>
    </p:spTree>
    <p:extLst>
      <p:ext uri="{BB962C8B-B14F-4D97-AF65-F5344CB8AC3E}">
        <p14:creationId xmlns:p14="http://schemas.microsoft.com/office/powerpoint/2010/main" val="342782556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315200" cy="1154097"/>
          </a:xfrm>
        </p:spPr>
        <p:txBody>
          <a:bodyPr>
            <a:normAutofit/>
          </a:bodyPr>
          <a:lstStyle/>
          <a:p>
            <a:r>
              <a:rPr lang="en-US" b="1" dirty="0"/>
              <a:t>Multimedia </a:t>
            </a:r>
            <a:r>
              <a:rPr lang="en-US" b="1" dirty="0" smtClean="0"/>
              <a:t>Formats</a:t>
            </a:r>
            <a:endParaRPr lang="en-US" dirty="0"/>
          </a:p>
        </p:txBody>
      </p:sp>
      <p:sp>
        <p:nvSpPr>
          <p:cNvPr id="3" name="Content Placeholder 2"/>
          <p:cNvSpPr>
            <a:spLocks noGrp="1"/>
          </p:cNvSpPr>
          <p:nvPr>
            <p:ph idx="1"/>
          </p:nvPr>
        </p:nvSpPr>
        <p:spPr>
          <a:xfrm>
            <a:off x="914400" y="1295400"/>
            <a:ext cx="7315200" cy="3539527"/>
          </a:xfrm>
        </p:spPr>
        <p:txBody>
          <a:bodyPr/>
          <a:lstStyle/>
          <a:p>
            <a:r>
              <a:rPr lang="en-US" dirty="0"/>
              <a:t>Multimedia elements (like audio or video) are stored in media files. </a:t>
            </a:r>
          </a:p>
          <a:p>
            <a:r>
              <a:rPr lang="en-US" dirty="0"/>
              <a:t>The most common way to discover the type of a file, is to look at the file extension.</a:t>
            </a:r>
          </a:p>
          <a:p>
            <a:r>
              <a:rPr lang="en-US" dirty="0"/>
              <a:t>Multimedia files have formats and different extensions like: .wav, .mp3, .mp4, .mpg, .</a:t>
            </a:r>
            <a:r>
              <a:rPr lang="en-US" dirty="0" err="1"/>
              <a:t>wmv</a:t>
            </a:r>
            <a:r>
              <a:rPr lang="en-US" dirty="0"/>
              <a:t>, and .</a:t>
            </a:r>
            <a:r>
              <a:rPr lang="en-US" dirty="0" err="1"/>
              <a:t>avi</a:t>
            </a:r>
            <a:r>
              <a:rPr lang="en-US" dirty="0"/>
              <a:t>.</a:t>
            </a:r>
          </a:p>
          <a:p>
            <a:endParaRPr lang="en-US" dirty="0"/>
          </a:p>
        </p:txBody>
      </p:sp>
    </p:spTree>
    <p:extLst>
      <p:ext uri="{BB962C8B-B14F-4D97-AF65-F5344CB8AC3E}">
        <p14:creationId xmlns:p14="http://schemas.microsoft.com/office/powerpoint/2010/main" val="1448197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65103"/>
            <a:ext cx="7315200" cy="1154097"/>
          </a:xfrm>
        </p:spPr>
        <p:txBody>
          <a:bodyPr>
            <a:normAutofit/>
          </a:bodyPr>
          <a:lstStyle/>
          <a:p>
            <a:r>
              <a:rPr lang="en-US" b="1" dirty="0"/>
              <a:t>HTML </a:t>
            </a:r>
            <a:r>
              <a:rPr lang="en-US" b="1" dirty="0" smtClean="0"/>
              <a:t>Video</a:t>
            </a:r>
            <a:endParaRPr lang="en-US" dirty="0"/>
          </a:p>
        </p:txBody>
      </p:sp>
      <p:sp>
        <p:nvSpPr>
          <p:cNvPr id="3" name="Content Placeholder 2"/>
          <p:cNvSpPr>
            <a:spLocks noGrp="1"/>
          </p:cNvSpPr>
          <p:nvPr>
            <p:ph idx="1"/>
          </p:nvPr>
        </p:nvSpPr>
        <p:spPr>
          <a:xfrm>
            <a:off x="914400" y="1295401"/>
            <a:ext cx="7315200" cy="5013960"/>
          </a:xfrm>
        </p:spPr>
        <p:txBody>
          <a:bodyPr>
            <a:noAutofit/>
          </a:bodyPr>
          <a:lstStyle/>
          <a:p>
            <a:r>
              <a:rPr lang="en-US" sz="2400" dirty="0"/>
              <a:t>The HTML &lt;video&gt; element is used to show a video on a web page</a:t>
            </a:r>
            <a:r>
              <a:rPr lang="en-US" sz="2400" dirty="0" smtClean="0"/>
              <a:t>.</a:t>
            </a:r>
          </a:p>
          <a:p>
            <a:r>
              <a:rPr lang="en-US" sz="2400" dirty="0"/>
              <a:t>&lt;!DOCTYPE html&gt;</a:t>
            </a:r>
          </a:p>
          <a:p>
            <a:pPr marL="45720" indent="0">
              <a:buNone/>
            </a:pPr>
            <a:r>
              <a:rPr lang="en-US" sz="2400" dirty="0"/>
              <a:t>&lt;html&gt;</a:t>
            </a:r>
          </a:p>
          <a:p>
            <a:pPr marL="45720" indent="0">
              <a:buNone/>
            </a:pPr>
            <a:r>
              <a:rPr lang="en-US" sz="2400" dirty="0"/>
              <a:t>&lt;body</a:t>
            </a:r>
            <a:r>
              <a:rPr lang="en-US" sz="2400" dirty="0" smtClean="0"/>
              <a:t>&gt;</a:t>
            </a:r>
            <a:endParaRPr lang="en-US" sz="2400" dirty="0"/>
          </a:p>
          <a:p>
            <a:pPr marL="45720" indent="0">
              <a:buNone/>
            </a:pPr>
            <a:r>
              <a:rPr lang="en-US" sz="2400" dirty="0"/>
              <a:t>&lt;video width="320" height="240" controls&gt;</a:t>
            </a:r>
          </a:p>
          <a:p>
            <a:pPr marL="45720" indent="0">
              <a:buNone/>
            </a:pPr>
            <a:r>
              <a:rPr lang="en-US" sz="2400" dirty="0"/>
              <a:t>  &lt;source </a:t>
            </a:r>
            <a:r>
              <a:rPr lang="en-US" sz="2400" dirty="0" err="1"/>
              <a:t>src</a:t>
            </a:r>
            <a:r>
              <a:rPr lang="en-US" sz="2400" dirty="0"/>
              <a:t>="movie.mp4" type="video/mp4"&gt;</a:t>
            </a:r>
          </a:p>
          <a:p>
            <a:pPr marL="45720" indent="0">
              <a:buNone/>
            </a:pPr>
            <a:r>
              <a:rPr lang="en-US" sz="2400" dirty="0"/>
              <a:t>  &lt;source </a:t>
            </a:r>
            <a:r>
              <a:rPr lang="en-US" sz="2400" dirty="0" err="1"/>
              <a:t>src</a:t>
            </a:r>
            <a:r>
              <a:rPr lang="en-US" sz="2400" dirty="0"/>
              <a:t>="movie.ogg" type="video/</a:t>
            </a:r>
            <a:r>
              <a:rPr lang="en-US" sz="2400" dirty="0" err="1"/>
              <a:t>ogg</a:t>
            </a:r>
            <a:r>
              <a:rPr lang="en-US" sz="2400" dirty="0"/>
              <a:t>"&gt;</a:t>
            </a:r>
          </a:p>
          <a:p>
            <a:pPr marL="45720" indent="0">
              <a:buNone/>
            </a:pPr>
            <a:r>
              <a:rPr lang="en-US" sz="2400" dirty="0"/>
              <a:t>  Your browser does not support the video tag.</a:t>
            </a:r>
          </a:p>
          <a:p>
            <a:pPr marL="45720" indent="0">
              <a:buNone/>
            </a:pPr>
            <a:r>
              <a:rPr lang="en-US" sz="2400" dirty="0"/>
              <a:t>&lt;/video</a:t>
            </a:r>
            <a:r>
              <a:rPr lang="en-US" sz="2400" dirty="0" smtClean="0"/>
              <a:t>&gt;</a:t>
            </a:r>
          </a:p>
          <a:p>
            <a:pPr marL="45720" indent="0">
              <a:buNone/>
            </a:pPr>
            <a:r>
              <a:rPr lang="en-US" sz="2400" dirty="0" smtClean="0"/>
              <a:t>&lt;/</a:t>
            </a:r>
            <a:r>
              <a:rPr lang="en-US" sz="2400" dirty="0"/>
              <a:t>body&gt;</a:t>
            </a:r>
          </a:p>
          <a:p>
            <a:pPr marL="45720" indent="0">
              <a:buNone/>
            </a:pPr>
            <a:r>
              <a:rPr lang="en-US" sz="2400" dirty="0"/>
              <a:t>&lt;/html&gt;</a:t>
            </a:r>
          </a:p>
          <a:p>
            <a:endParaRPr lang="en-US" sz="2400" dirty="0"/>
          </a:p>
          <a:p>
            <a:endParaRPr lang="en-US" sz="2400" dirty="0"/>
          </a:p>
        </p:txBody>
      </p:sp>
    </p:spTree>
    <p:extLst>
      <p:ext uri="{BB962C8B-B14F-4D97-AF65-F5344CB8AC3E}">
        <p14:creationId xmlns:p14="http://schemas.microsoft.com/office/powerpoint/2010/main" val="284379995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609601"/>
            <a:ext cx="7315200" cy="5699760"/>
          </a:xfrm>
        </p:spPr>
        <p:txBody>
          <a:bodyPr>
            <a:normAutofit/>
          </a:bodyPr>
          <a:lstStyle/>
          <a:p>
            <a:r>
              <a:rPr lang="en-US" dirty="0"/>
              <a:t>The controls attribute adds video controls, like play, pause, and volume.</a:t>
            </a:r>
          </a:p>
          <a:p>
            <a:r>
              <a:rPr lang="en-US" dirty="0"/>
              <a:t>It is a good idea to always include width and height attributes. If height and width are not set, the page might flicker while the video loads.</a:t>
            </a:r>
          </a:p>
          <a:p>
            <a:r>
              <a:rPr lang="en-US" dirty="0"/>
              <a:t>The &lt;source&gt; element allows you to specify alternative video files which the browser may choose from. The browser will use the first recognized format.</a:t>
            </a:r>
          </a:p>
          <a:p>
            <a:r>
              <a:rPr lang="en-US" dirty="0"/>
              <a:t>The text between the &lt;video&gt; and &lt;/video&gt; tags will only be displayed in browsers that do not support the &lt;video&gt; element.</a:t>
            </a:r>
          </a:p>
          <a:p>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4048193"/>
            <a:ext cx="3429000" cy="26077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661872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&lt;video&gt; </a:t>
            </a:r>
            <a:r>
              <a:rPr lang="en-US" b="1" dirty="0" err="1" smtClean="0"/>
              <a:t>Autoplay</a:t>
            </a:r>
            <a:endParaRPr lang="en-US" dirty="0"/>
          </a:p>
        </p:txBody>
      </p:sp>
      <p:sp>
        <p:nvSpPr>
          <p:cNvPr id="3" name="Content Placeholder 2"/>
          <p:cNvSpPr>
            <a:spLocks noGrp="1"/>
          </p:cNvSpPr>
          <p:nvPr>
            <p:ph idx="1"/>
          </p:nvPr>
        </p:nvSpPr>
        <p:spPr/>
        <p:txBody>
          <a:bodyPr/>
          <a:lstStyle/>
          <a:p>
            <a:r>
              <a:rPr lang="en-US" dirty="0"/>
              <a:t>To start a video automatically, use the </a:t>
            </a:r>
            <a:r>
              <a:rPr lang="en-US" dirty="0" err="1"/>
              <a:t>autoplay</a:t>
            </a:r>
            <a:r>
              <a:rPr lang="en-US" dirty="0"/>
              <a:t> attribute:</a:t>
            </a:r>
          </a:p>
          <a:p>
            <a:r>
              <a:rPr lang="en-US" b="1" dirty="0"/>
              <a:t>Example</a:t>
            </a:r>
          </a:p>
          <a:p>
            <a:pPr marL="45720" indent="0">
              <a:buNone/>
            </a:pPr>
            <a:r>
              <a:rPr lang="en-US" dirty="0"/>
              <a:t>&lt;video width="320" height="240" </a:t>
            </a:r>
            <a:r>
              <a:rPr lang="en-US" dirty="0" err="1"/>
              <a:t>autoplay</a:t>
            </a:r>
            <a:r>
              <a:rPr lang="en-US" dirty="0"/>
              <a:t>&gt;</a:t>
            </a:r>
            <a:br>
              <a:rPr lang="en-US" dirty="0"/>
            </a:br>
            <a:r>
              <a:rPr lang="en-US" dirty="0"/>
              <a:t>  &lt;source </a:t>
            </a:r>
            <a:r>
              <a:rPr lang="en-US" dirty="0" err="1"/>
              <a:t>src</a:t>
            </a:r>
            <a:r>
              <a:rPr lang="en-US" dirty="0"/>
              <a:t>="movie.mp4" type="video/mp4"&gt;</a:t>
            </a:r>
            <a:br>
              <a:rPr lang="en-US" dirty="0"/>
            </a:br>
            <a:r>
              <a:rPr lang="en-US" dirty="0"/>
              <a:t>  &lt;source </a:t>
            </a:r>
            <a:r>
              <a:rPr lang="en-US" dirty="0" err="1"/>
              <a:t>src</a:t>
            </a:r>
            <a:r>
              <a:rPr lang="en-US" dirty="0"/>
              <a:t>="movie.ogg" type="video/</a:t>
            </a:r>
            <a:r>
              <a:rPr lang="en-US" dirty="0" err="1"/>
              <a:t>ogg</a:t>
            </a:r>
            <a:r>
              <a:rPr lang="en-US" dirty="0"/>
              <a:t>"&gt;</a:t>
            </a:r>
            <a:br>
              <a:rPr lang="en-US" dirty="0"/>
            </a:br>
            <a:r>
              <a:rPr lang="en-US" dirty="0"/>
              <a:t>Your browser does not support the video tag.</a:t>
            </a:r>
            <a:br>
              <a:rPr lang="en-US" dirty="0"/>
            </a:br>
            <a:r>
              <a:rPr lang="en-US" dirty="0"/>
              <a:t>&lt;/video&gt; </a:t>
            </a:r>
          </a:p>
          <a:p>
            <a:r>
              <a:rPr lang="en-US" b="1" dirty="0"/>
              <a:t>Note:</a:t>
            </a:r>
            <a:r>
              <a:rPr lang="en-US" dirty="0"/>
              <a:t> Chromium browsers do not allow </a:t>
            </a:r>
            <a:r>
              <a:rPr lang="en-US" dirty="0" err="1"/>
              <a:t>autoplay</a:t>
            </a:r>
            <a:r>
              <a:rPr lang="en-US" dirty="0"/>
              <a:t> in most cases. However, muted </a:t>
            </a:r>
            <a:r>
              <a:rPr lang="en-US" dirty="0" err="1"/>
              <a:t>autoplay</a:t>
            </a:r>
            <a:r>
              <a:rPr lang="en-US" dirty="0"/>
              <a:t> is always allowed.</a:t>
            </a:r>
          </a:p>
        </p:txBody>
      </p:sp>
    </p:spTree>
    <p:extLst>
      <p:ext uri="{BB962C8B-B14F-4D97-AF65-F5344CB8AC3E}">
        <p14:creationId xmlns:p14="http://schemas.microsoft.com/office/powerpoint/2010/main" val="366266696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45720" indent="0">
              <a:buNone/>
            </a:pPr>
            <a:r>
              <a:rPr lang="en-US" dirty="0"/>
              <a:t>&lt;video width="320" height="240" </a:t>
            </a:r>
            <a:r>
              <a:rPr lang="en-US" dirty="0" err="1"/>
              <a:t>autoplay</a:t>
            </a:r>
            <a:r>
              <a:rPr lang="en-US" dirty="0"/>
              <a:t> muted&gt;</a:t>
            </a:r>
            <a:br>
              <a:rPr lang="en-US" dirty="0"/>
            </a:br>
            <a:r>
              <a:rPr lang="en-US" dirty="0"/>
              <a:t>  &lt;source </a:t>
            </a:r>
            <a:r>
              <a:rPr lang="en-US" dirty="0" err="1"/>
              <a:t>src</a:t>
            </a:r>
            <a:r>
              <a:rPr lang="en-US" dirty="0"/>
              <a:t>="movie.mp4" type="video/mp4"&gt;</a:t>
            </a:r>
            <a:br>
              <a:rPr lang="en-US" dirty="0"/>
            </a:br>
            <a:r>
              <a:rPr lang="en-US" dirty="0"/>
              <a:t>  &lt;source </a:t>
            </a:r>
            <a:r>
              <a:rPr lang="en-US" dirty="0" err="1"/>
              <a:t>src</a:t>
            </a:r>
            <a:r>
              <a:rPr lang="en-US" dirty="0"/>
              <a:t>="movie.ogg" type="video/</a:t>
            </a:r>
            <a:r>
              <a:rPr lang="en-US" dirty="0" err="1"/>
              <a:t>ogg</a:t>
            </a:r>
            <a:r>
              <a:rPr lang="en-US" dirty="0"/>
              <a:t>"&gt;</a:t>
            </a:r>
            <a:br>
              <a:rPr lang="en-US" dirty="0"/>
            </a:br>
            <a:r>
              <a:rPr lang="en-US" dirty="0"/>
              <a:t>Your browser does not support the video tag.</a:t>
            </a:r>
            <a:br>
              <a:rPr lang="en-US" dirty="0"/>
            </a:br>
            <a:r>
              <a:rPr lang="en-US" dirty="0"/>
              <a:t>&lt;/video&gt; </a:t>
            </a:r>
          </a:p>
          <a:p>
            <a:r>
              <a:rPr lang="en-US" dirty="0"/>
              <a:t>Add muted after </a:t>
            </a:r>
            <a:r>
              <a:rPr lang="en-US" dirty="0" err="1"/>
              <a:t>autoplay</a:t>
            </a:r>
            <a:r>
              <a:rPr lang="en-US" dirty="0"/>
              <a:t> to let your video start playing automatically (but muted)</a:t>
            </a:r>
          </a:p>
        </p:txBody>
      </p:sp>
    </p:spTree>
    <p:extLst>
      <p:ext uri="{BB962C8B-B14F-4D97-AF65-F5344CB8AC3E}">
        <p14:creationId xmlns:p14="http://schemas.microsoft.com/office/powerpoint/2010/main" val="300924987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Video - Media </a:t>
            </a:r>
            <a:r>
              <a:rPr lang="en-US" b="1" dirty="0" smtClean="0"/>
              <a:t>Types</a:t>
            </a:r>
            <a:endParaRPr lang="en-US" dirty="0"/>
          </a:p>
        </p:txBody>
      </p:sp>
      <p:pic>
        <p:nvPicPr>
          <p:cNvPr id="276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3276600"/>
            <a:ext cx="8305800"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17762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Video </a:t>
            </a:r>
            <a:r>
              <a:rPr lang="en-US" b="1" dirty="0" smtClean="0"/>
              <a:t>Tags</a:t>
            </a:r>
            <a:endParaRPr lang="en-US" dirty="0"/>
          </a:p>
        </p:txBody>
      </p:sp>
      <p:pic>
        <p:nvPicPr>
          <p:cNvPr id="286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2971800"/>
            <a:ext cx="7315200" cy="3428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8235331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t>
            </a:r>
            <a:r>
              <a:rPr lang="en-US" b="1" dirty="0" smtClean="0"/>
              <a:t>Audio</a:t>
            </a:r>
            <a:endParaRPr lang="en-US" dirty="0"/>
          </a:p>
        </p:txBody>
      </p:sp>
      <p:sp>
        <p:nvSpPr>
          <p:cNvPr id="3" name="Content Placeholder 2"/>
          <p:cNvSpPr>
            <a:spLocks noGrp="1"/>
          </p:cNvSpPr>
          <p:nvPr>
            <p:ph idx="1"/>
          </p:nvPr>
        </p:nvSpPr>
        <p:spPr/>
        <p:txBody>
          <a:bodyPr/>
          <a:lstStyle/>
          <a:p>
            <a:r>
              <a:rPr lang="en-US" dirty="0"/>
              <a:t>The HTML &lt;audio&gt; element is used to play an audio file on a web page</a:t>
            </a:r>
            <a:r>
              <a:rPr lang="en-US" dirty="0" smtClean="0"/>
              <a:t>.</a:t>
            </a:r>
          </a:p>
          <a:p>
            <a:r>
              <a:rPr lang="en-US" dirty="0"/>
              <a:t>To play an audio file in HTML, use the &lt;audio&gt; element</a:t>
            </a:r>
          </a:p>
        </p:txBody>
      </p:sp>
    </p:spTree>
    <p:extLst>
      <p:ext uri="{BB962C8B-B14F-4D97-AF65-F5344CB8AC3E}">
        <p14:creationId xmlns:p14="http://schemas.microsoft.com/office/powerpoint/2010/main" val="148325641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609601"/>
            <a:ext cx="7315200" cy="5699760"/>
          </a:xfrm>
        </p:spPr>
        <p:txBody>
          <a:bodyPr>
            <a:normAutofit/>
          </a:bodyPr>
          <a:lstStyle/>
          <a:p>
            <a:pPr marL="45720" indent="0">
              <a:buNone/>
            </a:pPr>
            <a:r>
              <a:rPr lang="en-US" sz="2400" dirty="0"/>
              <a:t>&lt;!DOCTYPE html&gt;</a:t>
            </a:r>
          </a:p>
          <a:p>
            <a:pPr marL="45720" indent="0">
              <a:buNone/>
            </a:pPr>
            <a:r>
              <a:rPr lang="en-US" sz="2400" dirty="0"/>
              <a:t>&lt;html&gt;</a:t>
            </a:r>
          </a:p>
          <a:p>
            <a:pPr marL="45720" indent="0">
              <a:buNone/>
            </a:pPr>
            <a:r>
              <a:rPr lang="en-US" sz="2400" dirty="0"/>
              <a:t>&lt;body&gt;</a:t>
            </a:r>
          </a:p>
          <a:p>
            <a:endParaRPr lang="en-US" sz="2400" dirty="0"/>
          </a:p>
          <a:p>
            <a:pPr marL="45720" indent="0">
              <a:buNone/>
            </a:pPr>
            <a:r>
              <a:rPr lang="en-US" sz="2400" dirty="0"/>
              <a:t>&lt;audio controls&gt;</a:t>
            </a:r>
          </a:p>
          <a:p>
            <a:pPr marL="45720" indent="0">
              <a:buNone/>
            </a:pPr>
            <a:r>
              <a:rPr lang="en-US" sz="2400" dirty="0"/>
              <a:t>  &lt;source </a:t>
            </a:r>
            <a:r>
              <a:rPr lang="en-US" sz="2400" dirty="0" err="1"/>
              <a:t>src</a:t>
            </a:r>
            <a:r>
              <a:rPr lang="en-US" sz="2400" dirty="0"/>
              <a:t>="horse.ogg" type="audio/</a:t>
            </a:r>
            <a:r>
              <a:rPr lang="en-US" sz="2400" dirty="0" err="1"/>
              <a:t>ogg</a:t>
            </a:r>
            <a:r>
              <a:rPr lang="en-US" sz="2400" dirty="0"/>
              <a:t>"&gt;</a:t>
            </a:r>
          </a:p>
          <a:p>
            <a:pPr marL="45720" indent="0">
              <a:buNone/>
            </a:pPr>
            <a:r>
              <a:rPr lang="en-US" sz="2400" dirty="0"/>
              <a:t>  &lt;source </a:t>
            </a:r>
            <a:r>
              <a:rPr lang="en-US" sz="2400" dirty="0" err="1"/>
              <a:t>src</a:t>
            </a:r>
            <a:r>
              <a:rPr lang="en-US" sz="2400" dirty="0"/>
              <a:t>="horse.mp3" type="audio/mpeg"&gt;</a:t>
            </a:r>
          </a:p>
          <a:p>
            <a:pPr marL="45720" indent="0">
              <a:buNone/>
            </a:pPr>
            <a:r>
              <a:rPr lang="en-US" sz="2400" dirty="0"/>
              <a:t>Your browser does not support the audio element.</a:t>
            </a:r>
          </a:p>
          <a:p>
            <a:pPr marL="45720" indent="0">
              <a:buNone/>
            </a:pPr>
            <a:r>
              <a:rPr lang="en-US" sz="2400" dirty="0"/>
              <a:t>&lt;/audio&gt;</a:t>
            </a:r>
          </a:p>
          <a:p>
            <a:endParaRPr lang="en-US" sz="2400" dirty="0"/>
          </a:p>
          <a:p>
            <a:pPr marL="45720" indent="0">
              <a:buNone/>
            </a:pPr>
            <a:r>
              <a:rPr lang="en-US" sz="2400" dirty="0"/>
              <a:t>&lt;/body&gt;</a:t>
            </a:r>
          </a:p>
          <a:p>
            <a:pPr marL="45720" indent="0">
              <a:buNone/>
            </a:pPr>
            <a:r>
              <a:rPr lang="en-US" sz="2400" dirty="0"/>
              <a:t>&lt;/html&gt;</a:t>
            </a:r>
          </a:p>
        </p:txBody>
      </p:sp>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4753429"/>
            <a:ext cx="6142182"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3990922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Audio - How It </a:t>
            </a:r>
            <a:r>
              <a:rPr lang="en-US" b="1" dirty="0" smtClean="0"/>
              <a:t>Works</a:t>
            </a:r>
            <a:endParaRPr lang="en-US" dirty="0"/>
          </a:p>
        </p:txBody>
      </p:sp>
      <p:sp>
        <p:nvSpPr>
          <p:cNvPr id="3" name="Content Placeholder 2"/>
          <p:cNvSpPr>
            <a:spLocks noGrp="1"/>
          </p:cNvSpPr>
          <p:nvPr>
            <p:ph idx="1"/>
          </p:nvPr>
        </p:nvSpPr>
        <p:spPr/>
        <p:txBody>
          <a:bodyPr/>
          <a:lstStyle/>
          <a:p>
            <a:r>
              <a:rPr lang="en-US" dirty="0"/>
              <a:t>The controls attribute adds audio controls, like play, pause, and volume.</a:t>
            </a:r>
          </a:p>
          <a:p>
            <a:r>
              <a:rPr lang="en-US" dirty="0"/>
              <a:t>The &lt;source&gt; element allows you to specify alternative audio files which the browser may choose from. The browser will use the first recognized format.</a:t>
            </a:r>
          </a:p>
          <a:p>
            <a:r>
              <a:rPr lang="en-US" dirty="0"/>
              <a:t>The text between the &lt;audio&gt; and &lt;/audio&gt; tags will only be displayed in browsers that do not support the &lt;audio&gt; element.</a:t>
            </a:r>
          </a:p>
          <a:p>
            <a:endParaRPr lang="en-US" dirty="0"/>
          </a:p>
        </p:txBody>
      </p:sp>
    </p:spTree>
    <p:extLst>
      <p:ext uri="{BB962C8B-B14F-4D97-AF65-F5344CB8AC3E}">
        <p14:creationId xmlns:p14="http://schemas.microsoft.com/office/powerpoint/2010/main" val="23962332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&lt;audio&gt; </a:t>
            </a:r>
            <a:r>
              <a:rPr lang="en-US" b="1" dirty="0" err="1" smtClean="0"/>
              <a:t>Autoplay</a:t>
            </a:r>
            <a:endParaRPr lang="en-US" dirty="0"/>
          </a:p>
        </p:txBody>
      </p:sp>
      <p:sp>
        <p:nvSpPr>
          <p:cNvPr id="3" name="Content Placeholder 2"/>
          <p:cNvSpPr>
            <a:spLocks noGrp="1"/>
          </p:cNvSpPr>
          <p:nvPr>
            <p:ph idx="1"/>
          </p:nvPr>
        </p:nvSpPr>
        <p:spPr/>
        <p:txBody>
          <a:bodyPr/>
          <a:lstStyle/>
          <a:p>
            <a:r>
              <a:rPr lang="en-US" dirty="0"/>
              <a:t>To start an audio file automatically, use the </a:t>
            </a:r>
            <a:r>
              <a:rPr lang="en-US" dirty="0" err="1"/>
              <a:t>autoplay</a:t>
            </a:r>
            <a:r>
              <a:rPr lang="en-US" dirty="0"/>
              <a:t> attribute:</a:t>
            </a:r>
          </a:p>
          <a:p>
            <a:r>
              <a:rPr lang="en-US" b="1" dirty="0"/>
              <a:t>Example</a:t>
            </a:r>
          </a:p>
          <a:p>
            <a:pPr marL="45720" indent="0">
              <a:buNone/>
            </a:pPr>
            <a:r>
              <a:rPr lang="en-US" dirty="0"/>
              <a:t>&lt;audio controls </a:t>
            </a:r>
            <a:r>
              <a:rPr lang="en-US" dirty="0" err="1"/>
              <a:t>autoplay</a:t>
            </a:r>
            <a:r>
              <a:rPr lang="en-US" dirty="0"/>
              <a:t>&gt;</a:t>
            </a:r>
            <a:br>
              <a:rPr lang="en-US" dirty="0"/>
            </a:br>
            <a:r>
              <a:rPr lang="en-US" dirty="0"/>
              <a:t>  &lt;source </a:t>
            </a:r>
            <a:r>
              <a:rPr lang="en-US" dirty="0" err="1"/>
              <a:t>src</a:t>
            </a:r>
            <a:r>
              <a:rPr lang="en-US" dirty="0"/>
              <a:t>="horse.ogg" type="audio/</a:t>
            </a:r>
            <a:r>
              <a:rPr lang="en-US" dirty="0" err="1"/>
              <a:t>ogg</a:t>
            </a:r>
            <a:r>
              <a:rPr lang="en-US" dirty="0"/>
              <a:t>"&gt;</a:t>
            </a:r>
            <a:br>
              <a:rPr lang="en-US" dirty="0"/>
            </a:br>
            <a:r>
              <a:rPr lang="en-US" dirty="0"/>
              <a:t>  &lt;source </a:t>
            </a:r>
            <a:r>
              <a:rPr lang="en-US" dirty="0" err="1"/>
              <a:t>src</a:t>
            </a:r>
            <a:r>
              <a:rPr lang="en-US" dirty="0"/>
              <a:t>="horse.mp3" type="audio/mpeg"&gt;</a:t>
            </a:r>
            <a:br>
              <a:rPr lang="en-US" dirty="0"/>
            </a:br>
            <a:r>
              <a:rPr lang="en-US" dirty="0"/>
              <a:t>Your browser does not support the audio element.</a:t>
            </a:r>
            <a:br>
              <a:rPr lang="en-US" dirty="0"/>
            </a:br>
            <a:r>
              <a:rPr lang="en-US" dirty="0"/>
              <a:t>&lt;/audio&gt; </a:t>
            </a:r>
          </a:p>
          <a:p>
            <a:endParaRPr lang="en-US" dirty="0"/>
          </a:p>
        </p:txBody>
      </p:sp>
    </p:spTree>
    <p:extLst>
      <p:ext uri="{BB962C8B-B14F-4D97-AF65-F5344CB8AC3E}">
        <p14:creationId xmlns:p14="http://schemas.microsoft.com/office/powerpoint/2010/main" val="278055334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Note:</a:t>
            </a:r>
            <a:r>
              <a:rPr lang="en-US" dirty="0"/>
              <a:t> Chromium browsers do not allow </a:t>
            </a:r>
            <a:r>
              <a:rPr lang="en-US" dirty="0" err="1"/>
              <a:t>autoplay</a:t>
            </a:r>
            <a:r>
              <a:rPr lang="en-US" dirty="0"/>
              <a:t> in most cases. However, muted </a:t>
            </a:r>
            <a:r>
              <a:rPr lang="en-US" dirty="0" err="1"/>
              <a:t>autoplay</a:t>
            </a:r>
            <a:r>
              <a:rPr lang="en-US" dirty="0"/>
              <a:t> is always allowed.</a:t>
            </a:r>
          </a:p>
          <a:p>
            <a:r>
              <a:rPr lang="en-US" dirty="0"/>
              <a:t>Add muted after </a:t>
            </a:r>
            <a:r>
              <a:rPr lang="en-US" dirty="0" err="1"/>
              <a:t>autoplay</a:t>
            </a:r>
            <a:r>
              <a:rPr lang="en-US" dirty="0"/>
              <a:t> to let your audio file start playing automatically (but muted)</a:t>
            </a:r>
          </a:p>
          <a:p>
            <a:pPr marL="45720" indent="0">
              <a:buNone/>
            </a:pPr>
            <a:r>
              <a:rPr lang="en-US" dirty="0"/>
              <a:t>&lt;audio controls </a:t>
            </a:r>
            <a:r>
              <a:rPr lang="en-US" dirty="0" err="1"/>
              <a:t>autoplay</a:t>
            </a:r>
            <a:r>
              <a:rPr lang="en-US" dirty="0"/>
              <a:t> muted&gt;</a:t>
            </a:r>
            <a:br>
              <a:rPr lang="en-US" dirty="0"/>
            </a:br>
            <a:r>
              <a:rPr lang="en-US" dirty="0"/>
              <a:t>  &lt;source </a:t>
            </a:r>
            <a:r>
              <a:rPr lang="en-US" dirty="0" err="1"/>
              <a:t>src</a:t>
            </a:r>
            <a:r>
              <a:rPr lang="en-US" dirty="0"/>
              <a:t>="horse.ogg" type="audio/</a:t>
            </a:r>
            <a:r>
              <a:rPr lang="en-US" dirty="0" err="1"/>
              <a:t>ogg</a:t>
            </a:r>
            <a:r>
              <a:rPr lang="en-US" dirty="0"/>
              <a:t>"&gt;</a:t>
            </a:r>
            <a:br>
              <a:rPr lang="en-US" dirty="0"/>
            </a:br>
            <a:r>
              <a:rPr lang="en-US" dirty="0"/>
              <a:t>  &lt;source </a:t>
            </a:r>
            <a:r>
              <a:rPr lang="en-US" dirty="0" err="1"/>
              <a:t>src</a:t>
            </a:r>
            <a:r>
              <a:rPr lang="en-US" dirty="0"/>
              <a:t>="horse.mp3" type="audio/mpeg"&gt;</a:t>
            </a:r>
            <a:br>
              <a:rPr lang="en-US" dirty="0"/>
            </a:br>
            <a:r>
              <a:rPr lang="en-US" dirty="0"/>
              <a:t>Your browser does not support the audio element.</a:t>
            </a:r>
            <a:br>
              <a:rPr lang="en-US" dirty="0"/>
            </a:br>
            <a:r>
              <a:rPr lang="en-US" dirty="0"/>
              <a:t>&lt;/audio&gt; </a:t>
            </a:r>
          </a:p>
          <a:p>
            <a:endParaRPr lang="en-US" dirty="0"/>
          </a:p>
        </p:txBody>
      </p:sp>
    </p:spTree>
    <p:extLst>
      <p:ext uri="{BB962C8B-B14F-4D97-AF65-F5344CB8AC3E}">
        <p14:creationId xmlns:p14="http://schemas.microsoft.com/office/powerpoint/2010/main" val="4198556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Audio - Media </a:t>
            </a:r>
            <a:r>
              <a:rPr lang="en-US" b="1" dirty="0" smtClean="0"/>
              <a:t>Types</a:t>
            </a:r>
            <a:endParaRPr lang="en-US" dirty="0"/>
          </a:p>
        </p:txBody>
      </p:sp>
      <p:pic>
        <p:nvPicPr>
          <p:cNvPr id="307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2971800"/>
            <a:ext cx="7315200" cy="2971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6534109"/>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Audio </a:t>
            </a:r>
            <a:r>
              <a:rPr lang="en-US" b="1" dirty="0" smtClean="0"/>
              <a:t>Tags</a:t>
            </a:r>
            <a:endParaRPr lang="en-US" dirty="0"/>
          </a:p>
        </p:txBody>
      </p:sp>
      <p:pic>
        <p:nvPicPr>
          <p:cNvPr id="317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2971800"/>
            <a:ext cx="7315200" cy="274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1466820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HTML Geolocation </a:t>
            </a:r>
            <a:r>
              <a:rPr lang="en-US" b="1" dirty="0" smtClean="0"/>
              <a:t>API</a:t>
            </a:r>
            <a:endParaRPr lang="en-US" dirty="0"/>
          </a:p>
        </p:txBody>
      </p:sp>
      <p:sp>
        <p:nvSpPr>
          <p:cNvPr id="3" name="Content Placeholder 2"/>
          <p:cNvSpPr>
            <a:spLocks noGrp="1"/>
          </p:cNvSpPr>
          <p:nvPr>
            <p:ph idx="1"/>
          </p:nvPr>
        </p:nvSpPr>
        <p:spPr/>
        <p:txBody>
          <a:bodyPr>
            <a:normAutofit fontScale="92500"/>
          </a:bodyPr>
          <a:lstStyle/>
          <a:p>
            <a:r>
              <a:rPr lang="en-US" dirty="0"/>
              <a:t>The HTML Geolocation API is used to locate a user's position.</a:t>
            </a:r>
          </a:p>
          <a:p>
            <a:r>
              <a:rPr lang="en-US" dirty="0"/>
              <a:t>The HTML Geolocation API is used to get the geographical position of a user.</a:t>
            </a:r>
          </a:p>
          <a:p>
            <a:r>
              <a:rPr lang="en-US" dirty="0"/>
              <a:t>Since this can compromise privacy, the position is not available unless the user approves it.</a:t>
            </a:r>
          </a:p>
          <a:p>
            <a:r>
              <a:rPr lang="en-US" b="1" dirty="0"/>
              <a:t>Note: </a:t>
            </a:r>
            <a:r>
              <a:rPr lang="en-US" dirty="0"/>
              <a:t>Geolocation is most accurate for devices with GPS, like smartphones</a:t>
            </a:r>
            <a:r>
              <a:rPr lang="en-US" dirty="0" smtClean="0"/>
              <a:t>.</a:t>
            </a:r>
          </a:p>
          <a:p>
            <a:r>
              <a:rPr lang="en-US" b="1" dirty="0"/>
              <a:t>Note:</a:t>
            </a:r>
            <a:r>
              <a:rPr lang="en-US" dirty="0"/>
              <a:t> As of Chrome 50, the Geolocation API will only work on secure contexts such as HTTPS. If your site is hosted on an non-secure origin (such as HTTP) the requests to get the users location will no longer function.</a:t>
            </a:r>
          </a:p>
        </p:txBody>
      </p:sp>
    </p:spTree>
    <p:extLst>
      <p:ext uri="{BB962C8B-B14F-4D97-AF65-F5344CB8AC3E}">
        <p14:creationId xmlns:p14="http://schemas.microsoft.com/office/powerpoint/2010/main" val="314113657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Using HTML </a:t>
            </a:r>
            <a:r>
              <a:rPr lang="en-US" b="1" dirty="0" smtClean="0"/>
              <a:t>Geolocation</a:t>
            </a:r>
            <a:endParaRPr lang="en-US" dirty="0"/>
          </a:p>
        </p:txBody>
      </p:sp>
      <p:sp>
        <p:nvSpPr>
          <p:cNvPr id="3" name="Content Placeholder 2"/>
          <p:cNvSpPr>
            <a:spLocks noGrp="1"/>
          </p:cNvSpPr>
          <p:nvPr>
            <p:ph idx="1"/>
          </p:nvPr>
        </p:nvSpPr>
        <p:spPr/>
        <p:txBody>
          <a:bodyPr/>
          <a:lstStyle/>
          <a:p>
            <a:r>
              <a:rPr lang="en-US" dirty="0"/>
              <a:t>The </a:t>
            </a:r>
            <a:r>
              <a:rPr lang="en-US" dirty="0" err="1"/>
              <a:t>getCurrentPosition</a:t>
            </a:r>
            <a:r>
              <a:rPr lang="en-US" dirty="0"/>
              <a:t>() method is used to return the user's position.</a:t>
            </a:r>
          </a:p>
          <a:p>
            <a:r>
              <a:rPr lang="en-US" dirty="0"/>
              <a:t>The example below returns the latitude and longitude of the user's position</a:t>
            </a:r>
          </a:p>
          <a:p>
            <a:endParaRPr lang="en-US" dirty="0"/>
          </a:p>
        </p:txBody>
      </p:sp>
    </p:spTree>
    <p:extLst>
      <p:ext uri="{BB962C8B-B14F-4D97-AF65-F5344CB8AC3E}">
        <p14:creationId xmlns:p14="http://schemas.microsoft.com/office/powerpoint/2010/main" val="337976753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533401"/>
            <a:ext cx="7315200" cy="5775960"/>
          </a:xfrm>
        </p:spPr>
        <p:txBody>
          <a:bodyPr>
            <a:noAutofit/>
          </a:bodyPr>
          <a:lstStyle/>
          <a:p>
            <a:pPr marL="45720" indent="0">
              <a:buNone/>
            </a:pPr>
            <a:r>
              <a:rPr lang="en-US" sz="2400" dirty="0"/>
              <a:t>&lt;!DOCTYPE html&gt;</a:t>
            </a:r>
          </a:p>
          <a:p>
            <a:pPr marL="45720" indent="0">
              <a:buNone/>
            </a:pPr>
            <a:r>
              <a:rPr lang="en-US" sz="2400" dirty="0"/>
              <a:t>&lt;html&gt;</a:t>
            </a:r>
          </a:p>
          <a:p>
            <a:pPr marL="45720" indent="0">
              <a:buNone/>
            </a:pPr>
            <a:r>
              <a:rPr lang="en-US" sz="2400" dirty="0"/>
              <a:t>&lt;body</a:t>
            </a:r>
            <a:r>
              <a:rPr lang="en-US" sz="2400" dirty="0" smtClean="0"/>
              <a:t>&gt;</a:t>
            </a:r>
            <a:endParaRPr lang="en-US" sz="2400" dirty="0"/>
          </a:p>
          <a:p>
            <a:pPr marL="45720" indent="0">
              <a:buNone/>
            </a:pPr>
            <a:r>
              <a:rPr lang="en-US" sz="2400" dirty="0"/>
              <a:t>&lt;p&gt;Click the button to get your coordinates.&lt;/p</a:t>
            </a:r>
            <a:r>
              <a:rPr lang="en-US" sz="2400" dirty="0" smtClean="0"/>
              <a:t>&gt;</a:t>
            </a:r>
            <a:endParaRPr lang="en-US" sz="2400" dirty="0"/>
          </a:p>
          <a:p>
            <a:pPr marL="45720" indent="0">
              <a:buNone/>
            </a:pPr>
            <a:r>
              <a:rPr lang="en-US" sz="2400" dirty="0"/>
              <a:t>&lt;button </a:t>
            </a:r>
            <a:r>
              <a:rPr lang="en-US" sz="2400" dirty="0" err="1"/>
              <a:t>onclick</a:t>
            </a:r>
            <a:r>
              <a:rPr lang="en-US" sz="2400" dirty="0"/>
              <a:t>="</a:t>
            </a:r>
            <a:r>
              <a:rPr lang="en-US" sz="2400" dirty="0" err="1"/>
              <a:t>getLocation</a:t>
            </a:r>
            <a:r>
              <a:rPr lang="en-US" sz="2400" dirty="0"/>
              <a:t>()"&gt;Try It&lt;/button</a:t>
            </a:r>
            <a:r>
              <a:rPr lang="en-US" sz="2400" dirty="0" smtClean="0"/>
              <a:t>&gt;</a:t>
            </a:r>
            <a:endParaRPr lang="en-US" sz="2400" dirty="0"/>
          </a:p>
          <a:p>
            <a:pPr marL="45720" indent="0">
              <a:buNone/>
            </a:pPr>
            <a:r>
              <a:rPr lang="en-US" sz="2400" dirty="0"/>
              <a:t>&lt;p id="demo"&gt;&lt;/p</a:t>
            </a:r>
            <a:r>
              <a:rPr lang="en-US" sz="2400" dirty="0" smtClean="0"/>
              <a:t>&gt;</a:t>
            </a:r>
            <a:endParaRPr lang="en-US" sz="2400" dirty="0"/>
          </a:p>
          <a:p>
            <a:pPr marL="45720" indent="0">
              <a:buNone/>
            </a:pPr>
            <a:r>
              <a:rPr lang="en-US" sz="2400" dirty="0"/>
              <a:t>&lt;script&gt;</a:t>
            </a:r>
          </a:p>
          <a:p>
            <a:pPr marL="45720" indent="0">
              <a:buNone/>
            </a:pPr>
            <a:r>
              <a:rPr lang="en-US" sz="2400" dirty="0" err="1"/>
              <a:t>var</a:t>
            </a:r>
            <a:r>
              <a:rPr lang="en-US" sz="2400" dirty="0"/>
              <a:t> x = </a:t>
            </a:r>
            <a:r>
              <a:rPr lang="en-US" sz="2400" dirty="0" err="1"/>
              <a:t>document.getElementById</a:t>
            </a:r>
            <a:r>
              <a:rPr lang="en-US" sz="2400" dirty="0"/>
              <a:t>("demo</a:t>
            </a:r>
            <a:r>
              <a:rPr lang="en-US" sz="2400" dirty="0" smtClean="0"/>
              <a:t>");</a:t>
            </a:r>
            <a:endParaRPr lang="en-US" sz="2400" dirty="0" smtClean="0"/>
          </a:p>
          <a:p>
            <a:pPr marL="45720" indent="0">
              <a:buNone/>
            </a:pPr>
            <a:r>
              <a:rPr lang="en-US" sz="2400" dirty="0"/>
              <a:t>function </a:t>
            </a:r>
            <a:r>
              <a:rPr lang="en-US" sz="2400" dirty="0" err="1"/>
              <a:t>getLocation</a:t>
            </a:r>
            <a:r>
              <a:rPr lang="en-US" sz="2400" dirty="0"/>
              <a:t>() {</a:t>
            </a:r>
          </a:p>
          <a:p>
            <a:pPr marL="45720" indent="0">
              <a:buNone/>
            </a:pPr>
            <a:r>
              <a:rPr lang="en-US" sz="2400" dirty="0"/>
              <a:t>  if (</a:t>
            </a:r>
            <a:r>
              <a:rPr lang="en-US" sz="2400" dirty="0" err="1"/>
              <a:t>navigator.geolocation</a:t>
            </a:r>
            <a:r>
              <a:rPr lang="en-US" sz="2400" dirty="0"/>
              <a:t>) {</a:t>
            </a:r>
          </a:p>
          <a:p>
            <a:pPr marL="45720" indent="0">
              <a:buNone/>
            </a:pPr>
            <a:r>
              <a:rPr lang="en-US" sz="2400" dirty="0"/>
              <a:t>    </a:t>
            </a:r>
            <a:r>
              <a:rPr lang="en-US" sz="2400" dirty="0" err="1"/>
              <a:t>navigator.geolocation.getCurrentPosition</a:t>
            </a:r>
            <a:r>
              <a:rPr lang="en-US" sz="2400" dirty="0"/>
              <a:t>(</a:t>
            </a:r>
            <a:r>
              <a:rPr lang="en-US" sz="2400" dirty="0" err="1"/>
              <a:t>showPosition</a:t>
            </a:r>
            <a:r>
              <a:rPr lang="en-US" sz="2400" dirty="0"/>
              <a:t>);</a:t>
            </a:r>
          </a:p>
          <a:p>
            <a:pPr marL="45720" indent="0">
              <a:buNone/>
            </a:pPr>
            <a:r>
              <a:rPr lang="en-US" sz="2400" dirty="0"/>
              <a:t>  }</a:t>
            </a:r>
            <a:endParaRPr lang="en-US" sz="2400" dirty="0" smtClean="0"/>
          </a:p>
          <a:p>
            <a:pPr marL="45720" indent="0">
              <a:buNone/>
            </a:pPr>
            <a:endParaRPr lang="en-US" sz="2400" dirty="0"/>
          </a:p>
        </p:txBody>
      </p:sp>
    </p:spTree>
    <p:extLst>
      <p:ext uri="{BB962C8B-B14F-4D97-AF65-F5344CB8AC3E}">
        <p14:creationId xmlns:p14="http://schemas.microsoft.com/office/powerpoint/2010/main" val="2569275992"/>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609601"/>
            <a:ext cx="7315200" cy="5699760"/>
          </a:xfrm>
        </p:spPr>
        <p:txBody>
          <a:bodyPr>
            <a:normAutofit/>
          </a:bodyPr>
          <a:lstStyle/>
          <a:p>
            <a:pPr marL="45720" indent="0">
              <a:buNone/>
            </a:pPr>
            <a:r>
              <a:rPr lang="en-US" sz="2400" dirty="0" smtClean="0"/>
              <a:t>else </a:t>
            </a:r>
            <a:r>
              <a:rPr lang="en-US" sz="2400" dirty="0"/>
              <a:t>{ </a:t>
            </a:r>
          </a:p>
          <a:p>
            <a:pPr marL="45720" indent="0">
              <a:buNone/>
            </a:pPr>
            <a:r>
              <a:rPr lang="en-US" sz="2400" dirty="0"/>
              <a:t>    </a:t>
            </a:r>
            <a:r>
              <a:rPr lang="en-US" sz="2400" dirty="0" err="1"/>
              <a:t>x.innerHTML</a:t>
            </a:r>
            <a:r>
              <a:rPr lang="en-US" sz="2400" dirty="0"/>
              <a:t> = "Geolocation is not supported by this browser.";</a:t>
            </a:r>
          </a:p>
          <a:p>
            <a:pPr marL="45720" indent="0">
              <a:buNone/>
            </a:pPr>
            <a:r>
              <a:rPr lang="en-US" sz="2400" dirty="0"/>
              <a:t>  }</a:t>
            </a:r>
          </a:p>
          <a:p>
            <a:r>
              <a:rPr lang="en-US" sz="2400" dirty="0" smtClean="0"/>
              <a:t>}</a:t>
            </a:r>
            <a:endParaRPr lang="en-US" sz="2400" dirty="0"/>
          </a:p>
          <a:p>
            <a:pPr marL="45720" indent="0">
              <a:buNone/>
            </a:pPr>
            <a:r>
              <a:rPr lang="en-US" sz="2400" dirty="0"/>
              <a:t>function </a:t>
            </a:r>
            <a:r>
              <a:rPr lang="en-US" sz="2400" dirty="0" err="1"/>
              <a:t>showPosition</a:t>
            </a:r>
            <a:r>
              <a:rPr lang="en-US" sz="2400" dirty="0"/>
              <a:t>(position) {</a:t>
            </a:r>
          </a:p>
          <a:p>
            <a:pPr marL="45720" indent="0">
              <a:buNone/>
            </a:pPr>
            <a:r>
              <a:rPr lang="en-US" sz="2400" dirty="0"/>
              <a:t>  </a:t>
            </a:r>
            <a:r>
              <a:rPr lang="en-US" sz="2400" dirty="0" err="1"/>
              <a:t>x.innerHTML</a:t>
            </a:r>
            <a:r>
              <a:rPr lang="en-US" sz="2400" dirty="0"/>
              <a:t> = "Latitude: " + </a:t>
            </a:r>
            <a:r>
              <a:rPr lang="en-US" sz="2400" dirty="0" err="1"/>
              <a:t>position.coords.latitude</a:t>
            </a:r>
            <a:r>
              <a:rPr lang="en-US" sz="2400" dirty="0"/>
              <a:t> + </a:t>
            </a:r>
          </a:p>
          <a:p>
            <a:pPr marL="45720" indent="0">
              <a:buNone/>
            </a:pPr>
            <a:r>
              <a:rPr lang="en-US" sz="2400" dirty="0"/>
              <a:t>  "&lt;</a:t>
            </a:r>
            <a:r>
              <a:rPr lang="en-US" sz="2400" dirty="0" err="1"/>
              <a:t>br</a:t>
            </a:r>
            <a:r>
              <a:rPr lang="en-US" sz="2400" dirty="0"/>
              <a:t>&gt;Longitude: " + </a:t>
            </a:r>
            <a:r>
              <a:rPr lang="en-US" sz="2400" dirty="0" err="1"/>
              <a:t>position.coords.longitude</a:t>
            </a:r>
            <a:r>
              <a:rPr lang="en-US" sz="2400" dirty="0"/>
              <a:t>;</a:t>
            </a:r>
          </a:p>
          <a:p>
            <a:pPr marL="45720" indent="0">
              <a:buNone/>
            </a:pPr>
            <a:r>
              <a:rPr lang="en-US" sz="2400" dirty="0"/>
              <a:t>}</a:t>
            </a:r>
          </a:p>
          <a:p>
            <a:pPr marL="45720" indent="0">
              <a:buNone/>
            </a:pPr>
            <a:r>
              <a:rPr lang="en-US" sz="2400" dirty="0"/>
              <a:t>&lt;/script</a:t>
            </a:r>
            <a:r>
              <a:rPr lang="en-US" sz="2400" dirty="0" smtClean="0"/>
              <a:t>&gt;</a:t>
            </a:r>
            <a:endParaRPr lang="en-US" sz="2400" dirty="0"/>
          </a:p>
          <a:p>
            <a:pPr marL="45720" indent="0">
              <a:buNone/>
            </a:pPr>
            <a:r>
              <a:rPr lang="en-US" sz="2400" dirty="0"/>
              <a:t>&lt;/body&gt;</a:t>
            </a:r>
          </a:p>
          <a:p>
            <a:pPr marL="45720" indent="0">
              <a:buNone/>
            </a:pPr>
            <a:r>
              <a:rPr lang="en-US" sz="2400" dirty="0"/>
              <a:t>&lt;/html&gt;</a:t>
            </a:r>
          </a:p>
          <a:p>
            <a:endParaRPr lang="en-US" sz="2400" dirty="0"/>
          </a:p>
          <a:p>
            <a:endParaRPr lang="en-US" sz="2400" dirty="0"/>
          </a:p>
        </p:txBody>
      </p:sp>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5526" y="4450773"/>
            <a:ext cx="4490369" cy="21024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8833202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Example explained:</a:t>
            </a:r>
          </a:p>
          <a:p>
            <a:r>
              <a:rPr lang="en-US" dirty="0"/>
              <a:t>Check if Geolocation is supported</a:t>
            </a:r>
          </a:p>
          <a:p>
            <a:r>
              <a:rPr lang="en-US" dirty="0"/>
              <a:t>If supported, run the </a:t>
            </a:r>
            <a:r>
              <a:rPr lang="en-US" dirty="0" err="1"/>
              <a:t>getCurrentPosition</a:t>
            </a:r>
            <a:r>
              <a:rPr lang="en-US" dirty="0"/>
              <a:t>() method. If not, display a message to the user</a:t>
            </a:r>
          </a:p>
          <a:p>
            <a:r>
              <a:rPr lang="en-US" dirty="0"/>
              <a:t>If the </a:t>
            </a:r>
            <a:r>
              <a:rPr lang="en-US" dirty="0" err="1"/>
              <a:t>getCurrentPosition</a:t>
            </a:r>
            <a:r>
              <a:rPr lang="en-US" dirty="0"/>
              <a:t>() method is successful, it returns a coordinates object to the function specified in the parameter (</a:t>
            </a:r>
            <a:r>
              <a:rPr lang="en-US" dirty="0" err="1"/>
              <a:t>showPosition</a:t>
            </a:r>
            <a:r>
              <a:rPr lang="en-US" dirty="0"/>
              <a:t>)</a:t>
            </a:r>
          </a:p>
          <a:p>
            <a:r>
              <a:rPr lang="en-US" dirty="0"/>
              <a:t>The </a:t>
            </a:r>
            <a:r>
              <a:rPr lang="en-US" dirty="0" err="1"/>
              <a:t>showPosition</a:t>
            </a:r>
            <a:r>
              <a:rPr lang="en-US" dirty="0"/>
              <a:t>() function outputs the Latitude and Longitude</a:t>
            </a:r>
          </a:p>
          <a:p>
            <a:r>
              <a:rPr lang="en-US" dirty="0"/>
              <a:t>The example above is a very basic Geolocation script, with no error handling.</a:t>
            </a:r>
          </a:p>
          <a:p>
            <a:endParaRPr lang="en-US" dirty="0"/>
          </a:p>
        </p:txBody>
      </p:sp>
    </p:spTree>
    <p:extLst>
      <p:ext uri="{BB962C8B-B14F-4D97-AF65-F5344CB8AC3E}">
        <p14:creationId xmlns:p14="http://schemas.microsoft.com/office/powerpoint/2010/main" val="4140695175"/>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Handling Errors and </a:t>
            </a:r>
            <a:r>
              <a:rPr lang="en-US" b="1" dirty="0" smtClean="0"/>
              <a:t>Rejections</a:t>
            </a:r>
            <a:endParaRPr lang="en-US" dirty="0"/>
          </a:p>
        </p:txBody>
      </p:sp>
      <p:sp>
        <p:nvSpPr>
          <p:cNvPr id="3" name="Content Placeholder 2"/>
          <p:cNvSpPr>
            <a:spLocks noGrp="1"/>
          </p:cNvSpPr>
          <p:nvPr>
            <p:ph idx="1"/>
          </p:nvPr>
        </p:nvSpPr>
        <p:spPr/>
        <p:txBody>
          <a:bodyPr/>
          <a:lstStyle/>
          <a:p>
            <a:r>
              <a:rPr lang="en-US" dirty="0"/>
              <a:t>The second parameter of the </a:t>
            </a:r>
            <a:r>
              <a:rPr lang="en-US" dirty="0" err="1"/>
              <a:t>getCurrentPosition</a:t>
            </a:r>
            <a:r>
              <a:rPr lang="en-US" dirty="0"/>
              <a:t>() method is used to handle errors. It specifies a function to run if it fails to get the user's location</a:t>
            </a:r>
          </a:p>
        </p:txBody>
      </p:sp>
    </p:spTree>
    <p:extLst>
      <p:ext uri="{BB962C8B-B14F-4D97-AF65-F5344CB8AC3E}">
        <p14:creationId xmlns:p14="http://schemas.microsoft.com/office/powerpoint/2010/main" val="20711826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533401"/>
            <a:ext cx="7315200" cy="5775960"/>
          </a:xfrm>
        </p:spPr>
        <p:txBody>
          <a:bodyPr>
            <a:normAutofit/>
          </a:bodyPr>
          <a:lstStyle/>
          <a:p>
            <a:pPr marL="45720" indent="0">
              <a:buNone/>
            </a:pPr>
            <a:r>
              <a:rPr lang="en-US" dirty="0"/>
              <a:t>function </a:t>
            </a:r>
            <a:r>
              <a:rPr lang="en-US" dirty="0" err="1"/>
              <a:t>showError</a:t>
            </a:r>
            <a:r>
              <a:rPr lang="en-US" dirty="0"/>
              <a:t>(error) {</a:t>
            </a:r>
            <a:br>
              <a:rPr lang="en-US" dirty="0"/>
            </a:br>
            <a:r>
              <a:rPr lang="en-US" dirty="0"/>
              <a:t>  switch(</a:t>
            </a:r>
            <a:r>
              <a:rPr lang="en-US" dirty="0" err="1"/>
              <a:t>error.code</a:t>
            </a:r>
            <a:r>
              <a:rPr lang="en-US" dirty="0"/>
              <a:t>) {</a:t>
            </a:r>
            <a:br>
              <a:rPr lang="en-US" dirty="0"/>
            </a:br>
            <a:r>
              <a:rPr lang="en-US" dirty="0"/>
              <a:t>    case </a:t>
            </a:r>
            <a:r>
              <a:rPr lang="en-US" dirty="0" err="1"/>
              <a:t>error.PERMISSION_DENIED</a:t>
            </a:r>
            <a:r>
              <a:rPr lang="en-US" dirty="0"/>
              <a:t>:</a:t>
            </a:r>
            <a:br>
              <a:rPr lang="en-US" dirty="0"/>
            </a:br>
            <a:r>
              <a:rPr lang="en-US" dirty="0"/>
              <a:t>      </a:t>
            </a:r>
            <a:r>
              <a:rPr lang="en-US" dirty="0" err="1"/>
              <a:t>x.innerHTML</a:t>
            </a:r>
            <a:r>
              <a:rPr lang="en-US" dirty="0"/>
              <a:t> = "User denied the request for Geolocation."</a:t>
            </a:r>
            <a:br>
              <a:rPr lang="en-US" dirty="0"/>
            </a:br>
            <a:r>
              <a:rPr lang="en-US" dirty="0"/>
              <a:t>      break;</a:t>
            </a:r>
            <a:br>
              <a:rPr lang="en-US" dirty="0"/>
            </a:br>
            <a:r>
              <a:rPr lang="en-US" dirty="0"/>
              <a:t>    case </a:t>
            </a:r>
            <a:r>
              <a:rPr lang="en-US" dirty="0" err="1"/>
              <a:t>error.POSITION_UNAVAILABLE</a:t>
            </a:r>
            <a:r>
              <a:rPr lang="en-US" dirty="0"/>
              <a:t>:</a:t>
            </a:r>
            <a:br>
              <a:rPr lang="en-US" dirty="0"/>
            </a:br>
            <a:r>
              <a:rPr lang="en-US" dirty="0"/>
              <a:t>      </a:t>
            </a:r>
            <a:r>
              <a:rPr lang="en-US" dirty="0" err="1"/>
              <a:t>x.innerHTML</a:t>
            </a:r>
            <a:r>
              <a:rPr lang="en-US" dirty="0"/>
              <a:t> = "Location information is unavailable."</a:t>
            </a:r>
            <a:br>
              <a:rPr lang="en-US" dirty="0"/>
            </a:br>
            <a:r>
              <a:rPr lang="en-US" dirty="0"/>
              <a:t>      break;</a:t>
            </a:r>
            <a:br>
              <a:rPr lang="en-US" dirty="0"/>
            </a:br>
            <a:r>
              <a:rPr lang="en-US" dirty="0"/>
              <a:t>    case </a:t>
            </a:r>
            <a:r>
              <a:rPr lang="en-US" dirty="0" err="1"/>
              <a:t>error.TIMEOUT</a:t>
            </a:r>
            <a:r>
              <a:rPr lang="en-US" dirty="0"/>
              <a:t>:</a:t>
            </a:r>
            <a:br>
              <a:rPr lang="en-US" dirty="0"/>
            </a:br>
            <a:r>
              <a:rPr lang="en-US" dirty="0"/>
              <a:t>      </a:t>
            </a:r>
            <a:r>
              <a:rPr lang="en-US" dirty="0" err="1"/>
              <a:t>x.innerHTML</a:t>
            </a:r>
            <a:r>
              <a:rPr lang="en-US" dirty="0"/>
              <a:t> = "The request to get user location timed out."</a:t>
            </a:r>
            <a:br>
              <a:rPr lang="en-US" dirty="0"/>
            </a:br>
            <a:r>
              <a:rPr lang="en-US" dirty="0"/>
              <a:t>      break;</a:t>
            </a:r>
            <a:br>
              <a:rPr lang="en-US" dirty="0"/>
            </a:br>
            <a:r>
              <a:rPr lang="en-US" dirty="0"/>
              <a:t>    case </a:t>
            </a:r>
            <a:r>
              <a:rPr lang="en-US" dirty="0" err="1"/>
              <a:t>error.UNKNOWN_ERROR</a:t>
            </a:r>
            <a:r>
              <a:rPr lang="en-US" dirty="0"/>
              <a:t>:</a:t>
            </a:r>
            <a:br>
              <a:rPr lang="en-US" dirty="0"/>
            </a:br>
            <a:r>
              <a:rPr lang="en-US" dirty="0"/>
              <a:t>      </a:t>
            </a:r>
            <a:r>
              <a:rPr lang="en-US" dirty="0" err="1"/>
              <a:t>x.innerHTML</a:t>
            </a:r>
            <a:r>
              <a:rPr lang="en-US" dirty="0"/>
              <a:t> = "An unknown error occurred."</a:t>
            </a:r>
            <a:br>
              <a:rPr lang="en-US" dirty="0"/>
            </a:br>
            <a:r>
              <a:rPr lang="en-US" dirty="0"/>
              <a:t>      break;</a:t>
            </a:r>
            <a:br>
              <a:rPr lang="en-US" dirty="0"/>
            </a:br>
            <a:r>
              <a:rPr lang="en-US" dirty="0"/>
              <a:t>  }</a:t>
            </a:r>
            <a:br>
              <a:rPr lang="en-US" dirty="0"/>
            </a:br>
            <a:r>
              <a:rPr lang="en-US" dirty="0"/>
              <a:t>}</a:t>
            </a:r>
          </a:p>
        </p:txBody>
      </p:sp>
    </p:spTree>
    <p:extLst>
      <p:ext uri="{BB962C8B-B14F-4D97-AF65-F5344CB8AC3E}">
        <p14:creationId xmlns:p14="http://schemas.microsoft.com/office/powerpoint/2010/main" val="282811699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Location-specific </a:t>
            </a:r>
            <a:r>
              <a:rPr lang="en-US" b="1" dirty="0" smtClean="0"/>
              <a:t>Information</a:t>
            </a:r>
            <a:endParaRPr lang="en-US" dirty="0"/>
          </a:p>
        </p:txBody>
      </p:sp>
      <p:sp>
        <p:nvSpPr>
          <p:cNvPr id="3" name="Content Placeholder 2"/>
          <p:cNvSpPr>
            <a:spLocks noGrp="1"/>
          </p:cNvSpPr>
          <p:nvPr>
            <p:ph idx="1"/>
          </p:nvPr>
        </p:nvSpPr>
        <p:spPr/>
        <p:txBody>
          <a:bodyPr/>
          <a:lstStyle/>
          <a:p>
            <a:r>
              <a:rPr lang="en-US" dirty="0"/>
              <a:t>Geolocation is also very useful for location-specific information, like:</a:t>
            </a:r>
          </a:p>
          <a:p>
            <a:r>
              <a:rPr lang="en-US" dirty="0"/>
              <a:t>Up-to-date local information</a:t>
            </a:r>
          </a:p>
          <a:p>
            <a:r>
              <a:rPr lang="en-US" dirty="0"/>
              <a:t>Showing Points-of-interest near the user</a:t>
            </a:r>
          </a:p>
          <a:p>
            <a:r>
              <a:rPr lang="en-US" dirty="0"/>
              <a:t>Turn-by-turn navigation (GPS)</a:t>
            </a:r>
          </a:p>
          <a:p>
            <a:endParaRPr lang="en-US" dirty="0"/>
          </a:p>
        </p:txBody>
      </p:sp>
    </p:spTree>
    <p:extLst>
      <p:ext uri="{BB962C8B-B14F-4D97-AF65-F5344CB8AC3E}">
        <p14:creationId xmlns:p14="http://schemas.microsoft.com/office/powerpoint/2010/main" val="366639947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a:t>
            </a:r>
            <a:r>
              <a:rPr lang="en-US" b="1" dirty="0" err="1"/>
              <a:t>getCurrentPosition</a:t>
            </a:r>
            <a:r>
              <a:rPr lang="en-US" b="1" dirty="0"/>
              <a:t>() Method - Return </a:t>
            </a:r>
            <a:r>
              <a:rPr lang="en-US" b="1" dirty="0" smtClean="0"/>
              <a:t>Data</a:t>
            </a:r>
            <a:endParaRPr lang="en-US" dirty="0"/>
          </a:p>
        </p:txBody>
      </p:sp>
      <p:sp>
        <p:nvSpPr>
          <p:cNvPr id="3" name="Content Placeholder 2"/>
          <p:cNvSpPr>
            <a:spLocks noGrp="1"/>
          </p:cNvSpPr>
          <p:nvPr>
            <p:ph idx="1"/>
          </p:nvPr>
        </p:nvSpPr>
        <p:spPr/>
        <p:txBody>
          <a:bodyPr/>
          <a:lstStyle/>
          <a:p>
            <a:r>
              <a:rPr lang="en-US" dirty="0"/>
              <a:t>The </a:t>
            </a:r>
            <a:r>
              <a:rPr lang="en-US" dirty="0" err="1"/>
              <a:t>getCurrentPosition</a:t>
            </a:r>
            <a:r>
              <a:rPr lang="en-US" dirty="0"/>
              <a:t>() method returns an object on success. The latitude, longitude and accuracy properties are always returned. The other properties are returned if available:</a:t>
            </a:r>
          </a:p>
        </p:txBody>
      </p:sp>
    </p:spTree>
    <p:extLst>
      <p:ext uri="{BB962C8B-B14F-4D97-AF65-F5344CB8AC3E}">
        <p14:creationId xmlns:p14="http://schemas.microsoft.com/office/powerpoint/2010/main" val="1155370148"/>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175" y="1371600"/>
            <a:ext cx="7867650" cy="51768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6794014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Geolocation Object - Other interesting </a:t>
            </a:r>
            <a:r>
              <a:rPr lang="en-US" b="1" dirty="0" smtClean="0"/>
              <a:t>Methods</a:t>
            </a:r>
            <a:endParaRPr lang="en-US" dirty="0"/>
          </a:p>
        </p:txBody>
      </p:sp>
      <p:sp>
        <p:nvSpPr>
          <p:cNvPr id="3" name="Content Placeholder 2"/>
          <p:cNvSpPr>
            <a:spLocks noGrp="1"/>
          </p:cNvSpPr>
          <p:nvPr>
            <p:ph idx="1"/>
          </p:nvPr>
        </p:nvSpPr>
        <p:spPr/>
        <p:txBody>
          <a:bodyPr/>
          <a:lstStyle/>
          <a:p>
            <a:r>
              <a:rPr lang="en-US" dirty="0"/>
              <a:t>The Geolocation object also has other interesting methods:</a:t>
            </a:r>
          </a:p>
          <a:p>
            <a:r>
              <a:rPr lang="en-US" dirty="0" err="1"/>
              <a:t>watchPosition</a:t>
            </a:r>
            <a:r>
              <a:rPr lang="en-US" dirty="0"/>
              <a:t>() - Returns the current position of the user and continues to return updated position as the user moves (like the GPS in a car).</a:t>
            </a:r>
          </a:p>
          <a:p>
            <a:r>
              <a:rPr lang="en-US" dirty="0" err="1"/>
              <a:t>clearWatch</a:t>
            </a:r>
            <a:r>
              <a:rPr lang="en-US" dirty="0"/>
              <a:t>() - Stops the </a:t>
            </a:r>
            <a:r>
              <a:rPr lang="en-US" dirty="0" err="1"/>
              <a:t>watchPosition</a:t>
            </a:r>
            <a:r>
              <a:rPr lang="en-US" dirty="0"/>
              <a:t>() method.</a:t>
            </a:r>
          </a:p>
          <a:p>
            <a:r>
              <a:rPr lang="en-US" dirty="0"/>
              <a:t>The example below shows the </a:t>
            </a:r>
            <a:r>
              <a:rPr lang="en-US" dirty="0" err="1"/>
              <a:t>watchPosition</a:t>
            </a:r>
            <a:r>
              <a:rPr lang="en-US" dirty="0"/>
              <a:t>() method. You need an accurate GPS device to test this (like smartphone): </a:t>
            </a:r>
          </a:p>
          <a:p>
            <a:endParaRPr lang="en-US" dirty="0"/>
          </a:p>
        </p:txBody>
      </p:sp>
    </p:spTree>
    <p:extLst>
      <p:ext uri="{BB962C8B-B14F-4D97-AF65-F5344CB8AC3E}">
        <p14:creationId xmlns:p14="http://schemas.microsoft.com/office/powerpoint/2010/main" val="282473344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14400" y="1143001"/>
            <a:ext cx="7315200" cy="5166360"/>
          </a:xfrm>
        </p:spPr>
        <p:txBody>
          <a:bodyPr>
            <a:normAutofit/>
          </a:bodyPr>
          <a:lstStyle/>
          <a:p>
            <a:pPr marL="45720" indent="0">
              <a:buNone/>
            </a:pPr>
            <a:r>
              <a:rPr lang="en-US" dirty="0"/>
              <a:t>&lt;script&gt;</a:t>
            </a:r>
            <a:br>
              <a:rPr lang="en-US" dirty="0"/>
            </a:br>
            <a:r>
              <a:rPr lang="en-US" dirty="0" err="1"/>
              <a:t>var</a:t>
            </a:r>
            <a:r>
              <a:rPr lang="en-US" dirty="0"/>
              <a:t> x = </a:t>
            </a:r>
            <a:r>
              <a:rPr lang="en-US" dirty="0" err="1"/>
              <a:t>document.getElementById</a:t>
            </a:r>
            <a:r>
              <a:rPr lang="en-US" dirty="0"/>
              <a:t>("demo");</a:t>
            </a:r>
            <a:br>
              <a:rPr lang="en-US" dirty="0"/>
            </a:br>
            <a:r>
              <a:rPr lang="en-US" dirty="0"/>
              <a:t>function </a:t>
            </a:r>
            <a:r>
              <a:rPr lang="en-US" dirty="0" err="1"/>
              <a:t>getLocation</a:t>
            </a:r>
            <a:r>
              <a:rPr lang="en-US" dirty="0"/>
              <a:t>() {</a:t>
            </a:r>
            <a:br>
              <a:rPr lang="en-US" dirty="0"/>
            </a:br>
            <a:r>
              <a:rPr lang="en-US" dirty="0"/>
              <a:t>  if (</a:t>
            </a:r>
            <a:r>
              <a:rPr lang="en-US" dirty="0" err="1"/>
              <a:t>navigator.geolocation</a:t>
            </a:r>
            <a:r>
              <a:rPr lang="en-US" dirty="0"/>
              <a:t>) {</a:t>
            </a:r>
            <a:br>
              <a:rPr lang="en-US" dirty="0"/>
            </a:br>
            <a:r>
              <a:rPr lang="en-US" dirty="0"/>
              <a:t>    </a:t>
            </a:r>
            <a:r>
              <a:rPr lang="en-US" dirty="0" err="1"/>
              <a:t>navigator.geolocation.watchPosition</a:t>
            </a:r>
            <a:r>
              <a:rPr lang="en-US" dirty="0"/>
              <a:t>(</a:t>
            </a:r>
            <a:r>
              <a:rPr lang="en-US" dirty="0" err="1"/>
              <a:t>showPosition</a:t>
            </a:r>
            <a:r>
              <a:rPr lang="en-US" dirty="0"/>
              <a:t>);</a:t>
            </a:r>
            <a:br>
              <a:rPr lang="en-US" dirty="0"/>
            </a:br>
            <a:r>
              <a:rPr lang="en-US" dirty="0"/>
              <a:t>  } else {</a:t>
            </a:r>
            <a:br>
              <a:rPr lang="en-US" dirty="0"/>
            </a:br>
            <a:r>
              <a:rPr lang="en-US" dirty="0"/>
              <a:t>    </a:t>
            </a:r>
            <a:r>
              <a:rPr lang="en-US" dirty="0" err="1"/>
              <a:t>x.innerHTML</a:t>
            </a:r>
            <a:r>
              <a:rPr lang="en-US" dirty="0"/>
              <a:t> = "Geolocation is not supported by this browser.";</a:t>
            </a:r>
            <a:br>
              <a:rPr lang="en-US" dirty="0"/>
            </a:br>
            <a:r>
              <a:rPr lang="en-US" dirty="0"/>
              <a:t>  }</a:t>
            </a:r>
            <a:br>
              <a:rPr lang="en-US" dirty="0"/>
            </a:br>
            <a:r>
              <a:rPr lang="en-US" dirty="0"/>
              <a:t>}</a:t>
            </a:r>
            <a:br>
              <a:rPr lang="en-US" dirty="0"/>
            </a:br>
            <a:r>
              <a:rPr lang="en-US" dirty="0"/>
              <a:t>function </a:t>
            </a:r>
            <a:r>
              <a:rPr lang="en-US" dirty="0" err="1"/>
              <a:t>showPosition</a:t>
            </a:r>
            <a:r>
              <a:rPr lang="en-US" dirty="0"/>
              <a:t>(position) {</a:t>
            </a:r>
            <a:br>
              <a:rPr lang="en-US" dirty="0"/>
            </a:br>
            <a:r>
              <a:rPr lang="en-US" dirty="0"/>
              <a:t>  </a:t>
            </a:r>
            <a:r>
              <a:rPr lang="en-US" dirty="0" err="1"/>
              <a:t>x.innerHTML</a:t>
            </a:r>
            <a:r>
              <a:rPr lang="en-US" dirty="0"/>
              <a:t> = "Latitude: " + </a:t>
            </a:r>
            <a:r>
              <a:rPr lang="en-US" dirty="0" err="1"/>
              <a:t>position.coords.latitude</a:t>
            </a:r>
            <a:r>
              <a:rPr lang="en-US" dirty="0"/>
              <a:t> + </a:t>
            </a:r>
            <a:br>
              <a:rPr lang="en-US" dirty="0"/>
            </a:br>
            <a:r>
              <a:rPr lang="en-US" dirty="0"/>
              <a:t>  "&lt;</a:t>
            </a:r>
            <a:r>
              <a:rPr lang="en-US" dirty="0" err="1"/>
              <a:t>br</a:t>
            </a:r>
            <a:r>
              <a:rPr lang="en-US" dirty="0"/>
              <a:t>&gt;Longitude: " + </a:t>
            </a:r>
            <a:r>
              <a:rPr lang="en-US" dirty="0" err="1"/>
              <a:t>position.coords.longitude</a:t>
            </a:r>
            <a:r>
              <a:rPr lang="en-US" dirty="0"/>
              <a:t>; </a:t>
            </a:r>
            <a:br>
              <a:rPr lang="en-US" dirty="0"/>
            </a:br>
            <a:r>
              <a:rPr lang="en-US" dirty="0"/>
              <a:t>}</a:t>
            </a:r>
            <a:br>
              <a:rPr lang="en-US" dirty="0"/>
            </a:br>
            <a:r>
              <a:rPr lang="en-US" dirty="0"/>
              <a:t>&lt;/script&gt; </a:t>
            </a:r>
          </a:p>
          <a:p>
            <a:endParaRPr lang="en-US" dirty="0"/>
          </a:p>
        </p:txBody>
      </p:sp>
    </p:spTree>
    <p:extLst>
      <p:ext uri="{BB962C8B-B14F-4D97-AF65-F5344CB8AC3E}">
        <p14:creationId xmlns:p14="http://schemas.microsoft.com/office/powerpoint/2010/main" val="317600485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E581FBE3ACD4C4DB50311EB9DD968DC" ma:contentTypeVersion="3" ma:contentTypeDescription="Create a new document." ma:contentTypeScope="" ma:versionID="255cfa5ec864b3cae31638100093f87b">
  <xsd:schema xmlns:xsd="http://www.w3.org/2001/XMLSchema" xmlns:xs="http://www.w3.org/2001/XMLSchema" xmlns:p="http://schemas.microsoft.com/office/2006/metadata/properties" xmlns:ns2="bbb6502a-bd75-46fb-9a70-27076cd4e959" targetNamespace="http://schemas.microsoft.com/office/2006/metadata/properties" ma:root="true" ma:fieldsID="4473f7ba9c48c4a4eea1e2563c56c7a9" ns2:_="">
    <xsd:import namespace="bbb6502a-bd75-46fb-9a70-27076cd4e95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b6502a-bd75-46fb-9a70-27076cd4e9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C62180B-CA8A-4A9A-B3D6-C1F970A885C8}"/>
</file>

<file path=customXml/itemProps2.xml><?xml version="1.0" encoding="utf-8"?>
<ds:datastoreItem xmlns:ds="http://schemas.openxmlformats.org/officeDocument/2006/customXml" ds:itemID="{3DDF145E-A61E-4E2E-B223-DF9FC26888D3}"/>
</file>

<file path=customXml/itemProps3.xml><?xml version="1.0" encoding="utf-8"?>
<ds:datastoreItem xmlns:ds="http://schemas.openxmlformats.org/officeDocument/2006/customXml" ds:itemID="{B0DBF5E9-F8FE-41D7-A48B-6F8DB08FC7F9}"/>
</file>

<file path=docProps/app.xml><?xml version="1.0" encoding="utf-8"?>
<Properties xmlns="http://schemas.openxmlformats.org/officeDocument/2006/extended-properties" xmlns:vt="http://schemas.openxmlformats.org/officeDocument/2006/docPropsVTypes">
  <Template>Elemental</Template>
  <TotalTime>4177</TotalTime>
  <Words>4263</Words>
  <Application>Microsoft Office PowerPoint</Application>
  <PresentationFormat>On-screen Show (4:3)</PresentationFormat>
  <Paragraphs>510</Paragraphs>
  <Slides>98</Slides>
  <Notes>3</Notes>
  <HiddenSlides>0</HiddenSlides>
  <MMClips>0</MMClips>
  <ScaleCrop>false</ScaleCrop>
  <HeadingPairs>
    <vt:vector size="4" baseType="variant">
      <vt:variant>
        <vt:lpstr>Theme</vt:lpstr>
      </vt:variant>
      <vt:variant>
        <vt:i4>1</vt:i4>
      </vt:variant>
      <vt:variant>
        <vt:lpstr>Slide Titles</vt:lpstr>
      </vt:variant>
      <vt:variant>
        <vt:i4>98</vt:i4>
      </vt:variant>
    </vt:vector>
  </HeadingPairs>
  <TitlesOfParts>
    <vt:vector size="99" baseType="lpstr">
      <vt:lpstr>Perspective</vt:lpstr>
      <vt:lpstr>HTML Advanced Tags</vt:lpstr>
      <vt:lpstr>HTML Block and Inline Elements</vt:lpstr>
      <vt:lpstr>Block-level Elements</vt:lpstr>
      <vt:lpstr>PowerPoint Presentation</vt:lpstr>
      <vt:lpstr>PowerPoint Presentation</vt:lpstr>
      <vt:lpstr>Inline Elements</vt:lpstr>
      <vt:lpstr>PowerPoint Presentation</vt:lpstr>
      <vt:lpstr>PowerPoint Presentation</vt:lpstr>
      <vt:lpstr>HTML class Attribute</vt:lpstr>
      <vt:lpstr>PowerPoint Presentation</vt:lpstr>
      <vt:lpstr>PowerPoint Presentation</vt:lpstr>
      <vt:lpstr>PowerPoint Presentation</vt:lpstr>
      <vt:lpstr>HTML id Attribute</vt:lpstr>
      <vt:lpstr>PowerPoint Presentation</vt:lpstr>
      <vt:lpstr>PowerPoint Presentation</vt:lpstr>
      <vt:lpstr>PowerPoint Presentation</vt:lpstr>
      <vt:lpstr>HTML Responsive Web Design</vt:lpstr>
      <vt:lpstr>Setting The Viewport</vt:lpstr>
      <vt:lpstr>PowerPoint Presentation</vt:lpstr>
      <vt:lpstr>Responsive Images</vt:lpstr>
      <vt:lpstr>PowerPoint Presentation</vt:lpstr>
      <vt:lpstr>PowerPoint Presentation</vt:lpstr>
      <vt:lpstr>Show Different Images Depending on Browser Width</vt:lpstr>
      <vt:lpstr>PowerPoint Presentation</vt:lpstr>
      <vt:lpstr>PowerPoint Presentation</vt:lpstr>
      <vt:lpstr>Responsive Text Size</vt:lpstr>
      <vt:lpstr>Media Queries</vt:lpstr>
      <vt:lpstr>PowerPoint Presentation</vt:lpstr>
      <vt:lpstr>HTML Semantic Elements</vt:lpstr>
      <vt:lpstr>PowerPoint Presentation</vt:lpstr>
      <vt:lpstr>PowerPoint Presentation</vt:lpstr>
      <vt:lpstr>Semantic Elements in HTML</vt:lpstr>
      <vt:lpstr>PowerPoint Presentation</vt:lpstr>
      <vt:lpstr>HTML Entities</vt:lpstr>
      <vt:lpstr>PowerPoint Presentation</vt:lpstr>
      <vt:lpstr>Non-breaking Space</vt:lpstr>
      <vt:lpstr>PowerPoint Presentation</vt:lpstr>
      <vt:lpstr>Some Useful HTML Character Entities</vt:lpstr>
      <vt:lpstr>PowerPoint Presentation</vt:lpstr>
      <vt:lpstr>HTML Symbols</vt:lpstr>
      <vt:lpstr>Some Mathematical Symbols Supported by HTML</vt:lpstr>
      <vt:lpstr>Some Greek Letters Supported by HTML</vt:lpstr>
      <vt:lpstr>Some Other Entities Supported by HTML</vt:lpstr>
      <vt:lpstr>PowerPoint Presentation</vt:lpstr>
      <vt:lpstr>HTML Canvas Graphics</vt:lpstr>
      <vt:lpstr>PowerPoint Presentation</vt:lpstr>
      <vt:lpstr>Canvas Examples</vt:lpstr>
      <vt:lpstr>PowerPoint Presentation</vt:lpstr>
      <vt:lpstr>Add a JavaScript</vt:lpstr>
      <vt:lpstr>PowerPoint Presentation</vt:lpstr>
      <vt:lpstr>PowerPoint Presentation</vt:lpstr>
      <vt:lpstr>Draw a Circle</vt:lpstr>
      <vt:lpstr>PowerPoint Presentation</vt:lpstr>
      <vt:lpstr>PowerPoint Presentation</vt:lpstr>
      <vt:lpstr>PowerPoint Presentation</vt:lpstr>
      <vt:lpstr>Draw a Text</vt:lpstr>
      <vt:lpstr>Stroke Text</vt:lpstr>
      <vt:lpstr>PowerPoint Presentation</vt:lpstr>
      <vt:lpstr>Draw Linear Gradient</vt:lpstr>
      <vt:lpstr>Draw Circular Gradient</vt:lpstr>
      <vt:lpstr>PowerPoint Presentation</vt:lpstr>
      <vt:lpstr>PowerPoint Presentation</vt:lpstr>
      <vt:lpstr>HTML SVG Graphics</vt:lpstr>
      <vt:lpstr>SVG Circle</vt:lpstr>
      <vt:lpstr>SVG Rectangle</vt:lpstr>
      <vt:lpstr>SVG Rounded Rectangle</vt:lpstr>
      <vt:lpstr>SVG Star</vt:lpstr>
      <vt:lpstr>SVG Logo</vt:lpstr>
      <vt:lpstr>PowerPoint Presentation</vt:lpstr>
      <vt:lpstr>Differences Between SVG and Canvas</vt:lpstr>
      <vt:lpstr>Comparison of Canvas and SVG</vt:lpstr>
      <vt:lpstr>HTML Multimedia</vt:lpstr>
      <vt:lpstr>Multimedia Formats</vt:lpstr>
      <vt:lpstr>HTML Video</vt:lpstr>
      <vt:lpstr>PowerPoint Presentation</vt:lpstr>
      <vt:lpstr>HTML &lt;video&gt; Autoplay</vt:lpstr>
      <vt:lpstr>PowerPoint Presentation</vt:lpstr>
      <vt:lpstr>HTML Video - Media Types</vt:lpstr>
      <vt:lpstr>HTML Video Tags</vt:lpstr>
      <vt:lpstr>HTML Audio</vt:lpstr>
      <vt:lpstr>PowerPoint Presentation</vt:lpstr>
      <vt:lpstr>HTML Audio - How It Works</vt:lpstr>
      <vt:lpstr>HTML &lt;audio&gt; Autoplay</vt:lpstr>
      <vt:lpstr>PowerPoint Presentation</vt:lpstr>
      <vt:lpstr>HTML Audio - Media Types</vt:lpstr>
      <vt:lpstr>HTML Audio Tags</vt:lpstr>
      <vt:lpstr>HTML Geolocation API</vt:lpstr>
      <vt:lpstr>Using HTML Geolocation</vt:lpstr>
      <vt:lpstr>PowerPoint Presentation</vt:lpstr>
      <vt:lpstr>PowerPoint Presentation</vt:lpstr>
      <vt:lpstr>PowerPoint Presentation</vt:lpstr>
      <vt:lpstr>Handling Errors and Rejections</vt:lpstr>
      <vt:lpstr>PowerPoint Presentation</vt:lpstr>
      <vt:lpstr>Location-specific Information</vt:lpstr>
      <vt:lpstr>The getCurrentPosition() Method - Return Data</vt:lpstr>
      <vt:lpstr>PowerPoint Presentation</vt:lpstr>
      <vt:lpstr>Geolocation Object - Other interesting Methods</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Advanced Tags</dc:title>
  <dc:creator>Admin</dc:creator>
  <cp:lastModifiedBy>Windows User</cp:lastModifiedBy>
  <cp:revision>46</cp:revision>
  <dcterms:created xsi:type="dcterms:W3CDTF">2006-08-16T00:00:00Z</dcterms:created>
  <dcterms:modified xsi:type="dcterms:W3CDTF">2024-01-22T13:14:10Z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0x0101005E581FBE3ACD4C4DB50311EB9DD968DC</vt:lpwstr>
  </property>
</Properties>
</file>