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67.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1.xml" ContentType="application/vnd.openxmlformats-officedocument.presentationml.slide+xml"/>
  <Override PartName="/ppt/slides/slide110.xml" ContentType="application/vnd.openxmlformats-officedocument.presentationml.slide+xml"/>
  <Override PartName="/ppt/slides/slide109.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2.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04.xml" ContentType="application/vnd.openxmlformats-officedocument.presentationml.slide+xml"/>
  <Override PartName="/ppt/slides/slide108.xml" ContentType="application/vnd.openxmlformats-officedocument.presentationml.slide+xml"/>
  <Override PartName="/ppt/slides/slide102.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103.xml" ContentType="application/vnd.openxmlformats-officedocument.presentationml.slide+xml"/>
  <Override PartName="/ppt/slides/slide83.xml" ContentType="application/vnd.openxmlformats-officedocument.presentationml.slide+xml"/>
  <Override PartName="/ppt/slides/slide82.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9.xml" ContentType="application/vnd.openxmlformats-officedocument.presentationml.slide+xml"/>
  <Override PartName="/ppt/slides/slide84.xml" ContentType="application/vnd.openxmlformats-officedocument.presentationml.slide+xml"/>
  <Override PartName="/ppt/slides/slide91.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97.xml" ContentType="application/vnd.openxmlformats-officedocument.presentationml.slide+xml"/>
  <Override PartName="/ppt/slides/slide90.xml" ContentType="application/vnd.openxmlformats-officedocument.presentationml.slide+xml"/>
  <Override PartName="/ppt/slides/slide95.xml" ContentType="application/vnd.openxmlformats-officedocument.presentationml.slide+xml"/>
  <Override PartName="/ppt/slides/slide92.xml" ContentType="application/vnd.openxmlformats-officedocument.presentationml.slide+xml"/>
  <Override PartName="/ppt/slides/slide96.xml" ContentType="application/vnd.openxmlformats-officedocument.presentationml.slide+xml"/>
  <Override PartName="/ppt/slides/slide94.xml" ContentType="application/vnd.openxmlformats-officedocument.presentationml.slide+xml"/>
  <Override PartName="/ppt/slides/slide9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372"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customXml" Target="../customXml/item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customXml" Target="../customXml/item2.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125" Type="http://schemas.openxmlformats.org/officeDocument/2006/relationships/customXml" Target="../customXml/item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16-Dec-22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16-Dec-22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16-Dec-22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16-Dec-22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16-Dec-22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16-Dec-22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16-Dec-22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16-Dec-22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16-Dec-22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16-Dec-22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16-Dec-22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16-Dec-22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hyperlink" Target="http://www.w3schools.com/cssref/pr_outline-color.asp" TargetMode="External"/><Relationship Id="rId2" Type="http://schemas.openxmlformats.org/officeDocument/2006/relationships/hyperlink" Target="http://www.w3schools.com/cssref/pr_outline.asp"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hyperlink" Target="http://www.w3schools.com/cssref/pr_outline-width.asp" TargetMode="External"/><Relationship Id="rId2" Type="http://schemas.openxmlformats.org/officeDocument/2006/relationships/hyperlink" Target="http://www.w3schools.com/cssref/pr_outline-style.asp"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C</a:t>
            </a:r>
            <a:r>
              <a:rPr lang="en-US" dirty="0" smtClean="0"/>
              <a:t>ascading </a:t>
            </a:r>
            <a:r>
              <a:rPr lang="en-US" b="1" dirty="0" smtClean="0"/>
              <a:t>S</a:t>
            </a:r>
            <a:r>
              <a:rPr lang="en-US" dirty="0" smtClean="0"/>
              <a:t>tyle </a:t>
            </a:r>
            <a:r>
              <a:rPr lang="en-US" b="1" dirty="0" smtClean="0"/>
              <a:t>S</a:t>
            </a:r>
            <a:r>
              <a:rPr lang="en-US" dirty="0" smtClean="0"/>
              <a:t>heets</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What is CSS?</a:t>
            </a:r>
            <a:endParaRPr lang="en-US" dirty="0"/>
          </a:p>
        </p:txBody>
      </p:sp>
      <p:sp>
        <p:nvSpPr>
          <p:cNvPr id="3" name="Content Placeholder 2"/>
          <p:cNvSpPr>
            <a:spLocks noGrp="1"/>
          </p:cNvSpPr>
          <p:nvPr>
            <p:ph idx="1"/>
          </p:nvPr>
        </p:nvSpPr>
        <p:spPr/>
        <p:txBody>
          <a:bodyPr/>
          <a:lstStyle/>
          <a:p>
            <a:pPr algn="just"/>
            <a:r>
              <a:rPr lang="en-US" b="1" dirty="0" smtClean="0"/>
              <a:t>CSS</a:t>
            </a:r>
            <a:r>
              <a:rPr lang="en-US" dirty="0" smtClean="0"/>
              <a:t> stands for </a:t>
            </a:r>
            <a:r>
              <a:rPr lang="en-US" b="1" dirty="0" smtClean="0"/>
              <a:t>C</a:t>
            </a:r>
            <a:r>
              <a:rPr lang="en-US" dirty="0" smtClean="0"/>
              <a:t>ascading </a:t>
            </a:r>
            <a:r>
              <a:rPr lang="en-US" b="1" dirty="0" smtClean="0"/>
              <a:t>S</a:t>
            </a:r>
            <a:r>
              <a:rPr lang="en-US" dirty="0" smtClean="0"/>
              <a:t>tyle </a:t>
            </a:r>
            <a:r>
              <a:rPr lang="en-US" b="1" dirty="0" smtClean="0"/>
              <a:t>S</a:t>
            </a:r>
            <a:r>
              <a:rPr lang="en-US" dirty="0" smtClean="0"/>
              <a:t>heets</a:t>
            </a:r>
          </a:p>
          <a:p>
            <a:pPr algn="just"/>
            <a:r>
              <a:rPr lang="en-US" dirty="0" smtClean="0"/>
              <a:t>Styles define </a:t>
            </a:r>
            <a:r>
              <a:rPr lang="en-US" b="1" dirty="0" smtClean="0"/>
              <a:t>how to display</a:t>
            </a:r>
            <a:r>
              <a:rPr lang="en-US" dirty="0" smtClean="0"/>
              <a:t> HTML elements</a:t>
            </a:r>
          </a:p>
          <a:p>
            <a:pPr algn="just"/>
            <a:r>
              <a:rPr lang="en-US" dirty="0" smtClean="0"/>
              <a:t>Styles were added to HTML 4.0 </a:t>
            </a:r>
            <a:r>
              <a:rPr lang="en-US" b="1" dirty="0" smtClean="0"/>
              <a:t>to solve a problem</a:t>
            </a:r>
            <a:endParaRPr lang="en-US" dirty="0" smtClean="0"/>
          </a:p>
          <a:p>
            <a:pPr algn="just"/>
            <a:r>
              <a:rPr lang="en-US" b="1" dirty="0" smtClean="0"/>
              <a:t>External Style Sheets</a:t>
            </a:r>
            <a:r>
              <a:rPr lang="en-US" dirty="0" smtClean="0"/>
              <a:t> can save a lot of work</a:t>
            </a:r>
          </a:p>
          <a:p>
            <a:pPr algn="just"/>
            <a:r>
              <a:rPr lang="en-US" dirty="0" smtClean="0"/>
              <a:t>External Style Sheets are stored in </a:t>
            </a:r>
            <a:r>
              <a:rPr lang="en-US" b="1" dirty="0" smtClean="0"/>
              <a:t>CSS files</a:t>
            </a:r>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Styles Solved a Big Problem</a:t>
            </a:r>
            <a:endParaRPr lang="en-US" dirty="0"/>
          </a:p>
        </p:txBody>
      </p:sp>
      <p:sp>
        <p:nvSpPr>
          <p:cNvPr id="3" name="Content Placeholder 2"/>
          <p:cNvSpPr>
            <a:spLocks noGrp="1"/>
          </p:cNvSpPr>
          <p:nvPr>
            <p:ph idx="1"/>
          </p:nvPr>
        </p:nvSpPr>
        <p:spPr/>
        <p:txBody>
          <a:bodyPr>
            <a:noAutofit/>
          </a:bodyPr>
          <a:lstStyle/>
          <a:p>
            <a:pPr algn="just"/>
            <a:r>
              <a:rPr lang="en-US" sz="2400" dirty="0" smtClean="0"/>
              <a:t>HTML was never intended to contain tags for formatting a document.</a:t>
            </a:r>
          </a:p>
          <a:p>
            <a:pPr algn="just"/>
            <a:r>
              <a:rPr lang="en-US" sz="2400" dirty="0" smtClean="0"/>
              <a:t>HTML was intended to define the content of a document, like:</a:t>
            </a:r>
          </a:p>
          <a:p>
            <a:pPr algn="just"/>
            <a:r>
              <a:rPr lang="en-US" sz="2400" dirty="0" smtClean="0"/>
              <a:t>&lt;h1&gt;This is a heading&lt;/h1&gt;</a:t>
            </a:r>
          </a:p>
          <a:p>
            <a:pPr algn="just"/>
            <a:r>
              <a:rPr lang="en-US" sz="2400" dirty="0" smtClean="0"/>
              <a:t>&lt;p&gt;This is a paragraph.&lt;/p&gt;</a:t>
            </a:r>
          </a:p>
          <a:p>
            <a:pPr algn="just"/>
            <a:r>
              <a:rPr lang="en-US" sz="2400" dirty="0" smtClean="0"/>
              <a:t>When tags like &lt;font&gt;, and color attributes were added to the HTML 3.2 specification, it started a nightmare for web developers. Development of large web sites, where fonts and color information were added to every single page, became a long and expensive process.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Styles Solved a Big Problem</a:t>
            </a:r>
            <a:endParaRPr lang="en-US" dirty="0"/>
          </a:p>
        </p:txBody>
      </p:sp>
      <p:sp>
        <p:nvSpPr>
          <p:cNvPr id="3" name="Content Placeholder 2"/>
          <p:cNvSpPr>
            <a:spLocks noGrp="1"/>
          </p:cNvSpPr>
          <p:nvPr>
            <p:ph idx="1"/>
          </p:nvPr>
        </p:nvSpPr>
        <p:spPr/>
        <p:txBody>
          <a:bodyPr/>
          <a:lstStyle/>
          <a:p>
            <a:pPr algn="just"/>
            <a:r>
              <a:rPr lang="en-US" dirty="0" smtClean="0"/>
              <a:t>To solve this problem, the World Wide Web Consortium (W3C) created CSS.</a:t>
            </a:r>
          </a:p>
          <a:p>
            <a:pPr algn="just"/>
            <a:r>
              <a:rPr lang="en-US" dirty="0" smtClean="0"/>
              <a:t>In HTML 4.0, all formatting could be removed from the HTML document, and stored in a separate CSS file.</a:t>
            </a:r>
          </a:p>
          <a:p>
            <a:pPr algn="just"/>
            <a:r>
              <a:rPr lang="en-US" dirty="0" smtClean="0"/>
              <a:t>All browsers support CSS today.</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Saves a Lot of Work!</a:t>
            </a:r>
            <a:endParaRPr lang="en-US" dirty="0"/>
          </a:p>
        </p:txBody>
      </p:sp>
      <p:sp>
        <p:nvSpPr>
          <p:cNvPr id="3" name="Content Placeholder 2"/>
          <p:cNvSpPr>
            <a:spLocks noGrp="1"/>
          </p:cNvSpPr>
          <p:nvPr>
            <p:ph idx="1"/>
          </p:nvPr>
        </p:nvSpPr>
        <p:spPr/>
        <p:txBody>
          <a:bodyPr/>
          <a:lstStyle/>
          <a:p>
            <a:pPr algn="just"/>
            <a:r>
              <a:rPr lang="en-US" dirty="0" smtClean="0"/>
              <a:t>CSS defines HOW HTML elements are to be displayed.</a:t>
            </a:r>
          </a:p>
          <a:p>
            <a:pPr algn="just"/>
            <a:r>
              <a:rPr lang="en-US" dirty="0" smtClean="0"/>
              <a:t>Styles are normally saved in external .</a:t>
            </a:r>
            <a:r>
              <a:rPr lang="en-US" dirty="0" err="1" smtClean="0"/>
              <a:t>css</a:t>
            </a:r>
            <a:r>
              <a:rPr lang="en-US" dirty="0" smtClean="0"/>
              <a:t> files. External style sheets enable you to change the appearance and layout of all the pages in a Web site, just by editing one single file!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Syntax</a:t>
            </a:r>
            <a:endParaRPr lang="en-US" dirty="0"/>
          </a:p>
        </p:txBody>
      </p:sp>
      <p:sp>
        <p:nvSpPr>
          <p:cNvPr id="3" name="Content Placeholder 2"/>
          <p:cNvSpPr>
            <a:spLocks noGrp="1"/>
          </p:cNvSpPr>
          <p:nvPr>
            <p:ph idx="1"/>
          </p:nvPr>
        </p:nvSpPr>
        <p:spPr/>
        <p:txBody>
          <a:bodyPr/>
          <a:lstStyle/>
          <a:p>
            <a:pPr algn="just"/>
            <a:r>
              <a:rPr lang="en-US" dirty="0" smtClean="0"/>
              <a:t>A CSS rule has two main parts: a selector, and one or more declarations:</a:t>
            </a:r>
          </a:p>
          <a:p>
            <a:pPr algn="just"/>
            <a:endParaRPr lang="en-US" dirty="0"/>
          </a:p>
        </p:txBody>
      </p:sp>
      <p:pic>
        <p:nvPicPr>
          <p:cNvPr id="4" name="Picture 3" descr="selector.gif"/>
          <p:cNvPicPr>
            <a:picLocks noChangeAspect="1"/>
          </p:cNvPicPr>
          <p:nvPr/>
        </p:nvPicPr>
        <p:blipFill>
          <a:blip r:embed="rId2" cstate="print"/>
          <a:stretch>
            <a:fillRect/>
          </a:stretch>
        </p:blipFill>
        <p:spPr>
          <a:xfrm>
            <a:off x="1600200" y="3581400"/>
            <a:ext cx="5419725" cy="113347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CSS Syntax</a:t>
            </a:r>
            <a:endParaRPr lang="en-US" dirty="0"/>
          </a:p>
        </p:txBody>
      </p:sp>
      <p:sp>
        <p:nvSpPr>
          <p:cNvPr id="3" name="Content Placeholder 2"/>
          <p:cNvSpPr>
            <a:spLocks noGrp="1"/>
          </p:cNvSpPr>
          <p:nvPr>
            <p:ph idx="1"/>
          </p:nvPr>
        </p:nvSpPr>
        <p:spPr/>
        <p:txBody>
          <a:bodyPr/>
          <a:lstStyle/>
          <a:p>
            <a:pPr algn="just"/>
            <a:r>
              <a:rPr lang="en-US" dirty="0" smtClean="0"/>
              <a:t>The selector is normally the HTML element you want to style.</a:t>
            </a:r>
          </a:p>
          <a:p>
            <a:pPr algn="just"/>
            <a:r>
              <a:rPr lang="en-US" dirty="0" smtClean="0"/>
              <a:t>Each declaration consists of a property and a value.</a:t>
            </a:r>
          </a:p>
          <a:p>
            <a:pPr algn="just"/>
            <a:r>
              <a:rPr lang="en-US" dirty="0" smtClean="0"/>
              <a:t>The property is the style attribute you want to change. Each property has a value.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CSS Syntax</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A CSS declaration always ends with a semicolon, and declaration groups are surrounded by curly brackets</a:t>
            </a:r>
          </a:p>
          <a:p>
            <a:pPr algn="just"/>
            <a:r>
              <a:rPr lang="en-US" dirty="0" smtClean="0"/>
              <a:t>p {</a:t>
            </a:r>
            <a:r>
              <a:rPr lang="en-US" dirty="0" err="1" smtClean="0"/>
              <a:t>color:red;text-align:center</a:t>
            </a:r>
            <a:r>
              <a:rPr lang="en-US" dirty="0" smtClean="0"/>
              <a:t>;}</a:t>
            </a:r>
          </a:p>
          <a:p>
            <a:pPr algn="just"/>
            <a:r>
              <a:rPr lang="en-US" dirty="0" smtClean="0"/>
              <a:t>To make the CSS more readable, you can put one declaration on each line, like this:</a:t>
            </a:r>
          </a:p>
          <a:p>
            <a:r>
              <a:rPr lang="en-US" dirty="0" smtClean="0"/>
              <a:t>p</a:t>
            </a:r>
            <a:br>
              <a:rPr lang="en-US" dirty="0" smtClean="0"/>
            </a:br>
            <a:r>
              <a:rPr lang="en-US" dirty="0" smtClean="0"/>
              <a:t>{</a:t>
            </a:r>
            <a:br>
              <a:rPr lang="en-US" dirty="0" smtClean="0"/>
            </a:br>
            <a:r>
              <a:rPr lang="en-US" dirty="0" err="1" smtClean="0"/>
              <a:t>color:red</a:t>
            </a:r>
            <a:r>
              <a:rPr lang="en-US" dirty="0" smtClean="0"/>
              <a:t>;</a:t>
            </a:r>
            <a:br>
              <a:rPr lang="en-US" dirty="0" smtClean="0"/>
            </a:br>
            <a:r>
              <a:rPr lang="en-US" dirty="0" smtClean="0"/>
              <a:t>text-</a:t>
            </a:r>
            <a:r>
              <a:rPr lang="en-US" dirty="0" err="1" smtClean="0"/>
              <a:t>align:center</a:t>
            </a:r>
            <a:r>
              <a:rPr lang="en-US" dirty="0" smtClean="0"/>
              <a:t>;</a:t>
            </a:r>
            <a:br>
              <a:rPr lang="en-US" dirty="0" smtClean="0"/>
            </a:br>
            <a:r>
              <a:rPr lang="en-US" dirty="0" smtClean="0"/>
              <a:t>} </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Id and Class</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b="1" dirty="0" smtClean="0"/>
              <a:t>The id and class Selectors</a:t>
            </a:r>
          </a:p>
          <a:p>
            <a:pPr algn="just"/>
            <a:r>
              <a:rPr lang="en-US" dirty="0" smtClean="0"/>
              <a:t>In addition to setting a style for a HTML element, CSS allows you to specify your own selectors called "id" and "class".</a:t>
            </a:r>
          </a:p>
          <a:p>
            <a:pPr algn="just">
              <a:buNone/>
            </a:pPr>
            <a:r>
              <a:rPr lang="en-US" b="1" dirty="0" smtClean="0"/>
              <a:t>    The id Selector</a:t>
            </a:r>
          </a:p>
          <a:p>
            <a:pPr algn="just"/>
            <a:r>
              <a:rPr lang="en-US" dirty="0" smtClean="0"/>
              <a:t>The id selector is used to specify a style for a single, unique element.</a:t>
            </a:r>
          </a:p>
          <a:p>
            <a:pPr algn="just"/>
            <a:r>
              <a:rPr lang="en-US" dirty="0" smtClean="0"/>
              <a:t>The id selector uses the id attribute of the HTML element, and is defined with a "#".</a:t>
            </a:r>
          </a:p>
          <a:p>
            <a:pPr algn="just"/>
            <a:r>
              <a:rPr lang="en-US" dirty="0" smtClean="0"/>
              <a:t>The style rule below will be applied to the element with id="para1":</a:t>
            </a:r>
          </a:p>
          <a:p>
            <a:pPr algn="just"/>
            <a:endParaRPr lang="en-US" dirty="0" smtClean="0"/>
          </a:p>
          <a:p>
            <a:pPr algn="just"/>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CSS Id and Class</a:t>
            </a:r>
            <a:endParaRPr lang="en-US" dirty="0"/>
          </a:p>
        </p:txBody>
      </p:sp>
      <p:sp>
        <p:nvSpPr>
          <p:cNvPr id="3" name="Content Placeholder 2"/>
          <p:cNvSpPr>
            <a:spLocks noGrp="1"/>
          </p:cNvSpPr>
          <p:nvPr>
            <p:ph idx="1"/>
          </p:nvPr>
        </p:nvSpPr>
        <p:spPr/>
        <p:txBody>
          <a:bodyPr/>
          <a:lstStyle/>
          <a:p>
            <a:r>
              <a:rPr lang="en-US" dirty="0" smtClean="0"/>
              <a:t>#para1</a:t>
            </a:r>
            <a:br>
              <a:rPr lang="en-US" dirty="0" smtClean="0"/>
            </a:br>
            <a:r>
              <a:rPr lang="en-US" dirty="0" smtClean="0"/>
              <a:t>{</a:t>
            </a:r>
            <a:br>
              <a:rPr lang="en-US" dirty="0" smtClean="0"/>
            </a:br>
            <a:r>
              <a:rPr lang="en-US" dirty="0" smtClean="0"/>
              <a:t>text-</a:t>
            </a:r>
            <a:r>
              <a:rPr lang="en-US" dirty="0" err="1" smtClean="0"/>
              <a:t>align:center</a:t>
            </a:r>
            <a:r>
              <a:rPr lang="en-US" dirty="0" smtClean="0"/>
              <a:t>;</a:t>
            </a:r>
            <a:br>
              <a:rPr lang="en-US" dirty="0" smtClean="0"/>
            </a:br>
            <a:r>
              <a:rPr lang="en-US" dirty="0" err="1" smtClean="0"/>
              <a:t>color:red</a:t>
            </a:r>
            <a:r>
              <a:rPr lang="en-US" dirty="0" smtClean="0"/>
              <a:t>;</a:t>
            </a:r>
            <a:br>
              <a:rPr lang="en-US" dirty="0" smtClean="0"/>
            </a:br>
            <a:r>
              <a:rPr lang="en-US" dirty="0" smtClean="0"/>
              <a:t>} </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CSS Id and Class</a:t>
            </a:r>
            <a:endParaRPr lang="en-US" dirty="0"/>
          </a:p>
        </p:txBody>
      </p:sp>
      <p:sp>
        <p:nvSpPr>
          <p:cNvPr id="3" name="Content Placeholder 2"/>
          <p:cNvSpPr>
            <a:spLocks noGrp="1"/>
          </p:cNvSpPr>
          <p:nvPr>
            <p:ph idx="1"/>
          </p:nvPr>
        </p:nvSpPr>
        <p:spPr/>
        <p:txBody>
          <a:bodyPr>
            <a:normAutofit lnSpcReduction="10000"/>
          </a:bodyPr>
          <a:lstStyle/>
          <a:p>
            <a:pPr algn="just"/>
            <a:r>
              <a:rPr lang="en-US" b="1" dirty="0" smtClean="0"/>
              <a:t>The class Selector</a:t>
            </a:r>
          </a:p>
          <a:p>
            <a:pPr algn="just"/>
            <a:r>
              <a:rPr lang="en-US" dirty="0" smtClean="0"/>
              <a:t>The class selector is used to specify a style for a group of elements. Unlike the id selector, the class selector is most often used on several elements. </a:t>
            </a:r>
          </a:p>
          <a:p>
            <a:pPr algn="just"/>
            <a:r>
              <a:rPr lang="en-US" dirty="0" smtClean="0"/>
              <a:t>This allows you to set a particular style for many HTML elements with the same class. </a:t>
            </a:r>
          </a:p>
          <a:p>
            <a:pPr algn="just"/>
            <a:r>
              <a:rPr lang="en-US" dirty="0" smtClean="0"/>
              <a:t>The class selector uses the HTML class attribute, and is defined with a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CSS Id and Class</a:t>
            </a:r>
            <a:endParaRPr lang="en-US" dirty="0"/>
          </a:p>
        </p:txBody>
      </p:sp>
      <p:sp>
        <p:nvSpPr>
          <p:cNvPr id="3" name="Content Placeholder 2"/>
          <p:cNvSpPr>
            <a:spLocks noGrp="1"/>
          </p:cNvSpPr>
          <p:nvPr>
            <p:ph idx="1"/>
          </p:nvPr>
        </p:nvSpPr>
        <p:spPr/>
        <p:txBody>
          <a:bodyPr/>
          <a:lstStyle/>
          <a:p>
            <a:pPr algn="just"/>
            <a:r>
              <a:rPr lang="en-US" dirty="0" smtClean="0"/>
              <a:t>In the example below, all HTML elements with class="center" will be center-aligned:</a:t>
            </a:r>
          </a:p>
          <a:p>
            <a:pPr algn="just"/>
            <a:r>
              <a:rPr lang="en-US" dirty="0" smtClean="0"/>
              <a:t>.center {text-</a:t>
            </a:r>
            <a:r>
              <a:rPr lang="en-US" dirty="0" err="1" smtClean="0"/>
              <a:t>align:center</a:t>
            </a:r>
            <a:r>
              <a:rPr lang="en-US" dirty="0" smtClean="0"/>
              <a:t>;} </a:t>
            </a:r>
          </a:p>
          <a:p>
            <a:pPr algn="just"/>
            <a:r>
              <a:rPr lang="en-US" dirty="0" smtClean="0"/>
              <a:t>You can also specify that only specific HTML elements should be affected by a class.</a:t>
            </a:r>
          </a:p>
          <a:p>
            <a:pPr algn="just"/>
            <a:r>
              <a:rPr lang="en-US" dirty="0" smtClean="0"/>
              <a:t>In the example below, all p elements with class="center" will be center-aligned:</a:t>
            </a:r>
          </a:p>
          <a:p>
            <a:pPr algn="just"/>
            <a:r>
              <a:rPr lang="en-US" dirty="0" err="1" smtClean="0"/>
              <a:t>p.center</a:t>
            </a:r>
            <a:r>
              <a:rPr lang="en-US" dirty="0" smtClean="0"/>
              <a:t> {text-</a:t>
            </a:r>
            <a:r>
              <a:rPr lang="en-US" dirty="0" err="1" smtClean="0"/>
              <a:t>align:center</a:t>
            </a:r>
            <a:r>
              <a:rPr lang="en-US" dirty="0" smtClean="0"/>
              <a:t>;} </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CSS Universal </a:t>
            </a:r>
            <a:r>
              <a:rPr lang="en-US" b="1" dirty="0" smtClean="0"/>
              <a:t>Selector</a:t>
            </a:r>
            <a:endParaRPr lang="en-US" dirty="0"/>
          </a:p>
        </p:txBody>
      </p:sp>
      <p:sp>
        <p:nvSpPr>
          <p:cNvPr id="3" name="Content Placeholder 2"/>
          <p:cNvSpPr>
            <a:spLocks noGrp="1"/>
          </p:cNvSpPr>
          <p:nvPr>
            <p:ph idx="1"/>
          </p:nvPr>
        </p:nvSpPr>
        <p:spPr/>
        <p:txBody>
          <a:bodyPr>
            <a:normAutofit lnSpcReduction="10000"/>
          </a:bodyPr>
          <a:lstStyle/>
          <a:p>
            <a:r>
              <a:rPr lang="en-US" dirty="0"/>
              <a:t>The universal selector (*) selects all HTML elements on the page.</a:t>
            </a:r>
          </a:p>
          <a:p>
            <a:r>
              <a:rPr lang="en-US" b="1" dirty="0"/>
              <a:t>Example</a:t>
            </a:r>
          </a:p>
          <a:p>
            <a:r>
              <a:rPr lang="en-US" dirty="0"/>
              <a:t>The CSS rule below will affect every HTML element on the page: </a:t>
            </a:r>
          </a:p>
          <a:p>
            <a:pPr marL="0" indent="0">
              <a:buNone/>
            </a:pPr>
            <a:r>
              <a:rPr lang="en-US" dirty="0"/>
              <a:t>* {</a:t>
            </a:r>
            <a:br>
              <a:rPr lang="en-US" dirty="0"/>
            </a:br>
            <a:r>
              <a:rPr lang="en-US" dirty="0"/>
              <a:t>  text-align: center;</a:t>
            </a:r>
            <a:br>
              <a:rPr lang="en-US" dirty="0"/>
            </a:br>
            <a:r>
              <a:rPr lang="en-US" dirty="0"/>
              <a:t>  color: blue;</a:t>
            </a:r>
            <a:br>
              <a:rPr lang="en-US" dirty="0"/>
            </a:br>
            <a:r>
              <a:rPr lang="en-US" dirty="0"/>
              <a:t>} </a:t>
            </a:r>
            <a:endParaRPr lang="en-US" dirty="0"/>
          </a:p>
          <a:p>
            <a:endParaRPr lang="en-US" dirty="0"/>
          </a:p>
        </p:txBody>
      </p:sp>
    </p:spTree>
    <p:extLst>
      <p:ext uri="{BB962C8B-B14F-4D97-AF65-F5344CB8AC3E}">
        <p14:creationId xmlns:p14="http://schemas.microsoft.com/office/powerpoint/2010/main" val="901309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How To...</a:t>
            </a:r>
            <a:endParaRPr lang="en-US" dirty="0"/>
          </a:p>
        </p:txBody>
      </p:sp>
      <p:sp>
        <p:nvSpPr>
          <p:cNvPr id="3" name="Content Placeholder 2"/>
          <p:cNvSpPr>
            <a:spLocks noGrp="1"/>
          </p:cNvSpPr>
          <p:nvPr>
            <p:ph idx="1"/>
          </p:nvPr>
        </p:nvSpPr>
        <p:spPr/>
        <p:txBody>
          <a:bodyPr/>
          <a:lstStyle/>
          <a:p>
            <a:pPr algn="just"/>
            <a:r>
              <a:rPr lang="en-US" b="1" dirty="0" smtClean="0"/>
              <a:t>Three Ways to Insert CSS</a:t>
            </a:r>
          </a:p>
          <a:p>
            <a:pPr algn="just">
              <a:buNone/>
            </a:pPr>
            <a:r>
              <a:rPr lang="en-US" dirty="0" smtClean="0"/>
              <a:t>    There are three ways of inserting a style</a:t>
            </a:r>
          </a:p>
          <a:p>
            <a:pPr algn="just">
              <a:buNone/>
            </a:pPr>
            <a:r>
              <a:rPr lang="en-US" dirty="0" smtClean="0"/>
              <a:t>    sheet:</a:t>
            </a:r>
          </a:p>
          <a:p>
            <a:r>
              <a:rPr lang="en-US" dirty="0" smtClean="0"/>
              <a:t>External style sheet</a:t>
            </a:r>
          </a:p>
          <a:p>
            <a:r>
              <a:rPr lang="en-US" dirty="0" smtClean="0"/>
              <a:t>Internal or Embedded style sheet</a:t>
            </a:r>
          </a:p>
          <a:p>
            <a:r>
              <a:rPr lang="en-US" dirty="0" smtClean="0"/>
              <a:t>Inline style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External Style Sheet</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An external style sheet is ideal when the style is applied to many pages. With an external style sheet, you can change the look of an entire Web site by changing one file. Each page must link to the style sheet using the &lt;link&gt; tag. The &lt;link&gt; tag goes inside the head section:</a:t>
            </a:r>
          </a:p>
          <a:p>
            <a:r>
              <a:rPr lang="en-US" dirty="0" smtClean="0"/>
              <a:t>&lt;head&gt;</a:t>
            </a:r>
            <a:br>
              <a:rPr lang="en-US" dirty="0" smtClean="0"/>
            </a:br>
            <a:r>
              <a:rPr lang="en-US" dirty="0" smtClean="0"/>
              <a:t>&lt;link </a:t>
            </a:r>
            <a:r>
              <a:rPr lang="en-US" dirty="0" err="1" smtClean="0"/>
              <a:t>rel</a:t>
            </a:r>
            <a:r>
              <a:rPr lang="en-US" dirty="0" smtClean="0"/>
              <a:t>="</a:t>
            </a:r>
            <a:r>
              <a:rPr lang="en-US" dirty="0" err="1" smtClean="0"/>
              <a:t>stylesheet</a:t>
            </a:r>
            <a:r>
              <a:rPr lang="en-US" dirty="0" smtClean="0"/>
              <a:t>" type="text/</a:t>
            </a:r>
            <a:r>
              <a:rPr lang="en-US" dirty="0" err="1" smtClean="0"/>
              <a:t>css</a:t>
            </a:r>
            <a:r>
              <a:rPr lang="en-US" dirty="0" smtClean="0"/>
              <a:t>" </a:t>
            </a:r>
            <a:r>
              <a:rPr lang="en-US" dirty="0" err="1" smtClean="0"/>
              <a:t>href</a:t>
            </a:r>
            <a:r>
              <a:rPr lang="en-US" dirty="0" smtClean="0"/>
              <a:t>="mystyle.css"&gt;</a:t>
            </a:r>
            <a:br>
              <a:rPr lang="en-US" dirty="0" smtClean="0"/>
            </a:br>
            <a:r>
              <a:rPr lang="en-US" dirty="0" smtClean="0"/>
              <a:t>&lt;/head&gt;</a:t>
            </a:r>
          </a:p>
          <a:p>
            <a:endParaRPr lang="en-US" dirty="0" smtClean="0"/>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External Style Sheet</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smtClean="0"/>
              <a:t>An external style sheet can be written in any text editor. The file should not contain any html tags. Your style sheet should be saved with a .</a:t>
            </a:r>
            <a:r>
              <a:rPr lang="en-US" dirty="0" err="1" smtClean="0"/>
              <a:t>css</a:t>
            </a:r>
            <a:r>
              <a:rPr lang="en-US" dirty="0" smtClean="0"/>
              <a:t> extension. An example of a style sheet file is shown below:</a:t>
            </a:r>
          </a:p>
          <a:p>
            <a:r>
              <a:rPr lang="en-US" dirty="0" smtClean="0"/>
              <a:t>hr {</a:t>
            </a:r>
            <a:r>
              <a:rPr lang="en-US" dirty="0" err="1" smtClean="0"/>
              <a:t>color:sienna</a:t>
            </a:r>
            <a:r>
              <a:rPr lang="en-US" dirty="0" smtClean="0"/>
              <a:t>;}</a:t>
            </a:r>
            <a:br>
              <a:rPr lang="en-US" dirty="0" smtClean="0"/>
            </a:br>
            <a:r>
              <a:rPr lang="en-US" dirty="0" smtClean="0"/>
              <a:t>p {margin-left:20px;}</a:t>
            </a:r>
            <a:br>
              <a:rPr lang="en-US" dirty="0" smtClean="0"/>
            </a:br>
            <a:r>
              <a:rPr lang="en-US" dirty="0" smtClean="0"/>
              <a:t>body {background-</a:t>
            </a:r>
            <a:r>
              <a:rPr lang="en-US" dirty="0" err="1" smtClean="0"/>
              <a:t>image:url</a:t>
            </a:r>
            <a:r>
              <a:rPr lang="en-US" dirty="0" smtClean="0"/>
              <a:t>("images/back40.gif");}</a:t>
            </a:r>
          </a:p>
          <a:p>
            <a:pPr algn="just"/>
            <a:r>
              <a:rPr lang="en-US" dirty="0" smtClean="0"/>
              <a:t>Do not add a space between the property value and the unit (such as margin-left:20 </a:t>
            </a:r>
            <a:r>
              <a:rPr lang="en-US" dirty="0" err="1" smtClean="0"/>
              <a:t>px</a:t>
            </a:r>
            <a:r>
              <a:rPr lang="en-US" dirty="0" smtClean="0"/>
              <a:t>). The correct way is: margin-left:20px</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Internal Style Sheet</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smtClean="0"/>
              <a:t>An internal style sheet should be used when a single document has a unique style. You define internal styles in the head section of an HTML page, by using the &lt;style&gt; tag, like this:</a:t>
            </a:r>
          </a:p>
          <a:p>
            <a:r>
              <a:rPr lang="en-US" dirty="0" smtClean="0"/>
              <a:t>&lt;head&gt;</a:t>
            </a:r>
            <a:br>
              <a:rPr lang="en-US" dirty="0" smtClean="0"/>
            </a:br>
            <a:r>
              <a:rPr lang="en-US" dirty="0" smtClean="0"/>
              <a:t>&lt;style&gt;</a:t>
            </a:r>
            <a:br>
              <a:rPr lang="en-US" dirty="0" smtClean="0"/>
            </a:br>
            <a:r>
              <a:rPr lang="en-US" dirty="0" smtClean="0"/>
              <a:t>hr {</a:t>
            </a:r>
            <a:r>
              <a:rPr lang="en-US" dirty="0" err="1" smtClean="0"/>
              <a:t>color:sienna</a:t>
            </a:r>
            <a:r>
              <a:rPr lang="en-US" dirty="0" smtClean="0"/>
              <a:t>;}</a:t>
            </a:r>
            <a:br>
              <a:rPr lang="en-US" dirty="0" smtClean="0"/>
            </a:br>
            <a:r>
              <a:rPr lang="en-US" dirty="0" smtClean="0"/>
              <a:t>p {margin-left:20px;}</a:t>
            </a:r>
            <a:br>
              <a:rPr lang="en-US" dirty="0" smtClean="0"/>
            </a:br>
            <a:r>
              <a:rPr lang="en-US" dirty="0" smtClean="0"/>
              <a:t>body {background-</a:t>
            </a:r>
            <a:r>
              <a:rPr lang="en-US" dirty="0" err="1" smtClean="0"/>
              <a:t>image:url</a:t>
            </a:r>
            <a:r>
              <a:rPr lang="en-US" dirty="0" smtClean="0"/>
              <a:t>("images/back40.gif");}</a:t>
            </a:r>
            <a:br>
              <a:rPr lang="en-US" dirty="0" smtClean="0"/>
            </a:br>
            <a:r>
              <a:rPr lang="en-US" dirty="0" smtClean="0"/>
              <a:t>&lt;/style&gt;</a:t>
            </a:r>
            <a:br>
              <a:rPr lang="en-US" dirty="0" smtClean="0"/>
            </a:br>
            <a:r>
              <a:rPr lang="en-US" dirty="0" smtClean="0"/>
              <a:t>&lt;/head&gt;</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Inline Styles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An inline style loses many of the advantages of style sheets by mixing content with presentation. Use this method sparingly!</a:t>
            </a:r>
          </a:p>
          <a:p>
            <a:pPr algn="just"/>
            <a:r>
              <a:rPr lang="en-US" dirty="0" smtClean="0"/>
              <a:t>To use inline styles you use the style attribute in the relevant tag. The style attribute can contain any CSS property. The example shows how to change the color and the left margin of a paragraph:</a:t>
            </a:r>
          </a:p>
          <a:p>
            <a:pPr algn="just"/>
            <a:r>
              <a:rPr lang="en-US" dirty="0" smtClean="0"/>
              <a:t>&lt;p style="color:sienna;margin-left:20px"&gt;This is a paragraph.&lt;/p&gt;</a:t>
            </a:r>
          </a:p>
          <a:p>
            <a:pPr algn="just"/>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Multiple Style Sheets</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If some properties have been set for the same selector in different style sheets, the values will be inherited from the more specific style sheet. </a:t>
            </a:r>
          </a:p>
          <a:p>
            <a:pPr algn="just"/>
            <a:r>
              <a:rPr lang="en-US" dirty="0" smtClean="0"/>
              <a:t>For example, an external style sheet has these properties for the h3 selector:</a:t>
            </a:r>
          </a:p>
          <a:p>
            <a:r>
              <a:rPr lang="en-US" dirty="0" smtClean="0"/>
              <a:t>h3</a:t>
            </a:r>
            <a:br>
              <a:rPr lang="en-US" dirty="0" smtClean="0"/>
            </a:br>
            <a:r>
              <a:rPr lang="en-US" dirty="0" smtClean="0"/>
              <a:t>{</a:t>
            </a:r>
            <a:br>
              <a:rPr lang="en-US" dirty="0" smtClean="0"/>
            </a:br>
            <a:r>
              <a:rPr lang="en-US" dirty="0" err="1" smtClean="0"/>
              <a:t>color:red</a:t>
            </a:r>
            <a:r>
              <a:rPr lang="en-US" dirty="0" smtClean="0"/>
              <a:t>;</a:t>
            </a:r>
            <a:br>
              <a:rPr lang="en-US" dirty="0" smtClean="0"/>
            </a:br>
            <a:r>
              <a:rPr lang="en-US" dirty="0" smtClean="0"/>
              <a:t>text-</a:t>
            </a:r>
            <a:r>
              <a:rPr lang="en-US" dirty="0" err="1" smtClean="0"/>
              <a:t>align:left</a:t>
            </a:r>
            <a:r>
              <a:rPr lang="en-US" dirty="0" smtClean="0"/>
              <a:t>;</a:t>
            </a:r>
            <a:br>
              <a:rPr lang="en-US" dirty="0" smtClean="0"/>
            </a:br>
            <a:r>
              <a:rPr lang="en-US" dirty="0" smtClean="0"/>
              <a:t>font-size:8pt;</a:t>
            </a:r>
            <a:br>
              <a:rPr lang="en-US" dirty="0" smtClean="0"/>
            </a:br>
            <a:r>
              <a:rPr lang="en-US" dirty="0" smtClean="0"/>
              <a: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Multiple Style Sheets</a:t>
            </a:r>
            <a:endParaRPr lang="en-US" dirty="0"/>
          </a:p>
        </p:txBody>
      </p:sp>
      <p:sp>
        <p:nvSpPr>
          <p:cNvPr id="3" name="Content Placeholder 2"/>
          <p:cNvSpPr>
            <a:spLocks noGrp="1"/>
          </p:cNvSpPr>
          <p:nvPr>
            <p:ph idx="1"/>
          </p:nvPr>
        </p:nvSpPr>
        <p:spPr/>
        <p:txBody>
          <a:bodyPr>
            <a:normAutofit/>
          </a:bodyPr>
          <a:lstStyle/>
          <a:p>
            <a:pPr algn="just"/>
            <a:r>
              <a:rPr lang="en-US" dirty="0" smtClean="0"/>
              <a:t>And an internal style sheet has these properties for the h3 selector:</a:t>
            </a:r>
          </a:p>
          <a:p>
            <a:r>
              <a:rPr lang="en-US" dirty="0" smtClean="0"/>
              <a:t>h3</a:t>
            </a:r>
            <a:br>
              <a:rPr lang="en-US" dirty="0" smtClean="0"/>
            </a:br>
            <a:r>
              <a:rPr lang="en-US" dirty="0" smtClean="0"/>
              <a:t>{</a:t>
            </a:r>
            <a:br>
              <a:rPr lang="en-US" dirty="0" smtClean="0"/>
            </a:br>
            <a:r>
              <a:rPr lang="en-US" dirty="0" smtClean="0"/>
              <a:t>text-</a:t>
            </a:r>
            <a:r>
              <a:rPr lang="en-US" dirty="0" err="1" smtClean="0"/>
              <a:t>align:right</a:t>
            </a:r>
            <a:r>
              <a:rPr lang="en-US" dirty="0" smtClean="0"/>
              <a:t>;</a:t>
            </a:r>
            <a:br>
              <a:rPr lang="en-US" dirty="0" smtClean="0"/>
            </a:br>
            <a:r>
              <a:rPr lang="en-US" dirty="0" smtClean="0"/>
              <a:t>font-size:20pt;</a:t>
            </a:r>
            <a:br>
              <a:rPr lang="en-US" dirty="0" smtClean="0"/>
            </a:br>
            <a:r>
              <a:rPr lang="en-US" dirty="0" smtClean="0"/>
              <a:t>}</a:t>
            </a: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Multiple Style Sheets</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If the page with the internal style sheet also links to the external style sheet the properties for h3 will be:</a:t>
            </a:r>
          </a:p>
          <a:p>
            <a:r>
              <a:rPr lang="en-US" dirty="0" err="1" smtClean="0"/>
              <a:t>color:red</a:t>
            </a:r>
            <a:r>
              <a:rPr lang="en-US" dirty="0" smtClean="0"/>
              <a:t>;</a:t>
            </a:r>
            <a:br>
              <a:rPr lang="en-US" dirty="0" smtClean="0"/>
            </a:br>
            <a:r>
              <a:rPr lang="en-US" dirty="0" smtClean="0"/>
              <a:t>text-</a:t>
            </a:r>
            <a:r>
              <a:rPr lang="en-US" dirty="0" err="1" smtClean="0"/>
              <a:t>align:right</a:t>
            </a:r>
            <a:r>
              <a:rPr lang="en-US" dirty="0" smtClean="0"/>
              <a:t>;</a:t>
            </a:r>
            <a:br>
              <a:rPr lang="en-US" dirty="0" smtClean="0"/>
            </a:br>
            <a:r>
              <a:rPr lang="en-US" dirty="0" smtClean="0"/>
              <a:t>font-size:20pt;</a:t>
            </a:r>
          </a:p>
          <a:p>
            <a:pPr algn="just"/>
            <a:r>
              <a:rPr lang="en-US" dirty="0" smtClean="0"/>
              <a:t>The color is inherited from the external style sheet and the text-alignment and the font-size is replaced by the internal style sheet.</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Multiple Styles Will Cascade into One</a:t>
            </a:r>
            <a:endParaRPr lang="en-US" dirty="0"/>
          </a:p>
        </p:txBody>
      </p:sp>
      <p:sp>
        <p:nvSpPr>
          <p:cNvPr id="3" name="Content Placeholder 2"/>
          <p:cNvSpPr>
            <a:spLocks noGrp="1"/>
          </p:cNvSpPr>
          <p:nvPr>
            <p:ph idx="1"/>
          </p:nvPr>
        </p:nvSpPr>
        <p:spPr/>
        <p:txBody>
          <a:bodyPr/>
          <a:lstStyle/>
          <a:p>
            <a:pPr>
              <a:buNone/>
            </a:pPr>
            <a:r>
              <a:rPr lang="en-US" dirty="0" smtClean="0"/>
              <a:t>    Styles can be specified:</a:t>
            </a:r>
          </a:p>
          <a:p>
            <a:r>
              <a:rPr lang="en-US" dirty="0" smtClean="0"/>
              <a:t>inside an HTML element</a:t>
            </a:r>
          </a:p>
          <a:p>
            <a:r>
              <a:rPr lang="en-US" dirty="0" smtClean="0"/>
              <a:t>inside the head section of an HTML page</a:t>
            </a:r>
          </a:p>
          <a:p>
            <a:r>
              <a:rPr lang="en-US" dirty="0" smtClean="0"/>
              <a:t>in an external CSS file</a:t>
            </a:r>
          </a:p>
          <a:p>
            <a:r>
              <a:rPr lang="en-US" b="1" dirty="0" smtClean="0"/>
              <a:t>Tip:</a:t>
            </a:r>
            <a:r>
              <a:rPr lang="en-US" dirty="0" smtClean="0"/>
              <a:t> Even multiple external style sheets can be referenced inside a single HTML document.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Multiple Styles Will Cascade into One</a:t>
            </a:r>
            <a:endParaRPr lang="en-US" dirty="0"/>
          </a:p>
        </p:txBody>
      </p:sp>
      <p:sp>
        <p:nvSpPr>
          <p:cNvPr id="3" name="Content Placeholder 2"/>
          <p:cNvSpPr>
            <a:spLocks noGrp="1"/>
          </p:cNvSpPr>
          <p:nvPr>
            <p:ph idx="1"/>
          </p:nvPr>
        </p:nvSpPr>
        <p:spPr/>
        <p:txBody>
          <a:bodyPr>
            <a:normAutofit fontScale="85000" lnSpcReduction="20000"/>
          </a:bodyPr>
          <a:lstStyle/>
          <a:p>
            <a:pPr algn="just">
              <a:buNone/>
            </a:pPr>
            <a:r>
              <a:rPr lang="en-US" b="1" dirty="0" smtClean="0"/>
              <a:t>    Cascading order</a:t>
            </a:r>
          </a:p>
          <a:p>
            <a:pPr algn="just"/>
            <a:r>
              <a:rPr lang="en-US" dirty="0" smtClean="0"/>
              <a:t>What style will be used when there is more than one style specified for an HTML element?</a:t>
            </a:r>
          </a:p>
          <a:p>
            <a:pPr algn="just"/>
            <a:r>
              <a:rPr lang="en-US" dirty="0" smtClean="0"/>
              <a:t>Generally speaking we can say that all the styles will "cascade" into a new "virtual" style sheet by the following rules, where number four has the highest priority:</a:t>
            </a:r>
          </a:p>
          <a:p>
            <a:pPr algn="just"/>
            <a:r>
              <a:rPr lang="en-US" dirty="0" smtClean="0"/>
              <a:t>Browser default</a:t>
            </a:r>
          </a:p>
          <a:p>
            <a:pPr algn="just"/>
            <a:r>
              <a:rPr lang="en-US" dirty="0" smtClean="0"/>
              <a:t>External style sheet</a:t>
            </a:r>
          </a:p>
          <a:p>
            <a:pPr algn="just"/>
            <a:r>
              <a:rPr lang="en-US" dirty="0" smtClean="0"/>
              <a:t>Internal style sheet (in the head section)</a:t>
            </a:r>
          </a:p>
          <a:p>
            <a:pPr algn="just"/>
            <a:r>
              <a:rPr lang="en-US" dirty="0" smtClean="0"/>
              <a:t>Inline style (inside an HTML element)</a:t>
            </a:r>
          </a:p>
          <a:p>
            <a:pPr algn="just"/>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Multiple Styles Will Cascade into One</a:t>
            </a:r>
            <a:endParaRPr lang="en-US" dirty="0"/>
          </a:p>
        </p:txBody>
      </p:sp>
      <p:sp>
        <p:nvSpPr>
          <p:cNvPr id="3" name="Content Placeholder 2"/>
          <p:cNvSpPr>
            <a:spLocks noGrp="1"/>
          </p:cNvSpPr>
          <p:nvPr>
            <p:ph idx="1"/>
          </p:nvPr>
        </p:nvSpPr>
        <p:spPr/>
        <p:txBody>
          <a:bodyPr>
            <a:normAutofit lnSpcReduction="10000"/>
          </a:bodyPr>
          <a:lstStyle/>
          <a:p>
            <a:r>
              <a:rPr lang="en-US" dirty="0" smtClean="0"/>
              <a:t>So, an inline style (inside an HTML element) has the highest priority, which means that it will override a style defined inside the &lt;head&gt; tag, or in an external style sheet, or in a browser (a default value).</a:t>
            </a:r>
          </a:p>
          <a:p>
            <a:r>
              <a:rPr lang="en-US" b="1" dirty="0" smtClean="0"/>
              <a:t>Note:</a:t>
            </a:r>
            <a:r>
              <a:rPr lang="en-US" dirty="0" smtClean="0"/>
              <a:t> If the link to the external style sheet is placed after the internal style sheet in HTML &lt;head&gt;, the external style sheet will override the internal style sheet!</a:t>
            </a:r>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Background</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CSS background properties are used to define the background effects of an element.</a:t>
            </a:r>
          </a:p>
          <a:p>
            <a:pPr algn="just">
              <a:buNone/>
            </a:pPr>
            <a:r>
              <a:rPr lang="en-US" dirty="0" smtClean="0"/>
              <a:t>    CSS properties used for background effects:</a:t>
            </a:r>
          </a:p>
          <a:p>
            <a:pPr algn="just"/>
            <a:r>
              <a:rPr lang="en-US" dirty="0" smtClean="0"/>
              <a:t>background-color</a:t>
            </a:r>
          </a:p>
          <a:p>
            <a:pPr algn="just"/>
            <a:r>
              <a:rPr lang="en-US" dirty="0" smtClean="0"/>
              <a:t>background-image</a:t>
            </a:r>
          </a:p>
          <a:p>
            <a:pPr algn="just"/>
            <a:r>
              <a:rPr lang="en-US" dirty="0" smtClean="0"/>
              <a:t>background-repeat</a:t>
            </a:r>
          </a:p>
          <a:p>
            <a:pPr algn="just"/>
            <a:r>
              <a:rPr lang="en-US" dirty="0" smtClean="0"/>
              <a:t>background-attachment</a:t>
            </a:r>
          </a:p>
          <a:p>
            <a:pPr algn="just"/>
            <a:r>
              <a:rPr lang="en-US" dirty="0" smtClean="0"/>
              <a:t>background-position</a:t>
            </a:r>
          </a:p>
          <a:p>
            <a:pPr algn="just"/>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Background Color</a:t>
            </a:r>
            <a:endParaRPr lang="en-US" dirty="0"/>
          </a:p>
        </p:txBody>
      </p:sp>
      <p:sp>
        <p:nvSpPr>
          <p:cNvPr id="3" name="Content Placeholder 2"/>
          <p:cNvSpPr>
            <a:spLocks noGrp="1"/>
          </p:cNvSpPr>
          <p:nvPr>
            <p:ph idx="1"/>
          </p:nvPr>
        </p:nvSpPr>
        <p:spPr/>
        <p:txBody>
          <a:bodyPr/>
          <a:lstStyle/>
          <a:p>
            <a:pPr algn="just"/>
            <a:r>
              <a:rPr lang="en-US" dirty="0" smtClean="0"/>
              <a:t>The background-color property specifies the background color of an element.</a:t>
            </a:r>
          </a:p>
          <a:p>
            <a:pPr algn="just"/>
            <a:r>
              <a:rPr lang="en-US" dirty="0" smtClean="0"/>
              <a:t>The background color of a page is defined in the body selector:</a:t>
            </a:r>
          </a:p>
          <a:p>
            <a:pPr algn="just">
              <a:buNone/>
            </a:pPr>
            <a:r>
              <a:rPr lang="en-US" b="1" dirty="0" smtClean="0"/>
              <a:t>   Example</a:t>
            </a:r>
          </a:p>
          <a:p>
            <a:pPr algn="just"/>
            <a:r>
              <a:rPr lang="en-US" dirty="0" smtClean="0"/>
              <a:t>body {background-color:#b0c4de;} </a:t>
            </a:r>
          </a:p>
          <a:p>
            <a:pPr algn="just"/>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Background Image</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The background-image property specifies an image to use as the background of an element.</a:t>
            </a:r>
          </a:p>
          <a:p>
            <a:pPr algn="just"/>
            <a:r>
              <a:rPr lang="en-US" dirty="0" smtClean="0"/>
              <a:t>By default, the image is repeated so it covers the entire element.</a:t>
            </a:r>
          </a:p>
          <a:p>
            <a:pPr algn="just"/>
            <a:r>
              <a:rPr lang="en-US" dirty="0" smtClean="0"/>
              <a:t>The background image for a page can be set like this</a:t>
            </a:r>
          </a:p>
          <a:p>
            <a:pPr algn="just">
              <a:buNone/>
            </a:pPr>
            <a:r>
              <a:rPr lang="en-US" b="1" dirty="0" smtClean="0"/>
              <a:t>   Example</a:t>
            </a:r>
          </a:p>
          <a:p>
            <a:pPr algn="just"/>
            <a:r>
              <a:rPr lang="en-US" dirty="0" smtClean="0"/>
              <a:t>body {background-</a:t>
            </a:r>
            <a:r>
              <a:rPr lang="en-US" dirty="0" err="1" smtClean="0"/>
              <a:t>image:url</a:t>
            </a:r>
            <a:r>
              <a:rPr lang="en-US" dirty="0" smtClean="0"/>
              <a:t>('paper.gif');} </a:t>
            </a:r>
          </a:p>
          <a:p>
            <a:pPr algn="just"/>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Background Image - Repeat Horizontally or Vertically</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By default, the background-image property repeats an image both horizontally and vertically.</a:t>
            </a:r>
          </a:p>
          <a:p>
            <a:pPr algn="just"/>
            <a:r>
              <a:rPr lang="en-US" dirty="0" smtClean="0"/>
              <a:t>Some images should be repeated only horizontally or vertically, or they will look strange, like this:  </a:t>
            </a:r>
          </a:p>
          <a:p>
            <a:r>
              <a:rPr lang="en-US" b="1" dirty="0" smtClean="0"/>
              <a:t>Example</a:t>
            </a:r>
          </a:p>
          <a:p>
            <a:r>
              <a:rPr lang="en-US" dirty="0" smtClean="0"/>
              <a:t>body</a:t>
            </a:r>
            <a:br>
              <a:rPr lang="en-US" dirty="0" smtClean="0"/>
            </a:br>
            <a:r>
              <a:rPr lang="en-US" dirty="0" smtClean="0"/>
              <a:t>{</a:t>
            </a:r>
            <a:br>
              <a:rPr lang="en-US" dirty="0" smtClean="0"/>
            </a:br>
            <a:r>
              <a:rPr lang="en-US" dirty="0" smtClean="0"/>
              <a:t>background-</a:t>
            </a:r>
            <a:r>
              <a:rPr lang="en-US" dirty="0" err="1" smtClean="0"/>
              <a:t>image:url</a:t>
            </a:r>
            <a:r>
              <a:rPr lang="en-US" dirty="0" smtClean="0"/>
              <a:t>('gradient2.png');</a:t>
            </a:r>
            <a:br>
              <a:rPr lang="en-US" dirty="0" smtClean="0"/>
            </a:br>
            <a:r>
              <a:rPr lang="en-US" dirty="0" smtClean="0"/>
              <a:t>} </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Background Image - Set position and no-repeat</a:t>
            </a:r>
            <a:endParaRPr lang="en-US" dirty="0"/>
          </a:p>
        </p:txBody>
      </p:sp>
      <p:sp>
        <p:nvSpPr>
          <p:cNvPr id="3" name="Content Placeholder 2"/>
          <p:cNvSpPr>
            <a:spLocks noGrp="1"/>
          </p:cNvSpPr>
          <p:nvPr>
            <p:ph idx="1"/>
          </p:nvPr>
        </p:nvSpPr>
        <p:spPr/>
        <p:txBody>
          <a:bodyPr/>
          <a:lstStyle/>
          <a:p>
            <a:pPr algn="just"/>
            <a:r>
              <a:rPr lang="en-US" dirty="0" smtClean="0"/>
              <a:t>If the image is repeated only horizontally (repeat-x), the background will look better</a:t>
            </a:r>
          </a:p>
          <a:p>
            <a:r>
              <a:rPr lang="en-US" b="1" dirty="0" smtClean="0"/>
              <a:t>Example</a:t>
            </a:r>
          </a:p>
          <a:p>
            <a:r>
              <a:rPr lang="en-US" dirty="0" smtClean="0"/>
              <a:t>body</a:t>
            </a:r>
            <a:br>
              <a:rPr lang="en-US" dirty="0" smtClean="0"/>
            </a:br>
            <a:r>
              <a:rPr lang="en-US" dirty="0" smtClean="0"/>
              <a:t>{</a:t>
            </a:r>
            <a:br>
              <a:rPr lang="en-US" dirty="0" smtClean="0"/>
            </a:br>
            <a:r>
              <a:rPr lang="en-US" dirty="0" smtClean="0"/>
              <a:t>background-</a:t>
            </a:r>
            <a:r>
              <a:rPr lang="en-US" dirty="0" err="1" smtClean="0"/>
              <a:t>image:url</a:t>
            </a:r>
            <a:r>
              <a:rPr lang="en-US" dirty="0" smtClean="0"/>
              <a:t>('gradient2.png');</a:t>
            </a:r>
            <a:br>
              <a:rPr lang="en-US" dirty="0" smtClean="0"/>
            </a:br>
            <a:r>
              <a:rPr lang="en-US" dirty="0" smtClean="0"/>
              <a:t>background-</a:t>
            </a:r>
            <a:r>
              <a:rPr lang="en-US" dirty="0" err="1" smtClean="0"/>
              <a:t>repeat:repeat</a:t>
            </a:r>
            <a:r>
              <a:rPr lang="en-US" dirty="0" smtClean="0"/>
              <a:t>-x;</a:t>
            </a:r>
            <a:br>
              <a:rPr lang="en-US" dirty="0" smtClean="0"/>
            </a:br>
            <a:r>
              <a:rPr lang="en-US" dirty="0" smtClean="0"/>
              <a:t>} </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Background Image - Set position and no-repeat</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smtClean="0"/>
              <a:t>In the example above, the background image is shown in the same place as the text. We want to change the position of the image, so that it does not disturb the text too much.</a:t>
            </a:r>
          </a:p>
          <a:p>
            <a:pPr algn="just"/>
            <a:r>
              <a:rPr lang="en-US" dirty="0" smtClean="0"/>
              <a:t>The position of the image is specified by the background-position property:</a:t>
            </a:r>
          </a:p>
          <a:p>
            <a:r>
              <a:rPr lang="en-US" b="1" dirty="0" smtClean="0"/>
              <a:t>Example</a:t>
            </a:r>
          </a:p>
          <a:p>
            <a:r>
              <a:rPr lang="en-US" dirty="0" smtClean="0"/>
              <a:t>body</a:t>
            </a:r>
            <a:br>
              <a:rPr lang="en-US" dirty="0" smtClean="0"/>
            </a:br>
            <a:r>
              <a:rPr lang="en-US" dirty="0" smtClean="0"/>
              <a:t>{</a:t>
            </a:r>
            <a:br>
              <a:rPr lang="en-US" dirty="0" smtClean="0"/>
            </a:br>
            <a:r>
              <a:rPr lang="en-US" dirty="0" smtClean="0"/>
              <a:t>background-</a:t>
            </a:r>
            <a:r>
              <a:rPr lang="en-US" dirty="0" err="1" smtClean="0"/>
              <a:t>image:url</a:t>
            </a:r>
            <a:r>
              <a:rPr lang="en-US" dirty="0" smtClean="0"/>
              <a:t>('img_tree.png');</a:t>
            </a:r>
            <a:br>
              <a:rPr lang="en-US" dirty="0" smtClean="0"/>
            </a:br>
            <a:r>
              <a:rPr lang="en-US" dirty="0" smtClean="0"/>
              <a:t>background-</a:t>
            </a:r>
            <a:r>
              <a:rPr lang="en-US" dirty="0" err="1" smtClean="0"/>
              <a:t>repeat:no</a:t>
            </a:r>
            <a:r>
              <a:rPr lang="en-US" dirty="0" smtClean="0"/>
              <a:t>-repeat;</a:t>
            </a:r>
            <a:br>
              <a:rPr lang="en-US" dirty="0" smtClean="0"/>
            </a:br>
            <a:r>
              <a:rPr lang="en-US" dirty="0" smtClean="0"/>
              <a:t>background-</a:t>
            </a:r>
            <a:r>
              <a:rPr lang="en-US" dirty="0" err="1" smtClean="0"/>
              <a:t>position:right</a:t>
            </a:r>
            <a:r>
              <a:rPr lang="en-US" dirty="0" smtClean="0"/>
              <a:t> top;</a:t>
            </a:r>
            <a:br>
              <a:rPr lang="en-US" dirty="0" smtClean="0"/>
            </a:br>
            <a:r>
              <a:rPr lang="en-US" dirty="0" smtClean="0"/>
              <a:t>} </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Background - Shorthand property</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As you can see from the examples above, there are many properties to consider when dealing with backgrounds.</a:t>
            </a:r>
          </a:p>
          <a:p>
            <a:pPr algn="just"/>
            <a:r>
              <a:rPr lang="en-US" dirty="0" smtClean="0"/>
              <a:t>To shorten the code, it is also possible to specify all the properties in one single property. This is called a shorthand property.</a:t>
            </a:r>
          </a:p>
          <a:p>
            <a:pPr algn="just"/>
            <a:r>
              <a:rPr lang="en-US" dirty="0" smtClean="0"/>
              <a:t>The shorthand property for background is simply "background":</a:t>
            </a:r>
          </a:p>
          <a:p>
            <a:pPr algn="just"/>
            <a:r>
              <a:rPr lang="en-US" b="1" dirty="0" smtClean="0"/>
              <a:t>Example</a:t>
            </a:r>
          </a:p>
          <a:p>
            <a:pPr algn="just"/>
            <a:r>
              <a:rPr lang="en-US" dirty="0" smtClean="0"/>
              <a:t>body {background:#</a:t>
            </a:r>
            <a:r>
              <a:rPr lang="en-US" dirty="0" err="1" smtClean="0"/>
              <a:t>ffffff</a:t>
            </a:r>
            <a:r>
              <a:rPr lang="en-US" dirty="0" smtClean="0"/>
              <a:t> </a:t>
            </a:r>
            <a:r>
              <a:rPr lang="en-US" dirty="0" err="1" smtClean="0"/>
              <a:t>url</a:t>
            </a:r>
            <a:r>
              <a:rPr lang="en-US" dirty="0" smtClean="0"/>
              <a:t>('img_tree.png') no-repeat right top;}</a:t>
            </a:r>
          </a:p>
          <a:p>
            <a:pPr algn="just"/>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Text</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Text Color</a:t>
            </a:r>
          </a:p>
          <a:p>
            <a:pPr algn="just"/>
            <a:r>
              <a:rPr lang="en-US" dirty="0" smtClean="0"/>
              <a:t>The color property is used to set the color of the text.</a:t>
            </a:r>
          </a:p>
          <a:p>
            <a:pPr algn="just"/>
            <a:endParaRPr lang="en-US" dirty="0" smtClean="0"/>
          </a:p>
          <a:p>
            <a:pPr algn="just">
              <a:buNone/>
            </a:pPr>
            <a:r>
              <a:rPr lang="en-US" dirty="0" smtClean="0"/>
              <a:t>     With CSS, a color is most often specified by:</a:t>
            </a:r>
          </a:p>
          <a:p>
            <a:pPr algn="just"/>
            <a:r>
              <a:rPr lang="en-US" dirty="0" smtClean="0"/>
              <a:t>a HEX value - like "#ff0000"</a:t>
            </a:r>
          </a:p>
          <a:p>
            <a:pPr algn="just"/>
            <a:r>
              <a:rPr lang="en-US" dirty="0" smtClean="0"/>
              <a:t>an RGB value - like "</a:t>
            </a:r>
            <a:r>
              <a:rPr lang="en-US" dirty="0" err="1" smtClean="0"/>
              <a:t>rgb</a:t>
            </a:r>
            <a:r>
              <a:rPr lang="en-US" dirty="0" smtClean="0"/>
              <a:t>(255,0,0)"</a:t>
            </a:r>
          </a:p>
          <a:p>
            <a:pPr algn="just"/>
            <a:r>
              <a:rPr lang="en-US" dirty="0" smtClean="0"/>
              <a:t>a color name - like "red"</a:t>
            </a:r>
          </a:p>
          <a:p>
            <a:pPr algn="just"/>
            <a:r>
              <a:rPr lang="en-US" dirty="0" smtClean="0"/>
              <a:t>The default color for a page is defined in the body selector.</a:t>
            </a:r>
          </a:p>
          <a:p>
            <a:pPr>
              <a:buNone/>
            </a:pPr>
            <a:r>
              <a:rPr lang="en-US" b="1" dirty="0" smtClean="0"/>
              <a:t>     Example</a:t>
            </a:r>
          </a:p>
          <a:p>
            <a:r>
              <a:rPr lang="en-US" dirty="0" smtClean="0"/>
              <a:t>body {</a:t>
            </a:r>
            <a:r>
              <a:rPr lang="en-US" dirty="0" err="1" smtClean="0"/>
              <a:t>color:blue</a:t>
            </a:r>
            <a:r>
              <a:rPr lang="en-US" dirty="0" smtClean="0"/>
              <a:t>;}</a:t>
            </a:r>
            <a:br>
              <a:rPr lang="en-US" dirty="0" smtClean="0"/>
            </a:br>
            <a:r>
              <a:rPr lang="en-US" dirty="0" smtClean="0"/>
              <a:t>h1 {color:#00ff00;}</a:t>
            </a:r>
            <a:br>
              <a:rPr lang="en-US" dirty="0" smtClean="0"/>
            </a:br>
            <a:r>
              <a:rPr lang="en-US" dirty="0" smtClean="0"/>
              <a:t>h2 {</a:t>
            </a:r>
            <a:r>
              <a:rPr lang="en-US" dirty="0" err="1" smtClean="0"/>
              <a:t>color:rgb</a:t>
            </a:r>
            <a:r>
              <a:rPr lang="en-US" dirty="0" smtClean="0"/>
              <a:t>(255,0,0);}</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Text Alignment</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smtClean="0"/>
              <a:t>The text-align property is used to set the horizontal alignment of a text.</a:t>
            </a:r>
          </a:p>
          <a:p>
            <a:pPr algn="just"/>
            <a:r>
              <a:rPr lang="en-US" dirty="0" smtClean="0"/>
              <a:t>Text can be centered, or aligned to the left or right, or justified.</a:t>
            </a:r>
          </a:p>
          <a:p>
            <a:pPr algn="just"/>
            <a:r>
              <a:rPr lang="en-US" dirty="0" smtClean="0"/>
              <a:t>When text-align is set to "justify", each line is stretched so that every line has equal width, and the left and right margins are straight (like in magazines and newspapers).</a:t>
            </a:r>
          </a:p>
          <a:p>
            <a:r>
              <a:rPr lang="en-US" b="1" dirty="0" smtClean="0"/>
              <a:t>Example</a:t>
            </a:r>
          </a:p>
          <a:p>
            <a:r>
              <a:rPr lang="en-US" dirty="0" smtClean="0"/>
              <a:t>h1 {text-</a:t>
            </a:r>
            <a:r>
              <a:rPr lang="en-US" dirty="0" err="1" smtClean="0"/>
              <a:t>align:center</a:t>
            </a:r>
            <a:r>
              <a:rPr lang="en-US" dirty="0" smtClean="0"/>
              <a:t>;}</a:t>
            </a:r>
            <a:br>
              <a:rPr lang="en-US" dirty="0" smtClean="0"/>
            </a:br>
            <a:r>
              <a:rPr lang="en-US" dirty="0" err="1" smtClean="0"/>
              <a:t>p.date</a:t>
            </a:r>
            <a:r>
              <a:rPr lang="en-US" dirty="0" smtClean="0"/>
              <a:t> {text-</a:t>
            </a:r>
            <a:r>
              <a:rPr lang="en-US" dirty="0" err="1" smtClean="0"/>
              <a:t>align:right</a:t>
            </a:r>
            <a:r>
              <a:rPr lang="en-US" dirty="0" smtClean="0"/>
              <a:t>;}</a:t>
            </a:r>
            <a:br>
              <a:rPr lang="en-US" dirty="0" smtClean="0"/>
            </a:br>
            <a:r>
              <a:rPr lang="en-US" dirty="0" err="1" smtClean="0"/>
              <a:t>p.main</a:t>
            </a:r>
            <a:r>
              <a:rPr lang="en-US" dirty="0" smtClean="0"/>
              <a:t> {text-</a:t>
            </a:r>
            <a:r>
              <a:rPr lang="en-US" dirty="0" err="1" smtClean="0"/>
              <a:t>align:justify</a:t>
            </a:r>
            <a:r>
              <a:rPr lang="en-US" dirty="0" smtClean="0"/>
              <a:t>;} </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Text Decoration</a:t>
            </a:r>
            <a:endParaRPr lang="en-US" dirty="0"/>
          </a:p>
        </p:txBody>
      </p:sp>
      <p:sp>
        <p:nvSpPr>
          <p:cNvPr id="3" name="Content Placeholder 2"/>
          <p:cNvSpPr>
            <a:spLocks noGrp="1"/>
          </p:cNvSpPr>
          <p:nvPr>
            <p:ph idx="1"/>
          </p:nvPr>
        </p:nvSpPr>
        <p:spPr/>
        <p:txBody>
          <a:bodyPr/>
          <a:lstStyle/>
          <a:p>
            <a:pPr algn="just"/>
            <a:r>
              <a:rPr lang="en-US" dirty="0" smtClean="0"/>
              <a:t>The text-decoration property is used to set or remove decorations from text.</a:t>
            </a:r>
          </a:p>
          <a:p>
            <a:pPr algn="just"/>
            <a:r>
              <a:rPr lang="en-US" dirty="0" smtClean="0"/>
              <a:t>The text-decoration property is mostly used to remove underlines from links for design purposes</a:t>
            </a:r>
          </a:p>
          <a:p>
            <a:r>
              <a:rPr lang="en-US" b="1" dirty="0" smtClean="0"/>
              <a:t>Example</a:t>
            </a:r>
          </a:p>
          <a:p>
            <a:r>
              <a:rPr lang="en-US" dirty="0" smtClean="0"/>
              <a:t>a {text-</a:t>
            </a:r>
            <a:r>
              <a:rPr lang="en-US" dirty="0" err="1" smtClean="0"/>
              <a:t>decoration:none</a:t>
            </a:r>
            <a:r>
              <a:rPr lang="en-US" dirty="0" smtClean="0"/>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Text Decoration</a:t>
            </a:r>
            <a:endParaRPr lang="en-US" dirty="0"/>
          </a:p>
        </p:txBody>
      </p:sp>
      <p:sp>
        <p:nvSpPr>
          <p:cNvPr id="3" name="Content Placeholder 2"/>
          <p:cNvSpPr>
            <a:spLocks noGrp="1"/>
          </p:cNvSpPr>
          <p:nvPr>
            <p:ph idx="1"/>
          </p:nvPr>
        </p:nvSpPr>
        <p:spPr/>
        <p:txBody>
          <a:bodyPr/>
          <a:lstStyle/>
          <a:p>
            <a:r>
              <a:rPr lang="en-US" dirty="0" smtClean="0"/>
              <a:t>It can also be used to decorate text</a:t>
            </a:r>
          </a:p>
          <a:p>
            <a:r>
              <a:rPr lang="en-US" b="1" dirty="0" smtClean="0"/>
              <a:t>Example</a:t>
            </a:r>
          </a:p>
          <a:p>
            <a:r>
              <a:rPr lang="en-US" dirty="0" smtClean="0"/>
              <a:t>h1 {text-</a:t>
            </a:r>
            <a:r>
              <a:rPr lang="en-US" dirty="0" err="1" smtClean="0"/>
              <a:t>decoration:overline</a:t>
            </a:r>
            <a:r>
              <a:rPr lang="en-US" dirty="0" smtClean="0"/>
              <a:t>;}</a:t>
            </a:r>
            <a:br>
              <a:rPr lang="en-US" dirty="0" smtClean="0"/>
            </a:br>
            <a:r>
              <a:rPr lang="en-US" dirty="0" smtClean="0"/>
              <a:t>h2 {text-</a:t>
            </a:r>
            <a:r>
              <a:rPr lang="en-US" dirty="0" err="1" smtClean="0"/>
              <a:t>decoration:line</a:t>
            </a:r>
            <a:r>
              <a:rPr lang="en-US" dirty="0" smtClean="0"/>
              <a:t>-through;}</a:t>
            </a:r>
            <a:br>
              <a:rPr lang="en-US" dirty="0" smtClean="0"/>
            </a:br>
            <a:r>
              <a:rPr lang="en-US" dirty="0" smtClean="0"/>
              <a:t>h3 {text-</a:t>
            </a:r>
            <a:r>
              <a:rPr lang="en-US" dirty="0" err="1" smtClean="0"/>
              <a:t>decoration:underline</a:t>
            </a:r>
            <a:r>
              <a:rPr lang="en-US" dirty="0" smtClean="0"/>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Text Transformation</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The text-transform property is used to specify uppercase and lowercase letters in a text.</a:t>
            </a:r>
          </a:p>
          <a:p>
            <a:pPr algn="just"/>
            <a:r>
              <a:rPr lang="en-US" dirty="0" smtClean="0"/>
              <a:t>It can be used to turn everything into uppercase or lowercase letters, or capitalize the first letter of each word.</a:t>
            </a:r>
          </a:p>
          <a:p>
            <a:r>
              <a:rPr lang="en-US" b="1" dirty="0" smtClean="0"/>
              <a:t>Example</a:t>
            </a:r>
          </a:p>
          <a:p>
            <a:r>
              <a:rPr lang="en-US" dirty="0" err="1" smtClean="0"/>
              <a:t>p.uppercase</a:t>
            </a:r>
            <a:r>
              <a:rPr lang="en-US" dirty="0" smtClean="0"/>
              <a:t> {text-</a:t>
            </a:r>
            <a:r>
              <a:rPr lang="en-US" dirty="0" err="1" smtClean="0"/>
              <a:t>transform:uppercase</a:t>
            </a:r>
            <a:r>
              <a:rPr lang="en-US" dirty="0" smtClean="0"/>
              <a:t>;}</a:t>
            </a:r>
            <a:br>
              <a:rPr lang="en-US" dirty="0" smtClean="0"/>
            </a:br>
            <a:r>
              <a:rPr lang="en-US" dirty="0" err="1" smtClean="0"/>
              <a:t>p.lowercase</a:t>
            </a:r>
            <a:r>
              <a:rPr lang="en-US" dirty="0" smtClean="0"/>
              <a:t> {text-</a:t>
            </a:r>
            <a:r>
              <a:rPr lang="en-US" dirty="0" err="1" smtClean="0"/>
              <a:t>transform:lowercase</a:t>
            </a:r>
            <a:r>
              <a:rPr lang="en-US" dirty="0" smtClean="0"/>
              <a:t>;}</a:t>
            </a:r>
            <a:br>
              <a:rPr lang="en-US" dirty="0" smtClean="0"/>
            </a:br>
            <a:r>
              <a:rPr lang="en-US" dirty="0" err="1" smtClean="0"/>
              <a:t>p.capitalize</a:t>
            </a:r>
            <a:r>
              <a:rPr lang="en-US" dirty="0" smtClean="0"/>
              <a:t> {text-</a:t>
            </a:r>
            <a:r>
              <a:rPr lang="en-US" dirty="0" err="1" smtClean="0"/>
              <a:t>transform:capitalize</a:t>
            </a:r>
            <a:r>
              <a:rPr lang="en-US" dirty="0" smtClean="0"/>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Text Indentation</a:t>
            </a:r>
            <a:endParaRPr lang="en-US" dirty="0"/>
          </a:p>
        </p:txBody>
      </p:sp>
      <p:sp>
        <p:nvSpPr>
          <p:cNvPr id="3" name="Content Placeholder 2"/>
          <p:cNvSpPr>
            <a:spLocks noGrp="1"/>
          </p:cNvSpPr>
          <p:nvPr>
            <p:ph idx="1"/>
          </p:nvPr>
        </p:nvSpPr>
        <p:spPr/>
        <p:txBody>
          <a:bodyPr/>
          <a:lstStyle/>
          <a:p>
            <a:r>
              <a:rPr lang="en-US" dirty="0" smtClean="0"/>
              <a:t>The text-indent property is used to specify the indentation of the first line of a text.</a:t>
            </a:r>
          </a:p>
          <a:p>
            <a:r>
              <a:rPr lang="en-US" b="1" dirty="0" smtClean="0"/>
              <a:t>Example</a:t>
            </a:r>
          </a:p>
          <a:p>
            <a:r>
              <a:rPr lang="en-US" dirty="0" smtClean="0"/>
              <a:t>p {text-indent:50px;}</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Font</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CSS font properties define the font family, boldness, size, and the style of a text.</a:t>
            </a:r>
            <a:endParaRPr lang="en-US" b="1" dirty="0" smtClean="0"/>
          </a:p>
          <a:p>
            <a:pPr algn="just">
              <a:buNone/>
            </a:pPr>
            <a:r>
              <a:rPr lang="en-US" b="1" dirty="0" smtClean="0"/>
              <a:t>    CSS Font Families</a:t>
            </a:r>
          </a:p>
          <a:p>
            <a:pPr algn="just"/>
            <a:r>
              <a:rPr lang="en-US" dirty="0" smtClean="0"/>
              <a:t>In CSS, there are two types of font family names:</a:t>
            </a:r>
          </a:p>
          <a:p>
            <a:pPr algn="just"/>
            <a:r>
              <a:rPr lang="en-US" b="1" dirty="0" smtClean="0"/>
              <a:t>generic family</a:t>
            </a:r>
            <a:r>
              <a:rPr lang="en-US" dirty="0" smtClean="0"/>
              <a:t> - a group of font families with a similar look (like "Serif" or "</a:t>
            </a:r>
            <a:r>
              <a:rPr lang="en-US" dirty="0" err="1" smtClean="0"/>
              <a:t>Monospace</a:t>
            </a:r>
            <a:r>
              <a:rPr lang="en-US" dirty="0" smtClean="0"/>
              <a:t>")</a:t>
            </a:r>
          </a:p>
          <a:p>
            <a:pPr algn="just"/>
            <a:r>
              <a:rPr lang="en-US" b="1" dirty="0" smtClean="0"/>
              <a:t>font family</a:t>
            </a:r>
            <a:r>
              <a:rPr lang="en-US" dirty="0" smtClean="0"/>
              <a:t> - a specific font family (like "Times New Roman" or "Arial")</a:t>
            </a:r>
          </a:p>
          <a:p>
            <a:pPr algn="just"/>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Font Families</a:t>
            </a:r>
            <a:endParaRPr lang="en-US" dirty="0"/>
          </a:p>
        </p:txBody>
      </p:sp>
      <p:graphicFrame>
        <p:nvGraphicFramePr>
          <p:cNvPr id="5" name="Content Placeholder 4"/>
          <p:cNvGraphicFramePr>
            <a:graphicFrameLocks noGrp="1"/>
          </p:cNvGraphicFramePr>
          <p:nvPr>
            <p:ph idx="1"/>
          </p:nvPr>
        </p:nvGraphicFramePr>
        <p:xfrm>
          <a:off x="457200" y="1600200"/>
          <a:ext cx="8305800" cy="3436620"/>
        </p:xfrm>
        <a:graphic>
          <a:graphicData uri="http://schemas.openxmlformats.org/drawingml/2006/table">
            <a:tbl>
              <a:tblPr firstRow="1" bandRow="1">
                <a:tableStyleId>{5C22544A-7EE6-4342-B048-85BDC9FD1C3A}</a:tableStyleId>
              </a:tblPr>
              <a:tblGrid>
                <a:gridCol w="2768600"/>
                <a:gridCol w="2768600"/>
                <a:gridCol w="2768600"/>
              </a:tblGrid>
              <a:tr h="666750">
                <a:tc>
                  <a:txBody>
                    <a:bodyPr/>
                    <a:lstStyle/>
                    <a:p>
                      <a:pPr algn="just"/>
                      <a:r>
                        <a:rPr lang="en-US" dirty="0"/>
                        <a:t>Generic family</a:t>
                      </a:r>
                    </a:p>
                  </a:txBody>
                  <a:tcPr anchor="ctr"/>
                </a:tc>
                <a:tc>
                  <a:txBody>
                    <a:bodyPr/>
                    <a:lstStyle/>
                    <a:p>
                      <a:pPr algn="just"/>
                      <a:r>
                        <a:rPr lang="en-US"/>
                        <a:t>Font family</a:t>
                      </a:r>
                    </a:p>
                  </a:txBody>
                  <a:tcPr anchor="ctr"/>
                </a:tc>
                <a:tc>
                  <a:txBody>
                    <a:bodyPr/>
                    <a:lstStyle/>
                    <a:p>
                      <a:pPr algn="just"/>
                      <a:r>
                        <a:rPr lang="en-US"/>
                        <a:t>Description</a:t>
                      </a:r>
                    </a:p>
                  </a:txBody>
                  <a:tcPr anchor="ctr"/>
                </a:tc>
              </a:tr>
              <a:tr h="666750">
                <a:tc>
                  <a:txBody>
                    <a:bodyPr/>
                    <a:lstStyle/>
                    <a:p>
                      <a:pPr algn="just"/>
                      <a:r>
                        <a:rPr lang="en-US" dirty="0"/>
                        <a:t>Serif</a:t>
                      </a:r>
                    </a:p>
                  </a:txBody>
                  <a:tcPr anchor="ctr"/>
                </a:tc>
                <a:tc>
                  <a:txBody>
                    <a:bodyPr/>
                    <a:lstStyle/>
                    <a:p>
                      <a:pPr algn="l"/>
                      <a:r>
                        <a:rPr lang="en-US" dirty="0">
                          <a:latin typeface="Times New Roman"/>
                        </a:rPr>
                        <a:t>Times New Roman</a:t>
                      </a:r>
                      <a:r>
                        <a:rPr lang="en-US" dirty="0"/>
                        <a:t/>
                      </a:r>
                      <a:br>
                        <a:rPr lang="en-US" dirty="0"/>
                      </a:br>
                      <a:r>
                        <a:rPr lang="en-US" dirty="0">
                          <a:latin typeface="Georgia"/>
                        </a:rPr>
                        <a:t>Georgia</a:t>
                      </a:r>
                      <a:endParaRPr lang="en-US" dirty="0"/>
                    </a:p>
                  </a:txBody>
                  <a:tcPr anchor="ctr"/>
                </a:tc>
                <a:tc>
                  <a:txBody>
                    <a:bodyPr/>
                    <a:lstStyle/>
                    <a:p>
                      <a:pPr algn="just"/>
                      <a:r>
                        <a:rPr lang="en-US"/>
                        <a:t>Serif fonts have small lines at the ends on some characters</a:t>
                      </a:r>
                    </a:p>
                  </a:txBody>
                  <a:tcPr anchor="ctr"/>
                </a:tc>
              </a:tr>
              <a:tr h="666750">
                <a:tc>
                  <a:txBody>
                    <a:bodyPr/>
                    <a:lstStyle/>
                    <a:p>
                      <a:pPr algn="just"/>
                      <a:r>
                        <a:rPr lang="en-US" dirty="0"/>
                        <a:t>Sans-serif</a:t>
                      </a:r>
                    </a:p>
                  </a:txBody>
                  <a:tcPr anchor="ctr"/>
                </a:tc>
                <a:tc>
                  <a:txBody>
                    <a:bodyPr/>
                    <a:lstStyle/>
                    <a:p>
                      <a:pPr algn="l"/>
                      <a:r>
                        <a:rPr lang="en-US" dirty="0">
                          <a:latin typeface="Arial"/>
                        </a:rPr>
                        <a:t>Arial</a:t>
                      </a:r>
                      <a:r>
                        <a:rPr lang="en-US" dirty="0"/>
                        <a:t/>
                      </a:r>
                      <a:br>
                        <a:rPr lang="en-US" dirty="0"/>
                      </a:br>
                      <a:r>
                        <a:rPr lang="en-US" dirty="0">
                          <a:latin typeface="Verdana"/>
                        </a:rPr>
                        <a:t>Verdana</a:t>
                      </a:r>
                      <a:endParaRPr lang="en-US" dirty="0"/>
                    </a:p>
                  </a:txBody>
                  <a:tcPr anchor="ctr"/>
                </a:tc>
                <a:tc>
                  <a:txBody>
                    <a:bodyPr/>
                    <a:lstStyle/>
                    <a:p>
                      <a:pPr algn="just"/>
                      <a:r>
                        <a:rPr lang="en-US" dirty="0"/>
                        <a:t>"Sans" means without - these fonts do not have the lines at the ends of characters</a:t>
                      </a:r>
                    </a:p>
                  </a:txBody>
                  <a:tcPr anchor="ctr"/>
                </a:tc>
              </a:tr>
              <a:tr h="666750">
                <a:tc>
                  <a:txBody>
                    <a:bodyPr/>
                    <a:lstStyle/>
                    <a:p>
                      <a:pPr algn="just"/>
                      <a:r>
                        <a:rPr lang="en-US"/>
                        <a:t>Monospace</a:t>
                      </a:r>
                    </a:p>
                  </a:txBody>
                  <a:tcPr anchor="ctr"/>
                </a:tc>
                <a:tc>
                  <a:txBody>
                    <a:bodyPr/>
                    <a:lstStyle/>
                    <a:p>
                      <a:pPr algn="l"/>
                      <a:r>
                        <a:rPr lang="en-US" dirty="0">
                          <a:latin typeface="Courier New"/>
                        </a:rPr>
                        <a:t>Courier New</a:t>
                      </a:r>
                      <a:r>
                        <a:rPr lang="en-US" dirty="0"/>
                        <a:t/>
                      </a:r>
                      <a:br>
                        <a:rPr lang="en-US" dirty="0"/>
                      </a:br>
                      <a:r>
                        <a:rPr lang="en-US" dirty="0">
                          <a:latin typeface="Lucida Console"/>
                        </a:rPr>
                        <a:t>Lucida Console</a:t>
                      </a:r>
                      <a:endParaRPr lang="en-US" dirty="0"/>
                    </a:p>
                  </a:txBody>
                  <a:tcPr anchor="ctr"/>
                </a:tc>
                <a:tc>
                  <a:txBody>
                    <a:bodyPr/>
                    <a:lstStyle/>
                    <a:p>
                      <a:pPr algn="just"/>
                      <a:r>
                        <a:rPr lang="en-US" dirty="0"/>
                        <a:t>All </a:t>
                      </a:r>
                      <a:r>
                        <a:rPr lang="en-US" dirty="0" err="1"/>
                        <a:t>monospace</a:t>
                      </a:r>
                      <a:r>
                        <a:rPr lang="en-US" dirty="0"/>
                        <a:t> characters have the same width</a:t>
                      </a:r>
                    </a:p>
                  </a:txBody>
                  <a:tcPr anchor="ctr"/>
                </a:tc>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Font Family</a:t>
            </a:r>
            <a:endParaRPr lang="en-US" dirty="0"/>
          </a:p>
        </p:txBody>
      </p:sp>
      <p:sp>
        <p:nvSpPr>
          <p:cNvPr id="3" name="Content Placeholder 2"/>
          <p:cNvSpPr>
            <a:spLocks noGrp="1"/>
          </p:cNvSpPr>
          <p:nvPr>
            <p:ph idx="1"/>
          </p:nvPr>
        </p:nvSpPr>
        <p:spPr/>
        <p:txBody>
          <a:bodyPr>
            <a:normAutofit fontScale="92500"/>
          </a:bodyPr>
          <a:lstStyle/>
          <a:p>
            <a:pPr algn="just"/>
            <a:r>
              <a:rPr lang="en-US" dirty="0" smtClean="0"/>
              <a:t>The font family of a text is set with the font-family property.</a:t>
            </a:r>
          </a:p>
          <a:p>
            <a:pPr algn="just"/>
            <a:r>
              <a:rPr lang="en-US" dirty="0" smtClean="0"/>
              <a:t>The font-family property should hold several font names as a "fallback" system. If the browser does not support the first font, it tries the next font.</a:t>
            </a:r>
          </a:p>
          <a:p>
            <a:pPr algn="just"/>
            <a:r>
              <a:rPr lang="en-US" dirty="0" smtClean="0"/>
              <a:t>Start with the font you want, and end with a generic family, to let the browser pick a similar font in the generic family, if no other fonts are available. </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Font Family</a:t>
            </a:r>
            <a:endParaRPr lang="en-US" dirty="0"/>
          </a:p>
        </p:txBody>
      </p:sp>
      <p:sp>
        <p:nvSpPr>
          <p:cNvPr id="3" name="Content Placeholder 2"/>
          <p:cNvSpPr>
            <a:spLocks noGrp="1"/>
          </p:cNvSpPr>
          <p:nvPr>
            <p:ph idx="1"/>
          </p:nvPr>
        </p:nvSpPr>
        <p:spPr/>
        <p:txBody>
          <a:bodyPr/>
          <a:lstStyle/>
          <a:p>
            <a:pPr algn="just"/>
            <a:r>
              <a:rPr lang="en-US" b="1" dirty="0" smtClean="0"/>
              <a:t>Note</a:t>
            </a:r>
            <a:r>
              <a:rPr lang="en-US" dirty="0" smtClean="0"/>
              <a:t>: If the name of a font family is more than one word, it must be in quotation marks, like font-family: "Times New Roman".</a:t>
            </a:r>
          </a:p>
          <a:p>
            <a:pPr algn="just"/>
            <a:r>
              <a:rPr lang="en-US" dirty="0" smtClean="0"/>
              <a:t>More than one font family is specified in a comma-separated list:</a:t>
            </a:r>
          </a:p>
          <a:p>
            <a:r>
              <a:rPr lang="en-US" b="1" dirty="0" smtClean="0"/>
              <a:t>Example</a:t>
            </a:r>
          </a:p>
          <a:p>
            <a:r>
              <a:rPr lang="en-US" dirty="0" smtClean="0"/>
              <a:t>p{font-family:"Times New Roman", Times, serif;} </a:t>
            </a:r>
          </a:p>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Font Style</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smtClean="0"/>
              <a:t>The font-style property is mostly used to specify italic text.</a:t>
            </a:r>
          </a:p>
          <a:p>
            <a:pPr algn="just">
              <a:buNone/>
            </a:pPr>
            <a:r>
              <a:rPr lang="en-US" dirty="0" smtClean="0"/>
              <a:t>    This property has three values:</a:t>
            </a:r>
          </a:p>
          <a:p>
            <a:pPr algn="just"/>
            <a:r>
              <a:rPr lang="en-US" dirty="0" smtClean="0"/>
              <a:t>normal - The text is shown normally</a:t>
            </a:r>
          </a:p>
          <a:p>
            <a:pPr algn="just"/>
            <a:r>
              <a:rPr lang="en-US" dirty="0" smtClean="0"/>
              <a:t>italic - The text is shown in italics</a:t>
            </a:r>
          </a:p>
          <a:p>
            <a:pPr algn="just"/>
            <a:r>
              <a:rPr lang="en-US" dirty="0" smtClean="0"/>
              <a:t>oblique - The text is "leaning" (oblique is very similar to italic, but less supported)</a:t>
            </a:r>
          </a:p>
          <a:p>
            <a:r>
              <a:rPr lang="en-US" b="1" dirty="0" smtClean="0"/>
              <a:t>Example</a:t>
            </a:r>
          </a:p>
          <a:p>
            <a:r>
              <a:rPr lang="en-US" dirty="0" err="1" smtClean="0"/>
              <a:t>p.normal</a:t>
            </a:r>
            <a:r>
              <a:rPr lang="en-US" dirty="0" smtClean="0"/>
              <a:t> {font-</a:t>
            </a:r>
            <a:r>
              <a:rPr lang="en-US" dirty="0" err="1" smtClean="0"/>
              <a:t>style:normal</a:t>
            </a:r>
            <a:r>
              <a:rPr lang="en-US" dirty="0" smtClean="0"/>
              <a:t>;}</a:t>
            </a:r>
            <a:br>
              <a:rPr lang="en-US" dirty="0" smtClean="0"/>
            </a:br>
            <a:r>
              <a:rPr lang="en-US" dirty="0" err="1" smtClean="0"/>
              <a:t>p.italic</a:t>
            </a:r>
            <a:r>
              <a:rPr lang="en-US" dirty="0" smtClean="0"/>
              <a:t> {font-</a:t>
            </a:r>
            <a:r>
              <a:rPr lang="en-US" dirty="0" err="1" smtClean="0"/>
              <a:t>style:italic</a:t>
            </a:r>
            <a:r>
              <a:rPr lang="en-US" dirty="0" smtClean="0"/>
              <a:t>;}</a:t>
            </a:r>
            <a:br>
              <a:rPr lang="en-US" dirty="0" smtClean="0"/>
            </a:br>
            <a:r>
              <a:rPr lang="en-US" dirty="0" err="1" smtClean="0"/>
              <a:t>p.oblique</a:t>
            </a:r>
            <a:r>
              <a:rPr lang="en-US" dirty="0" smtClean="0"/>
              <a:t> {font-</a:t>
            </a:r>
            <a:r>
              <a:rPr lang="en-US" dirty="0" err="1" smtClean="0"/>
              <a:t>style:oblique</a:t>
            </a:r>
            <a:r>
              <a:rPr lang="en-US" dirty="0" smtClean="0"/>
              <a:t>;}</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Font Size</a:t>
            </a:r>
            <a:endParaRPr lang="en-US" dirty="0"/>
          </a:p>
        </p:txBody>
      </p:sp>
      <p:sp>
        <p:nvSpPr>
          <p:cNvPr id="3" name="Content Placeholder 2"/>
          <p:cNvSpPr>
            <a:spLocks noGrp="1"/>
          </p:cNvSpPr>
          <p:nvPr>
            <p:ph idx="1"/>
          </p:nvPr>
        </p:nvSpPr>
        <p:spPr/>
        <p:txBody>
          <a:bodyPr>
            <a:normAutofit fontScale="92500"/>
          </a:bodyPr>
          <a:lstStyle/>
          <a:p>
            <a:pPr algn="just"/>
            <a:r>
              <a:rPr lang="en-US" dirty="0" smtClean="0"/>
              <a:t>The font-size property sets the size of the text.</a:t>
            </a:r>
          </a:p>
          <a:p>
            <a:pPr algn="just"/>
            <a:r>
              <a:rPr lang="en-US" dirty="0" smtClean="0"/>
              <a:t>Being able to manage the text size is important in web design. However, you should not use font size adjustments to make paragraphs look like headings, or headings look like paragraphs.</a:t>
            </a:r>
          </a:p>
          <a:p>
            <a:pPr algn="just"/>
            <a:r>
              <a:rPr lang="en-US" dirty="0" smtClean="0"/>
              <a:t>Always use the proper HTML tags, like &lt;h1&gt; - &lt;h6&gt; for headings and &lt;p&gt; for paragraphs.</a:t>
            </a:r>
          </a:p>
          <a:p>
            <a:pPr algn="just"/>
            <a:r>
              <a:rPr lang="en-US" dirty="0" smtClean="0"/>
              <a:t>The font-size value can be an absolute, or relative size.</a:t>
            </a:r>
          </a:p>
          <a:p>
            <a:pPr algn="just"/>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Font Size</a:t>
            </a:r>
            <a:endParaRPr lang="en-US" dirty="0"/>
          </a:p>
        </p:txBody>
      </p:sp>
      <p:sp>
        <p:nvSpPr>
          <p:cNvPr id="3" name="Content Placeholder 2"/>
          <p:cNvSpPr>
            <a:spLocks noGrp="1"/>
          </p:cNvSpPr>
          <p:nvPr>
            <p:ph idx="1"/>
          </p:nvPr>
        </p:nvSpPr>
        <p:spPr/>
        <p:txBody>
          <a:bodyPr>
            <a:normAutofit fontScale="85000" lnSpcReduction="20000"/>
          </a:bodyPr>
          <a:lstStyle/>
          <a:p>
            <a:pPr algn="just">
              <a:buNone/>
            </a:pPr>
            <a:r>
              <a:rPr lang="en-US" dirty="0" smtClean="0"/>
              <a:t>     </a:t>
            </a:r>
            <a:r>
              <a:rPr lang="en-US" b="1" dirty="0" smtClean="0"/>
              <a:t>Absolute size</a:t>
            </a:r>
            <a:r>
              <a:rPr lang="en-US" dirty="0" smtClean="0"/>
              <a:t>:</a:t>
            </a:r>
          </a:p>
          <a:p>
            <a:pPr algn="just"/>
            <a:r>
              <a:rPr lang="en-US" dirty="0" smtClean="0"/>
              <a:t>Sets the text to a specified size</a:t>
            </a:r>
          </a:p>
          <a:p>
            <a:pPr algn="just"/>
            <a:r>
              <a:rPr lang="en-US" dirty="0" smtClean="0"/>
              <a:t>Does not allow a user to change the text size in all browsers (bad for accessibility reasons)</a:t>
            </a:r>
          </a:p>
          <a:p>
            <a:pPr algn="just"/>
            <a:r>
              <a:rPr lang="en-US" dirty="0" smtClean="0"/>
              <a:t>Absolute size is useful when the physical size of the output is known</a:t>
            </a:r>
          </a:p>
          <a:p>
            <a:pPr algn="just">
              <a:buNone/>
            </a:pPr>
            <a:r>
              <a:rPr lang="en-US" dirty="0" smtClean="0"/>
              <a:t>    </a:t>
            </a:r>
            <a:r>
              <a:rPr lang="en-US" b="1" dirty="0" smtClean="0"/>
              <a:t>Relative size</a:t>
            </a:r>
            <a:r>
              <a:rPr lang="en-US" dirty="0" smtClean="0"/>
              <a:t>:</a:t>
            </a:r>
          </a:p>
          <a:p>
            <a:pPr algn="just"/>
            <a:r>
              <a:rPr lang="en-US" dirty="0" smtClean="0"/>
              <a:t>Sets the size relative to surrounding elements</a:t>
            </a:r>
          </a:p>
          <a:p>
            <a:pPr algn="just"/>
            <a:r>
              <a:rPr lang="en-US" dirty="0" smtClean="0"/>
              <a:t>Allows a user to change the text size in browsers</a:t>
            </a:r>
          </a:p>
          <a:p>
            <a:pPr algn="just"/>
            <a:r>
              <a:rPr lang="en-US" dirty="0" smtClean="0"/>
              <a:t>If you do not specify a font size, the default size for normal text, like paragraphs, is 16px (16px=1em).</a:t>
            </a:r>
          </a:p>
          <a:p>
            <a:pPr algn="just"/>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Set Font Size With Pixels</a:t>
            </a:r>
            <a:endParaRPr lang="en-US" dirty="0"/>
          </a:p>
        </p:txBody>
      </p:sp>
      <p:sp>
        <p:nvSpPr>
          <p:cNvPr id="3" name="Content Placeholder 2"/>
          <p:cNvSpPr>
            <a:spLocks noGrp="1"/>
          </p:cNvSpPr>
          <p:nvPr>
            <p:ph idx="1"/>
          </p:nvPr>
        </p:nvSpPr>
        <p:spPr/>
        <p:txBody>
          <a:bodyPr/>
          <a:lstStyle/>
          <a:p>
            <a:pPr algn="just"/>
            <a:r>
              <a:rPr lang="en-US" dirty="0" smtClean="0"/>
              <a:t>Setting the text size with pixels gives you full control over the text size</a:t>
            </a:r>
          </a:p>
          <a:p>
            <a:r>
              <a:rPr lang="en-US" b="1" dirty="0" smtClean="0"/>
              <a:t>Example</a:t>
            </a:r>
          </a:p>
          <a:p>
            <a:r>
              <a:rPr lang="en-US" dirty="0" smtClean="0"/>
              <a:t>h1 {font-size:40px;}</a:t>
            </a:r>
            <a:br>
              <a:rPr lang="en-US" dirty="0" smtClean="0"/>
            </a:br>
            <a:r>
              <a:rPr lang="en-US" dirty="0" smtClean="0"/>
              <a:t>h2 {font-size:30px;}</a:t>
            </a:r>
            <a:br>
              <a:rPr lang="en-US" dirty="0" smtClean="0"/>
            </a:br>
            <a:r>
              <a:rPr lang="en-US" dirty="0" smtClean="0"/>
              <a:t>p {font-size:14px;}</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Set Font Size With </a:t>
            </a:r>
            <a:r>
              <a:rPr lang="en-US" b="1" dirty="0" err="1" smtClean="0"/>
              <a:t>Em</a:t>
            </a:r>
            <a:endParaRPr lang="en-US" dirty="0"/>
          </a:p>
        </p:txBody>
      </p:sp>
      <p:sp>
        <p:nvSpPr>
          <p:cNvPr id="3" name="Content Placeholder 2"/>
          <p:cNvSpPr>
            <a:spLocks noGrp="1"/>
          </p:cNvSpPr>
          <p:nvPr>
            <p:ph idx="1"/>
          </p:nvPr>
        </p:nvSpPr>
        <p:spPr/>
        <p:txBody>
          <a:bodyPr>
            <a:normAutofit/>
          </a:bodyPr>
          <a:lstStyle/>
          <a:p>
            <a:pPr algn="just"/>
            <a:r>
              <a:rPr lang="en-US" dirty="0" smtClean="0"/>
              <a:t>To avoid the resizing problem with older versions of Internet Explorer, many developers use </a:t>
            </a:r>
            <a:r>
              <a:rPr lang="en-US" dirty="0" err="1" smtClean="0"/>
              <a:t>em</a:t>
            </a:r>
            <a:r>
              <a:rPr lang="en-US" dirty="0" smtClean="0"/>
              <a:t> instead of pixels.</a:t>
            </a:r>
          </a:p>
          <a:p>
            <a:pPr algn="just"/>
            <a:r>
              <a:rPr lang="en-US" dirty="0" smtClean="0"/>
              <a:t>The </a:t>
            </a:r>
            <a:r>
              <a:rPr lang="en-US" dirty="0" err="1" smtClean="0"/>
              <a:t>em</a:t>
            </a:r>
            <a:r>
              <a:rPr lang="en-US" dirty="0" smtClean="0"/>
              <a:t> size unit is recommended by the W3C.</a:t>
            </a:r>
          </a:p>
          <a:p>
            <a:pPr algn="just"/>
            <a:r>
              <a:rPr lang="en-US" dirty="0" smtClean="0"/>
              <a:t>1em is equal to the current font size. The default text size in browsers is 16px. So, the default size of 1em is 16px.</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Set Font Size With </a:t>
            </a:r>
            <a:r>
              <a:rPr lang="en-US" b="1" dirty="0" err="1" smtClean="0"/>
              <a:t>Em</a:t>
            </a:r>
            <a:endParaRPr lang="en-US" dirty="0"/>
          </a:p>
        </p:txBody>
      </p:sp>
      <p:sp>
        <p:nvSpPr>
          <p:cNvPr id="3" name="Content Placeholder 2"/>
          <p:cNvSpPr>
            <a:spLocks noGrp="1"/>
          </p:cNvSpPr>
          <p:nvPr>
            <p:ph idx="1"/>
          </p:nvPr>
        </p:nvSpPr>
        <p:spPr/>
        <p:txBody>
          <a:bodyPr/>
          <a:lstStyle/>
          <a:p>
            <a:pPr algn="just"/>
            <a:r>
              <a:rPr lang="en-US" dirty="0" smtClean="0"/>
              <a:t>The size can be calculated from pixels to </a:t>
            </a:r>
            <a:r>
              <a:rPr lang="en-US" dirty="0" err="1" smtClean="0"/>
              <a:t>em</a:t>
            </a:r>
            <a:r>
              <a:rPr lang="en-US" dirty="0" smtClean="0"/>
              <a:t> using this formula: </a:t>
            </a:r>
            <a:r>
              <a:rPr lang="en-US" i="1" dirty="0" smtClean="0"/>
              <a:t>pixels</a:t>
            </a:r>
            <a:r>
              <a:rPr lang="en-US" dirty="0" smtClean="0"/>
              <a:t>/16=</a:t>
            </a:r>
            <a:r>
              <a:rPr lang="en-US" i="1" dirty="0" err="1" smtClean="0"/>
              <a:t>em</a:t>
            </a:r>
            <a:endParaRPr lang="en-US" dirty="0" smtClean="0"/>
          </a:p>
          <a:p>
            <a:r>
              <a:rPr lang="en-US" b="1" dirty="0" smtClean="0"/>
              <a:t>Example</a:t>
            </a:r>
          </a:p>
          <a:p>
            <a:r>
              <a:rPr lang="en-US" dirty="0" smtClean="0"/>
              <a:t>h1 {font-size:2.5em;} /* 40px/16=2.5em */</a:t>
            </a:r>
            <a:br>
              <a:rPr lang="en-US" dirty="0" smtClean="0"/>
            </a:br>
            <a:r>
              <a:rPr lang="en-US" dirty="0" smtClean="0"/>
              <a:t>h2 {font-size:1.875em;} /* 30px/16=1.875em */</a:t>
            </a:r>
            <a:br>
              <a:rPr lang="en-US" dirty="0" smtClean="0"/>
            </a:br>
            <a:r>
              <a:rPr lang="en-US" dirty="0" smtClean="0"/>
              <a:t>p {font-size:0.875em;} /* 14px/16=0.875em */</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Set Font Size With </a:t>
            </a:r>
            <a:r>
              <a:rPr lang="en-US" b="1" dirty="0" err="1" smtClean="0"/>
              <a:t>Em</a:t>
            </a:r>
            <a:endParaRPr lang="en-US" dirty="0"/>
          </a:p>
        </p:txBody>
      </p:sp>
      <p:sp>
        <p:nvSpPr>
          <p:cNvPr id="3" name="Content Placeholder 2"/>
          <p:cNvSpPr>
            <a:spLocks noGrp="1"/>
          </p:cNvSpPr>
          <p:nvPr>
            <p:ph idx="1"/>
          </p:nvPr>
        </p:nvSpPr>
        <p:spPr/>
        <p:txBody>
          <a:bodyPr/>
          <a:lstStyle/>
          <a:p>
            <a:pPr algn="just"/>
            <a:r>
              <a:rPr lang="en-US" dirty="0" smtClean="0"/>
              <a:t>In the example above, the text size in </a:t>
            </a:r>
            <a:r>
              <a:rPr lang="en-US" dirty="0" err="1" smtClean="0"/>
              <a:t>em</a:t>
            </a:r>
            <a:r>
              <a:rPr lang="en-US" dirty="0" smtClean="0"/>
              <a:t> is the same as the previous example in pixels. However, with the </a:t>
            </a:r>
            <a:r>
              <a:rPr lang="en-US" dirty="0" err="1" smtClean="0"/>
              <a:t>em</a:t>
            </a:r>
            <a:r>
              <a:rPr lang="en-US" dirty="0" smtClean="0"/>
              <a:t> size, it is possible to adjust the text size in all browsers.</a:t>
            </a:r>
          </a:p>
          <a:p>
            <a:pPr algn="just"/>
            <a:r>
              <a:rPr lang="en-US" dirty="0" smtClean="0"/>
              <a:t>Unfortunately, there is still a problem with older versions of IE. The text becomes larger than it should when made larger, and smaller than it should when made smaller.</a:t>
            </a:r>
          </a:p>
          <a:p>
            <a:pPr algn="just"/>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Use a Combination of Percent and </a:t>
            </a:r>
            <a:r>
              <a:rPr lang="en-US" b="1" dirty="0" err="1" smtClean="0"/>
              <a:t>Em</a:t>
            </a:r>
            <a:endParaRPr lang="en-US" dirty="0"/>
          </a:p>
        </p:txBody>
      </p:sp>
      <p:sp>
        <p:nvSpPr>
          <p:cNvPr id="3" name="Content Placeholder 2"/>
          <p:cNvSpPr>
            <a:spLocks noGrp="1"/>
          </p:cNvSpPr>
          <p:nvPr>
            <p:ph idx="1"/>
          </p:nvPr>
        </p:nvSpPr>
        <p:spPr/>
        <p:txBody>
          <a:bodyPr/>
          <a:lstStyle/>
          <a:p>
            <a:pPr algn="just"/>
            <a:r>
              <a:rPr lang="en-US" dirty="0" smtClean="0"/>
              <a:t>The solution that works in all browsers, is to set a default font-size in percent for the &lt;body&gt; element</a:t>
            </a:r>
          </a:p>
          <a:p>
            <a:r>
              <a:rPr lang="en-US" b="1" dirty="0" smtClean="0"/>
              <a:t>Example</a:t>
            </a:r>
          </a:p>
          <a:p>
            <a:r>
              <a:rPr lang="en-US" dirty="0" smtClean="0"/>
              <a:t>body {font-size:100%;}</a:t>
            </a:r>
            <a:br>
              <a:rPr lang="en-US" dirty="0" smtClean="0"/>
            </a:br>
            <a:r>
              <a:rPr lang="en-US" dirty="0" smtClean="0"/>
              <a:t>h1 {font-size:2.5em;}</a:t>
            </a:r>
            <a:br>
              <a:rPr lang="en-US" dirty="0" smtClean="0"/>
            </a:br>
            <a:r>
              <a:rPr lang="en-US" dirty="0" smtClean="0"/>
              <a:t>h2 {font-size:1.875em;}</a:t>
            </a:r>
            <a:br>
              <a:rPr lang="en-US" dirty="0" smtClean="0"/>
            </a:br>
            <a:r>
              <a:rPr lang="en-US" dirty="0" smtClean="0"/>
              <a:t>p {font-size:0.875em;}</a:t>
            </a:r>
          </a:p>
          <a:p>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Links</a:t>
            </a:r>
            <a:endParaRPr lang="en-US" dirty="0"/>
          </a:p>
        </p:txBody>
      </p:sp>
      <p:sp>
        <p:nvSpPr>
          <p:cNvPr id="3" name="Content Placeholder 2"/>
          <p:cNvSpPr>
            <a:spLocks noGrp="1"/>
          </p:cNvSpPr>
          <p:nvPr>
            <p:ph idx="1"/>
          </p:nvPr>
        </p:nvSpPr>
        <p:spPr/>
        <p:txBody>
          <a:bodyPr>
            <a:normAutofit fontScale="92500" lnSpcReduction="20000"/>
          </a:bodyPr>
          <a:lstStyle/>
          <a:p>
            <a:pPr algn="just">
              <a:buNone/>
            </a:pPr>
            <a:r>
              <a:rPr lang="en-US" b="1" dirty="0" smtClean="0"/>
              <a:t>    Styling Links</a:t>
            </a:r>
          </a:p>
          <a:p>
            <a:pPr algn="just"/>
            <a:r>
              <a:rPr lang="en-US" dirty="0" smtClean="0"/>
              <a:t>Links can be styled with any CSS property (e.g. color, font-family, background, etc.).</a:t>
            </a:r>
          </a:p>
          <a:p>
            <a:pPr algn="just"/>
            <a:r>
              <a:rPr lang="en-US" dirty="0" smtClean="0"/>
              <a:t>In addition, links can be styled differently depending on what </a:t>
            </a:r>
            <a:r>
              <a:rPr lang="en-US" b="1" dirty="0" smtClean="0"/>
              <a:t>state</a:t>
            </a:r>
            <a:r>
              <a:rPr lang="en-US" dirty="0" smtClean="0"/>
              <a:t> they are in.</a:t>
            </a:r>
          </a:p>
          <a:p>
            <a:pPr algn="just"/>
            <a:r>
              <a:rPr lang="en-US" dirty="0" smtClean="0"/>
              <a:t>The four links states are: </a:t>
            </a:r>
          </a:p>
          <a:p>
            <a:pPr algn="just">
              <a:buNone/>
            </a:pPr>
            <a:r>
              <a:rPr lang="en-US" dirty="0" smtClean="0"/>
              <a:t>    a:link - a normal, unvisited link</a:t>
            </a:r>
          </a:p>
          <a:p>
            <a:pPr algn="just">
              <a:buNone/>
            </a:pPr>
            <a:r>
              <a:rPr lang="en-US" dirty="0" smtClean="0"/>
              <a:t>    a:visited - a link the user has visited</a:t>
            </a:r>
          </a:p>
          <a:p>
            <a:pPr algn="just">
              <a:buNone/>
            </a:pPr>
            <a:r>
              <a:rPr lang="en-US" dirty="0" smtClean="0"/>
              <a:t>    a:hover - a link when the user </a:t>
            </a:r>
            <a:r>
              <a:rPr lang="en-US" dirty="0" err="1" smtClean="0"/>
              <a:t>mouses</a:t>
            </a:r>
            <a:r>
              <a:rPr lang="en-US" dirty="0" smtClean="0"/>
              <a:t> over it</a:t>
            </a:r>
          </a:p>
          <a:p>
            <a:pPr algn="just">
              <a:buNone/>
            </a:pPr>
            <a:r>
              <a:rPr lang="en-US" dirty="0" smtClean="0"/>
              <a:t>    a:active - a link the moment it is clicked</a:t>
            </a:r>
          </a:p>
          <a:p>
            <a:pPr algn="just"/>
            <a:endParaRPr lang="en-US" b="1" dirty="0" smtClean="0"/>
          </a:p>
          <a:p>
            <a:pPr algn="just"/>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CSS Links</a:t>
            </a:r>
            <a:endParaRPr lang="en-US" dirty="0"/>
          </a:p>
        </p:txBody>
      </p:sp>
      <p:sp>
        <p:nvSpPr>
          <p:cNvPr id="3" name="Content Placeholder 2"/>
          <p:cNvSpPr>
            <a:spLocks noGrp="1"/>
          </p:cNvSpPr>
          <p:nvPr>
            <p:ph idx="1"/>
          </p:nvPr>
        </p:nvSpPr>
        <p:spPr/>
        <p:txBody>
          <a:bodyPr>
            <a:noAutofit/>
          </a:bodyPr>
          <a:lstStyle/>
          <a:p>
            <a:pPr>
              <a:buNone/>
            </a:pPr>
            <a:r>
              <a:rPr lang="en-US" sz="2800" b="1" dirty="0" smtClean="0"/>
              <a:t>    Example</a:t>
            </a:r>
          </a:p>
          <a:p>
            <a:pPr>
              <a:buNone/>
            </a:pPr>
            <a:r>
              <a:rPr lang="en-US" sz="2800" dirty="0" smtClean="0"/>
              <a:t>    a:link {color:#FF0000;}     /* unvisited link */</a:t>
            </a:r>
            <a:br>
              <a:rPr lang="en-US" sz="2800" dirty="0" smtClean="0"/>
            </a:br>
            <a:r>
              <a:rPr lang="en-US" sz="2800" dirty="0" smtClean="0"/>
              <a:t>a:visited {color:#00FF00;}  /* visited link */</a:t>
            </a:r>
            <a:br>
              <a:rPr lang="en-US" sz="2800" dirty="0" smtClean="0"/>
            </a:br>
            <a:r>
              <a:rPr lang="en-US" sz="2800" dirty="0" smtClean="0"/>
              <a:t>a:hover {color:#FF00FF;} /* mouse over link */</a:t>
            </a:r>
            <a:br>
              <a:rPr lang="en-US" sz="2800" dirty="0" smtClean="0"/>
            </a:br>
            <a:r>
              <a:rPr lang="en-US" sz="2800" dirty="0" smtClean="0"/>
              <a:t>a:active {color:#0000FF;} /* selected link */</a:t>
            </a:r>
          </a:p>
          <a:p>
            <a:pPr algn="just">
              <a:buNone/>
            </a:pPr>
            <a:r>
              <a:rPr lang="en-US" sz="2800" dirty="0" smtClean="0"/>
              <a:t>    When setting the style for several link states, there are some order rules:</a:t>
            </a:r>
          </a:p>
          <a:p>
            <a:pPr algn="just"/>
            <a:r>
              <a:rPr lang="en-US" sz="2800" dirty="0" smtClean="0"/>
              <a:t>a:hover MUST come after a:link and a:visited</a:t>
            </a:r>
          </a:p>
          <a:p>
            <a:pPr algn="just"/>
            <a:r>
              <a:rPr lang="en-US" sz="2800" dirty="0" smtClean="0"/>
              <a:t>a:active MUST come after a:hover</a:t>
            </a:r>
          </a:p>
          <a:p>
            <a:pPr algn="just">
              <a:buNone/>
            </a:pPr>
            <a:r>
              <a:rPr lang="en-US" sz="2800" dirty="0" smtClean="0"/>
              <a:t> </a:t>
            </a:r>
          </a:p>
          <a:p>
            <a:pPr>
              <a:buNone/>
            </a:pPr>
            <a:endParaRPr lang="en-US" sz="2800"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Text Decoration</a:t>
            </a:r>
            <a:endParaRPr lang="en-US" dirty="0"/>
          </a:p>
        </p:txBody>
      </p:sp>
      <p:sp>
        <p:nvSpPr>
          <p:cNvPr id="3" name="Content Placeholder 2"/>
          <p:cNvSpPr>
            <a:spLocks noGrp="1"/>
          </p:cNvSpPr>
          <p:nvPr>
            <p:ph idx="1"/>
          </p:nvPr>
        </p:nvSpPr>
        <p:spPr/>
        <p:txBody>
          <a:bodyPr/>
          <a:lstStyle/>
          <a:p>
            <a:r>
              <a:rPr lang="en-US" dirty="0" smtClean="0"/>
              <a:t>The text-decoration property is mostly used to remove underlines </a:t>
            </a:r>
            <a:r>
              <a:rPr lang="en-US" smtClean="0"/>
              <a:t>from links</a:t>
            </a:r>
            <a:endParaRPr lang="en-US" dirty="0" smtClean="0"/>
          </a:p>
          <a:p>
            <a:pPr>
              <a:buNone/>
            </a:pPr>
            <a:r>
              <a:rPr lang="en-US" b="1" dirty="0" smtClean="0"/>
              <a:t>    Example</a:t>
            </a:r>
          </a:p>
          <a:p>
            <a:r>
              <a:rPr lang="en-US" dirty="0" smtClean="0"/>
              <a:t>a:link {text-</a:t>
            </a:r>
            <a:r>
              <a:rPr lang="en-US" dirty="0" err="1" smtClean="0"/>
              <a:t>decoration:none</a:t>
            </a:r>
            <a:r>
              <a:rPr lang="en-US" dirty="0" smtClean="0"/>
              <a:t>;}</a:t>
            </a:r>
            <a:br>
              <a:rPr lang="en-US" dirty="0" smtClean="0"/>
            </a:br>
            <a:r>
              <a:rPr lang="en-US" dirty="0" smtClean="0"/>
              <a:t>a:visited {text-</a:t>
            </a:r>
            <a:r>
              <a:rPr lang="en-US" dirty="0" err="1" smtClean="0"/>
              <a:t>decoration:none</a:t>
            </a:r>
            <a:r>
              <a:rPr lang="en-US" dirty="0" smtClean="0"/>
              <a:t>;}</a:t>
            </a:r>
            <a:br>
              <a:rPr lang="en-US" dirty="0" smtClean="0"/>
            </a:br>
            <a:r>
              <a:rPr lang="en-US" dirty="0" smtClean="0"/>
              <a:t>a:hover {text-</a:t>
            </a:r>
            <a:r>
              <a:rPr lang="en-US" dirty="0" err="1" smtClean="0"/>
              <a:t>decoration:underline</a:t>
            </a:r>
            <a:r>
              <a:rPr lang="en-US" dirty="0" smtClean="0"/>
              <a:t>;}</a:t>
            </a:r>
            <a:br>
              <a:rPr lang="en-US" dirty="0" smtClean="0"/>
            </a:br>
            <a:r>
              <a:rPr lang="en-US" dirty="0" smtClean="0"/>
              <a:t>a:active {text-</a:t>
            </a:r>
            <a:r>
              <a:rPr lang="en-US" dirty="0" err="1" smtClean="0"/>
              <a:t>decoration:underline</a:t>
            </a:r>
            <a:r>
              <a:rPr lang="en-US" dirty="0" smtClean="0"/>
              <a:t>;}</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Background Color</a:t>
            </a:r>
            <a:endParaRPr lang="en-US" dirty="0"/>
          </a:p>
        </p:txBody>
      </p:sp>
      <p:sp>
        <p:nvSpPr>
          <p:cNvPr id="3" name="Content Placeholder 2"/>
          <p:cNvSpPr>
            <a:spLocks noGrp="1"/>
          </p:cNvSpPr>
          <p:nvPr>
            <p:ph idx="1"/>
          </p:nvPr>
        </p:nvSpPr>
        <p:spPr/>
        <p:txBody>
          <a:bodyPr/>
          <a:lstStyle/>
          <a:p>
            <a:r>
              <a:rPr lang="en-US" dirty="0" smtClean="0"/>
              <a:t>The background-color property specifies the background color for links:</a:t>
            </a:r>
          </a:p>
          <a:p>
            <a:pPr>
              <a:buNone/>
            </a:pPr>
            <a:endParaRPr lang="en-US" dirty="0" smtClean="0"/>
          </a:p>
          <a:p>
            <a:pPr algn="just">
              <a:buNone/>
            </a:pPr>
            <a:r>
              <a:rPr lang="en-US" b="1" dirty="0" smtClean="0"/>
              <a:t>    Example</a:t>
            </a:r>
          </a:p>
          <a:p>
            <a:r>
              <a:rPr lang="en-US" dirty="0" smtClean="0"/>
              <a:t>a:link {background-color:#B2FF99;}</a:t>
            </a:r>
            <a:br>
              <a:rPr lang="en-US" dirty="0" smtClean="0"/>
            </a:br>
            <a:r>
              <a:rPr lang="en-US" dirty="0" smtClean="0"/>
              <a:t>a:visited {background-color:#FFFF85;}</a:t>
            </a:r>
            <a:br>
              <a:rPr lang="en-US" dirty="0" smtClean="0"/>
            </a:br>
            <a:r>
              <a:rPr lang="en-US" dirty="0" smtClean="0"/>
              <a:t>a:hover {background-color:#FF704D;}</a:t>
            </a:r>
            <a:br>
              <a:rPr lang="en-US" dirty="0" smtClean="0"/>
            </a:br>
            <a:r>
              <a:rPr lang="en-US" dirty="0" smtClean="0"/>
              <a:t>a:active {background-color:#FF704D;} </a:t>
            </a:r>
          </a:p>
          <a:p>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Lists</a:t>
            </a:r>
            <a:endParaRPr lang="en-US" dirty="0"/>
          </a:p>
        </p:txBody>
      </p:sp>
      <p:sp>
        <p:nvSpPr>
          <p:cNvPr id="3" name="Content Placeholder 2"/>
          <p:cNvSpPr>
            <a:spLocks noGrp="1"/>
          </p:cNvSpPr>
          <p:nvPr>
            <p:ph idx="1"/>
          </p:nvPr>
        </p:nvSpPr>
        <p:spPr/>
        <p:txBody>
          <a:bodyPr/>
          <a:lstStyle/>
          <a:p>
            <a:pPr algn="just">
              <a:buNone/>
            </a:pPr>
            <a:r>
              <a:rPr lang="en-US" b="1" dirty="0" smtClean="0"/>
              <a:t>    List</a:t>
            </a:r>
          </a:p>
          <a:p>
            <a:pPr algn="just"/>
            <a:r>
              <a:rPr lang="en-US" dirty="0" smtClean="0"/>
              <a:t>In HTML, there are two types of lists:</a:t>
            </a:r>
          </a:p>
          <a:p>
            <a:pPr algn="just"/>
            <a:r>
              <a:rPr lang="en-US" dirty="0" smtClean="0"/>
              <a:t>unordered lists - the list items are marked with bullets</a:t>
            </a:r>
          </a:p>
          <a:p>
            <a:pPr algn="just"/>
            <a:r>
              <a:rPr lang="en-US" dirty="0" smtClean="0"/>
              <a:t>ordered lists - the list items are marked with numbers or letters</a:t>
            </a:r>
          </a:p>
          <a:p>
            <a:pPr algn="just"/>
            <a:r>
              <a:rPr lang="en-US" dirty="0" smtClean="0"/>
              <a:t>With CSS, lists can be styled further, and images can be used as the list item marker.</a:t>
            </a:r>
          </a:p>
          <a:p>
            <a:pPr algn="just"/>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Different List Item Markers</a:t>
            </a:r>
            <a:endParaRPr lang="en-US" dirty="0"/>
          </a:p>
        </p:txBody>
      </p:sp>
      <p:sp>
        <p:nvSpPr>
          <p:cNvPr id="3" name="Content Placeholder 2"/>
          <p:cNvSpPr>
            <a:spLocks noGrp="1"/>
          </p:cNvSpPr>
          <p:nvPr>
            <p:ph idx="1"/>
          </p:nvPr>
        </p:nvSpPr>
        <p:spPr/>
        <p:txBody>
          <a:bodyPr/>
          <a:lstStyle/>
          <a:p>
            <a:pPr algn="just"/>
            <a:r>
              <a:rPr lang="en-US" dirty="0" smtClean="0"/>
              <a:t>The type of list item marker is specified with the list-style-type property:</a:t>
            </a:r>
          </a:p>
          <a:p>
            <a:pPr>
              <a:buNone/>
            </a:pPr>
            <a:r>
              <a:rPr lang="en-US" b="1" dirty="0" smtClean="0"/>
              <a:t>    Example</a:t>
            </a:r>
          </a:p>
          <a:p>
            <a:r>
              <a:rPr lang="en-US" dirty="0" err="1" smtClean="0"/>
              <a:t>ul.a</a:t>
            </a:r>
            <a:r>
              <a:rPr lang="en-US" dirty="0" smtClean="0"/>
              <a:t> {list-style-type: circle;}</a:t>
            </a:r>
            <a:br>
              <a:rPr lang="en-US" dirty="0" smtClean="0"/>
            </a:br>
            <a:r>
              <a:rPr lang="en-US" dirty="0" err="1" smtClean="0"/>
              <a:t>ul.b</a:t>
            </a:r>
            <a:r>
              <a:rPr lang="en-US" dirty="0" smtClean="0"/>
              <a:t> {list-style-type: square;}</a:t>
            </a:r>
            <a:br>
              <a:rPr lang="en-US" dirty="0" smtClean="0"/>
            </a:br>
            <a:r>
              <a:rPr lang="en-US" dirty="0" smtClean="0"/>
              <a:t/>
            </a:r>
            <a:br>
              <a:rPr lang="en-US" dirty="0" smtClean="0"/>
            </a:br>
            <a:r>
              <a:rPr lang="en-US" dirty="0" err="1" smtClean="0"/>
              <a:t>ol.c</a:t>
            </a:r>
            <a:r>
              <a:rPr lang="en-US" dirty="0" smtClean="0"/>
              <a:t> {list-style-type: upper-roman;}</a:t>
            </a:r>
            <a:br>
              <a:rPr lang="en-US" dirty="0" smtClean="0"/>
            </a:br>
            <a:r>
              <a:rPr lang="en-US" dirty="0" err="1" smtClean="0"/>
              <a:t>ol.d</a:t>
            </a:r>
            <a:r>
              <a:rPr lang="en-US" dirty="0" smtClean="0"/>
              <a:t> {list-style-type: lower-alpha;}</a:t>
            </a:r>
          </a:p>
          <a:p>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An Image as The List Item Marker</a:t>
            </a:r>
            <a:endParaRPr lang="en-US" dirty="0"/>
          </a:p>
        </p:txBody>
      </p:sp>
      <p:sp>
        <p:nvSpPr>
          <p:cNvPr id="3" name="Content Placeholder 2"/>
          <p:cNvSpPr>
            <a:spLocks noGrp="1"/>
          </p:cNvSpPr>
          <p:nvPr>
            <p:ph idx="1"/>
          </p:nvPr>
        </p:nvSpPr>
        <p:spPr/>
        <p:txBody>
          <a:bodyPr/>
          <a:lstStyle/>
          <a:p>
            <a:pPr algn="just"/>
            <a:r>
              <a:rPr lang="en-US" dirty="0" smtClean="0"/>
              <a:t>To specify an image as the list item marker, use the list-style-image property:</a:t>
            </a:r>
          </a:p>
          <a:p>
            <a:pPr>
              <a:buNone/>
            </a:pPr>
            <a:r>
              <a:rPr lang="en-US" b="1" dirty="0" smtClean="0"/>
              <a:t>   Example</a:t>
            </a:r>
          </a:p>
          <a:p>
            <a:r>
              <a:rPr lang="en-US" dirty="0" err="1" smtClean="0"/>
              <a:t>ul</a:t>
            </a:r>
            <a:r>
              <a:rPr lang="en-US" dirty="0" smtClean="0"/>
              <a:t/>
            </a:r>
            <a:br>
              <a:rPr lang="en-US" dirty="0" smtClean="0"/>
            </a:br>
            <a:r>
              <a:rPr lang="en-US" dirty="0" smtClean="0"/>
              <a:t>{</a:t>
            </a:r>
            <a:br>
              <a:rPr lang="en-US" dirty="0" smtClean="0"/>
            </a:br>
            <a:r>
              <a:rPr lang="en-US" dirty="0" smtClean="0"/>
              <a:t>list-style-image: </a:t>
            </a:r>
            <a:r>
              <a:rPr lang="en-US" dirty="0" err="1" smtClean="0"/>
              <a:t>url</a:t>
            </a:r>
            <a:r>
              <a:rPr lang="en-US" dirty="0" smtClean="0"/>
              <a:t>('sqpurple.gif');</a:t>
            </a:r>
            <a:br>
              <a:rPr lang="en-US" dirty="0" smtClean="0"/>
            </a:br>
            <a:r>
              <a:rPr lang="en-US" dirty="0" smtClean="0"/>
              <a:t>}</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 Image as The List Item Marker</a:t>
            </a:r>
            <a:endParaRPr lang="en-US" dirty="0"/>
          </a:p>
        </p:txBody>
      </p:sp>
      <p:sp>
        <p:nvSpPr>
          <p:cNvPr id="3" name="Content Placeholder 2"/>
          <p:cNvSpPr>
            <a:spLocks noGrp="1"/>
          </p:cNvSpPr>
          <p:nvPr>
            <p:ph idx="1"/>
          </p:nvPr>
        </p:nvSpPr>
        <p:spPr/>
        <p:txBody>
          <a:bodyPr/>
          <a:lstStyle/>
          <a:p>
            <a:pPr algn="just"/>
            <a:r>
              <a:rPr lang="en-US" dirty="0" smtClean="0"/>
              <a:t>The example above does not display equally in all browsers. IE and Opera will display the image-marker a little bit higher than Firefox, Chrome, and Safari.</a:t>
            </a:r>
          </a:p>
          <a:p>
            <a:pPr algn="just"/>
            <a:r>
              <a:rPr lang="en-US" dirty="0" smtClean="0"/>
              <a:t>If you want the image-marker to be placed equally in all browsers, a </a:t>
            </a:r>
            <a:r>
              <a:rPr lang="en-US" dirty="0" err="1" smtClean="0"/>
              <a:t>crossbrowser</a:t>
            </a:r>
            <a:r>
              <a:rPr lang="en-US" dirty="0" smtClean="0"/>
              <a:t> solution is explained below.</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smtClean="0"/>
              <a:t>Crossbrowser</a:t>
            </a:r>
            <a:r>
              <a:rPr lang="en-US" b="1" dirty="0" smtClean="0"/>
              <a:t> Solution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following example displays the image-marker equally in all browsers:</a:t>
            </a:r>
          </a:p>
          <a:p>
            <a:pPr>
              <a:buNone/>
            </a:pPr>
            <a:r>
              <a:rPr lang="en-US" b="1" dirty="0" smtClean="0"/>
              <a:t>     Example</a:t>
            </a:r>
          </a:p>
          <a:p>
            <a:r>
              <a:rPr lang="en-US" dirty="0" err="1" smtClean="0"/>
              <a:t>ul</a:t>
            </a:r>
            <a:r>
              <a:rPr lang="en-US" dirty="0" smtClean="0"/>
              <a:t/>
            </a:r>
            <a:br>
              <a:rPr lang="en-US" dirty="0" smtClean="0"/>
            </a:br>
            <a:r>
              <a:rPr lang="en-US" dirty="0" smtClean="0"/>
              <a:t>{</a:t>
            </a:r>
            <a:br>
              <a:rPr lang="en-US" dirty="0" smtClean="0"/>
            </a:br>
            <a:r>
              <a:rPr lang="en-US" dirty="0" smtClean="0"/>
              <a:t>list-style-type: none;</a:t>
            </a:r>
            <a:br>
              <a:rPr lang="en-US" dirty="0" smtClean="0"/>
            </a:br>
            <a:r>
              <a:rPr lang="en-US" dirty="0" smtClean="0"/>
              <a:t>padding: 0px;</a:t>
            </a:r>
            <a:br>
              <a:rPr lang="en-US" dirty="0" smtClean="0"/>
            </a:br>
            <a:r>
              <a:rPr lang="en-US" dirty="0" smtClean="0"/>
              <a:t>margin: 0px;</a:t>
            </a:r>
            <a:br>
              <a:rPr lang="en-US" dirty="0" smtClean="0"/>
            </a:br>
            <a:r>
              <a:rPr lang="en-US" dirty="0" smtClean="0"/>
              <a:t>}</a:t>
            </a:r>
            <a:br>
              <a:rPr lang="en-US" dirty="0" smtClean="0"/>
            </a:br>
            <a:endParaRPr lang="en-US" dirty="0" smtClean="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Crossbrowser</a:t>
            </a:r>
            <a:r>
              <a:rPr lang="en-US" b="1" dirty="0" smtClean="0"/>
              <a:t> Solution</a:t>
            </a:r>
            <a:endParaRPr lang="en-US" dirty="0"/>
          </a:p>
        </p:txBody>
      </p:sp>
      <p:sp>
        <p:nvSpPr>
          <p:cNvPr id="3" name="Content Placeholder 2"/>
          <p:cNvSpPr>
            <a:spLocks noGrp="1"/>
          </p:cNvSpPr>
          <p:nvPr>
            <p:ph idx="1"/>
          </p:nvPr>
        </p:nvSpPr>
        <p:spPr/>
        <p:txBody>
          <a:bodyPr/>
          <a:lstStyle/>
          <a:p>
            <a:pPr>
              <a:buNone/>
            </a:pPr>
            <a:r>
              <a:rPr lang="en-US" dirty="0" smtClean="0"/>
              <a:t>    </a:t>
            </a:r>
            <a:r>
              <a:rPr lang="en-US" dirty="0" err="1" smtClean="0"/>
              <a:t>ul</a:t>
            </a:r>
            <a:r>
              <a:rPr lang="en-US" dirty="0" smtClean="0"/>
              <a:t> </a:t>
            </a:r>
            <a:r>
              <a:rPr lang="en-US" dirty="0" err="1" smtClean="0"/>
              <a:t>li</a:t>
            </a:r>
            <a:r>
              <a:rPr lang="en-US" dirty="0" smtClean="0"/>
              <a:t/>
            </a:r>
            <a:br>
              <a:rPr lang="en-US" dirty="0" smtClean="0"/>
            </a:br>
            <a:r>
              <a:rPr lang="en-US" dirty="0" smtClean="0"/>
              <a:t>{</a:t>
            </a:r>
            <a:br>
              <a:rPr lang="en-US" dirty="0" smtClean="0"/>
            </a:br>
            <a:r>
              <a:rPr lang="en-US" dirty="0" smtClean="0"/>
              <a:t>background-image: </a:t>
            </a:r>
            <a:r>
              <a:rPr lang="en-US" dirty="0" err="1" smtClean="0"/>
              <a:t>url</a:t>
            </a:r>
            <a:r>
              <a:rPr lang="en-US" dirty="0" smtClean="0"/>
              <a:t>(sqpurple.gif);</a:t>
            </a:r>
            <a:br>
              <a:rPr lang="en-US" dirty="0" smtClean="0"/>
            </a:br>
            <a:r>
              <a:rPr lang="en-US" dirty="0" smtClean="0"/>
              <a:t>background-repeat: no-repeat;</a:t>
            </a:r>
            <a:br>
              <a:rPr lang="en-US" dirty="0" smtClean="0"/>
            </a:br>
            <a:r>
              <a:rPr lang="en-US" dirty="0" smtClean="0"/>
              <a:t>background-position: 0px 5px; </a:t>
            </a:r>
            <a:br>
              <a:rPr lang="en-US" dirty="0" smtClean="0"/>
            </a:br>
            <a:r>
              <a:rPr lang="en-US" dirty="0" smtClean="0"/>
              <a:t>padding-left: 14px; </a:t>
            </a:r>
            <a:br>
              <a:rPr lang="en-US" dirty="0" smtClean="0"/>
            </a:br>
            <a:r>
              <a:rPr lang="en-US" dirty="0" smtClean="0"/>
              <a:t>}</a:t>
            </a:r>
          </a:p>
          <a:p>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explained</a:t>
            </a:r>
            <a:endParaRPr lang="en-US" dirty="0"/>
          </a:p>
        </p:txBody>
      </p:sp>
      <p:sp>
        <p:nvSpPr>
          <p:cNvPr id="3" name="Content Placeholder 2"/>
          <p:cNvSpPr>
            <a:spLocks noGrp="1"/>
          </p:cNvSpPr>
          <p:nvPr>
            <p:ph idx="1"/>
          </p:nvPr>
        </p:nvSpPr>
        <p:spPr>
          <a:xfrm>
            <a:off x="457200" y="1371600"/>
            <a:ext cx="8229600" cy="4525963"/>
          </a:xfrm>
        </p:spPr>
        <p:txBody>
          <a:bodyPr>
            <a:normAutofit fontScale="85000" lnSpcReduction="20000"/>
          </a:bodyPr>
          <a:lstStyle/>
          <a:p>
            <a:pPr algn="just">
              <a:buNone/>
            </a:pPr>
            <a:endParaRPr lang="en-US" dirty="0" smtClean="0"/>
          </a:p>
          <a:p>
            <a:pPr algn="just"/>
            <a:r>
              <a:rPr lang="en-US" dirty="0" smtClean="0"/>
              <a:t>For </a:t>
            </a:r>
            <a:r>
              <a:rPr lang="en-US" dirty="0" err="1" smtClean="0"/>
              <a:t>ul</a:t>
            </a:r>
            <a:r>
              <a:rPr lang="en-US" dirty="0" smtClean="0"/>
              <a:t>: </a:t>
            </a:r>
          </a:p>
          <a:p>
            <a:pPr lvl="1" algn="just"/>
            <a:r>
              <a:rPr lang="en-US" dirty="0" smtClean="0"/>
              <a:t>Set the list-style-type to none to remove the list item marker</a:t>
            </a:r>
          </a:p>
          <a:p>
            <a:pPr lvl="1" algn="just"/>
            <a:r>
              <a:rPr lang="en-US" dirty="0" smtClean="0"/>
              <a:t>Set both padding and margin to 0px (for cross-browser compatibility)</a:t>
            </a:r>
          </a:p>
          <a:p>
            <a:pPr algn="just"/>
            <a:r>
              <a:rPr lang="en-US" dirty="0" smtClean="0"/>
              <a:t>For all </a:t>
            </a:r>
            <a:r>
              <a:rPr lang="en-US" dirty="0" err="1" smtClean="0"/>
              <a:t>li</a:t>
            </a:r>
            <a:r>
              <a:rPr lang="en-US" dirty="0" smtClean="0"/>
              <a:t> in </a:t>
            </a:r>
            <a:r>
              <a:rPr lang="en-US" dirty="0" err="1" smtClean="0"/>
              <a:t>ul</a:t>
            </a:r>
            <a:r>
              <a:rPr lang="en-US" dirty="0" smtClean="0"/>
              <a:t>: </a:t>
            </a:r>
          </a:p>
          <a:p>
            <a:pPr lvl="1" algn="just"/>
            <a:r>
              <a:rPr lang="en-US" dirty="0" smtClean="0"/>
              <a:t>Set the URL of the image, and show it only once (no-repeat)</a:t>
            </a:r>
          </a:p>
          <a:p>
            <a:pPr lvl="1" algn="just"/>
            <a:r>
              <a:rPr lang="en-US" dirty="0" smtClean="0"/>
              <a:t>Position the image where you want it (left 0px and down 5px)</a:t>
            </a:r>
          </a:p>
          <a:p>
            <a:pPr lvl="1" algn="just"/>
            <a:r>
              <a:rPr lang="en-US" dirty="0" smtClean="0"/>
              <a:t>Position the text in the list with padding-left</a:t>
            </a:r>
          </a:p>
          <a:p>
            <a:pPr algn="just"/>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List - Shorthand property</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It is also possible to specify all the list properties in one, single property. This is called a shorthand property.</a:t>
            </a:r>
          </a:p>
          <a:p>
            <a:pPr algn="just"/>
            <a:r>
              <a:rPr lang="en-US" dirty="0" smtClean="0"/>
              <a:t>The shorthand property used for lists, is the list-style property:</a:t>
            </a:r>
          </a:p>
          <a:p>
            <a:pPr algn="just">
              <a:buNone/>
            </a:pPr>
            <a:r>
              <a:rPr lang="en-US" b="1" dirty="0" smtClean="0"/>
              <a:t>    Example</a:t>
            </a:r>
          </a:p>
          <a:p>
            <a:r>
              <a:rPr lang="en-US" dirty="0" err="1" smtClean="0"/>
              <a:t>ul</a:t>
            </a:r>
            <a:r>
              <a:rPr lang="en-US" dirty="0" smtClean="0"/>
              <a:t/>
            </a:r>
            <a:br>
              <a:rPr lang="en-US" dirty="0" smtClean="0"/>
            </a:br>
            <a:r>
              <a:rPr lang="en-US" dirty="0" smtClean="0"/>
              <a:t>{</a:t>
            </a:r>
            <a:br>
              <a:rPr lang="en-US" dirty="0" smtClean="0"/>
            </a:br>
            <a:r>
              <a:rPr lang="en-US" dirty="0" smtClean="0"/>
              <a:t>list-style: square </a:t>
            </a:r>
            <a:r>
              <a:rPr lang="en-US" dirty="0" err="1" smtClean="0"/>
              <a:t>url</a:t>
            </a:r>
            <a:r>
              <a:rPr lang="en-US" dirty="0" smtClean="0"/>
              <a:t>("sqpurple.gif");</a:t>
            </a:r>
            <a:br>
              <a:rPr lang="en-US" dirty="0" smtClean="0"/>
            </a:br>
            <a:r>
              <a:rPr lang="en-US" dirty="0" smtClean="0"/>
              <a:t>}</a:t>
            </a:r>
          </a:p>
          <a:p>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List - Shorthand property</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When using the shorthand property, the order of the values are:</a:t>
            </a:r>
          </a:p>
          <a:p>
            <a:pPr algn="just"/>
            <a:r>
              <a:rPr lang="en-US" dirty="0" smtClean="0"/>
              <a:t>list-style-type</a:t>
            </a:r>
          </a:p>
          <a:p>
            <a:pPr algn="just"/>
            <a:r>
              <a:rPr lang="en-US" dirty="0" smtClean="0"/>
              <a:t>list-style-position (for a description, see the CSS properties table below)</a:t>
            </a:r>
          </a:p>
          <a:p>
            <a:pPr algn="just"/>
            <a:r>
              <a:rPr lang="en-US" dirty="0" smtClean="0"/>
              <a:t>list-style-image</a:t>
            </a:r>
          </a:p>
          <a:p>
            <a:pPr algn="just"/>
            <a:r>
              <a:rPr lang="en-US" dirty="0" smtClean="0"/>
              <a:t>It does not matter if one of the values above are missing, as long as the rest are in the specified order.</a:t>
            </a:r>
          </a:p>
          <a:p>
            <a:pPr algn="just"/>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Tables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Table Borders</a:t>
            </a:r>
          </a:p>
          <a:p>
            <a:pPr algn="just"/>
            <a:r>
              <a:rPr lang="en-US" dirty="0" smtClean="0"/>
              <a:t>To specify table borders in CSS, use the border property.</a:t>
            </a:r>
          </a:p>
          <a:p>
            <a:pPr algn="just"/>
            <a:r>
              <a:rPr lang="en-US" dirty="0" smtClean="0"/>
              <a:t>The example below specifies a black border for table, </a:t>
            </a:r>
            <a:r>
              <a:rPr lang="en-US" dirty="0" err="1" smtClean="0"/>
              <a:t>th</a:t>
            </a:r>
            <a:r>
              <a:rPr lang="en-US" dirty="0" smtClean="0"/>
              <a:t>, and td elements:</a:t>
            </a:r>
          </a:p>
          <a:p>
            <a:pPr algn="just">
              <a:buNone/>
            </a:pPr>
            <a:r>
              <a:rPr lang="en-US" b="1" dirty="0" smtClean="0"/>
              <a:t>    Example</a:t>
            </a:r>
          </a:p>
          <a:p>
            <a:r>
              <a:rPr lang="en-US" dirty="0" smtClean="0"/>
              <a:t>table, </a:t>
            </a:r>
            <a:r>
              <a:rPr lang="en-US" dirty="0" err="1" smtClean="0"/>
              <a:t>th</a:t>
            </a:r>
            <a:r>
              <a:rPr lang="en-US" dirty="0" smtClean="0"/>
              <a:t>, td</a:t>
            </a:r>
            <a:br>
              <a:rPr lang="en-US" dirty="0" smtClean="0"/>
            </a:br>
            <a:r>
              <a:rPr lang="en-US" dirty="0" smtClean="0"/>
              <a:t>{</a:t>
            </a:r>
            <a:br>
              <a:rPr lang="en-US" dirty="0" smtClean="0"/>
            </a:br>
            <a:r>
              <a:rPr lang="en-US" dirty="0" smtClean="0"/>
              <a:t>border: 1px solid black;</a:t>
            </a:r>
            <a:br>
              <a:rPr lang="en-US" dirty="0" smtClean="0"/>
            </a:br>
            <a:r>
              <a:rPr lang="en-US" dirty="0" smtClean="0"/>
              <a:t>}</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Table Borders</a:t>
            </a:r>
            <a:endParaRPr lang="en-US" b="1" dirty="0"/>
          </a:p>
        </p:txBody>
      </p:sp>
      <p:sp>
        <p:nvSpPr>
          <p:cNvPr id="3" name="Content Placeholder 2"/>
          <p:cNvSpPr>
            <a:spLocks noGrp="1"/>
          </p:cNvSpPr>
          <p:nvPr>
            <p:ph idx="1"/>
          </p:nvPr>
        </p:nvSpPr>
        <p:spPr/>
        <p:txBody>
          <a:bodyPr/>
          <a:lstStyle/>
          <a:p>
            <a:pPr algn="just"/>
            <a:r>
              <a:rPr lang="en-US" dirty="0" smtClean="0"/>
              <a:t>The table in the above example above has double borders. This is because both the table and the </a:t>
            </a:r>
            <a:r>
              <a:rPr lang="en-US" dirty="0" err="1" smtClean="0"/>
              <a:t>th</a:t>
            </a:r>
            <a:r>
              <a:rPr lang="en-US" dirty="0" smtClean="0"/>
              <a:t>/td elements have separate borders.</a:t>
            </a:r>
          </a:p>
          <a:p>
            <a:pPr algn="just"/>
            <a:r>
              <a:rPr lang="en-US" dirty="0" smtClean="0"/>
              <a:t>To display a single border for the table, use the border-collapse property.</a:t>
            </a:r>
          </a:p>
          <a:p>
            <a:pPr algn="just"/>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Collapse Borders</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smtClean="0"/>
              <a:t>The border-collapse property sets whether the table borders are collapsed into a single border or separated:</a:t>
            </a:r>
          </a:p>
          <a:p>
            <a:pPr>
              <a:buNone/>
            </a:pPr>
            <a:r>
              <a:rPr lang="en-US" b="1" dirty="0" smtClean="0"/>
              <a:t>    Example</a:t>
            </a:r>
          </a:p>
          <a:p>
            <a:r>
              <a:rPr lang="en-US" dirty="0" smtClean="0"/>
              <a:t>table</a:t>
            </a:r>
            <a:br>
              <a:rPr lang="en-US" dirty="0" smtClean="0"/>
            </a:br>
            <a:r>
              <a:rPr lang="en-US" dirty="0" smtClean="0"/>
              <a:t>{</a:t>
            </a:r>
            <a:br>
              <a:rPr lang="en-US" dirty="0" smtClean="0"/>
            </a:br>
            <a:r>
              <a:rPr lang="en-US" dirty="0" smtClean="0"/>
              <a:t>border-</a:t>
            </a:r>
            <a:r>
              <a:rPr lang="en-US" dirty="0" err="1" smtClean="0"/>
              <a:t>collapse:collapse</a:t>
            </a:r>
            <a:r>
              <a:rPr lang="en-US" dirty="0" smtClean="0"/>
              <a:t>;</a:t>
            </a:r>
            <a:br>
              <a:rPr lang="en-US" dirty="0" smtClean="0"/>
            </a:br>
            <a:r>
              <a:rPr lang="en-US" dirty="0" smtClean="0"/>
              <a:t>}</a:t>
            </a:r>
            <a:br>
              <a:rPr lang="en-US" dirty="0" smtClean="0"/>
            </a:br>
            <a:r>
              <a:rPr lang="en-US" dirty="0" err="1" smtClean="0"/>
              <a:t>table,th</a:t>
            </a:r>
            <a:r>
              <a:rPr lang="en-US" dirty="0" smtClean="0"/>
              <a:t>, td</a:t>
            </a:r>
            <a:br>
              <a:rPr lang="en-US" dirty="0" smtClean="0"/>
            </a:br>
            <a:r>
              <a:rPr lang="en-US" dirty="0" smtClean="0"/>
              <a:t>{</a:t>
            </a:r>
            <a:br>
              <a:rPr lang="en-US" dirty="0" smtClean="0"/>
            </a:br>
            <a:r>
              <a:rPr lang="en-US" dirty="0" smtClean="0"/>
              <a:t>border: 1px solid black;</a:t>
            </a:r>
            <a:br>
              <a:rPr lang="en-US" dirty="0" smtClean="0"/>
            </a:br>
            <a:r>
              <a:rPr lang="en-US" dirty="0" smtClean="0"/>
              <a:t>}</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Table Width and Height</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smtClean="0"/>
              <a:t>Width and height of a table is defined by the width and height properties.</a:t>
            </a:r>
          </a:p>
          <a:p>
            <a:pPr algn="just"/>
            <a:r>
              <a:rPr lang="en-US" dirty="0" smtClean="0"/>
              <a:t>The example below sets the width of the table to 100%, and the height of the </a:t>
            </a:r>
            <a:r>
              <a:rPr lang="en-US" dirty="0" err="1" smtClean="0"/>
              <a:t>th</a:t>
            </a:r>
            <a:r>
              <a:rPr lang="en-US" dirty="0" smtClean="0"/>
              <a:t> elements to 50px:</a:t>
            </a:r>
          </a:p>
          <a:p>
            <a:pPr>
              <a:buNone/>
            </a:pPr>
            <a:r>
              <a:rPr lang="en-US" b="1" dirty="0" smtClean="0"/>
              <a:t>     Example</a:t>
            </a:r>
          </a:p>
          <a:p>
            <a:r>
              <a:rPr lang="en-US" dirty="0" smtClean="0"/>
              <a:t>table </a:t>
            </a:r>
            <a:br>
              <a:rPr lang="en-US" dirty="0" smtClean="0"/>
            </a:br>
            <a:r>
              <a:rPr lang="en-US" dirty="0" smtClean="0"/>
              <a:t>{</a:t>
            </a:r>
            <a:br>
              <a:rPr lang="en-US" dirty="0" smtClean="0"/>
            </a:br>
            <a:r>
              <a:rPr lang="en-US" dirty="0" smtClean="0"/>
              <a:t>width:100%;</a:t>
            </a:r>
            <a:br>
              <a:rPr lang="en-US" dirty="0" smtClean="0"/>
            </a:br>
            <a:r>
              <a:rPr lang="en-US" dirty="0" smtClean="0"/>
              <a:t>}</a:t>
            </a:r>
            <a:br>
              <a:rPr lang="en-US" dirty="0" smtClean="0"/>
            </a:br>
            <a:r>
              <a:rPr lang="en-US" dirty="0" err="1" smtClean="0"/>
              <a:t>th</a:t>
            </a:r>
            <a:r>
              <a:rPr lang="en-US" dirty="0" smtClean="0"/>
              <a:t/>
            </a:r>
            <a:br>
              <a:rPr lang="en-US" dirty="0" smtClean="0"/>
            </a:br>
            <a:r>
              <a:rPr lang="en-US" dirty="0" smtClean="0"/>
              <a:t>{</a:t>
            </a:r>
            <a:br>
              <a:rPr lang="en-US" dirty="0" smtClean="0"/>
            </a:br>
            <a:r>
              <a:rPr lang="en-US" dirty="0" smtClean="0"/>
              <a:t>height:50px;</a:t>
            </a:r>
            <a:br>
              <a:rPr lang="en-US" dirty="0" smtClean="0"/>
            </a:br>
            <a:r>
              <a:rPr lang="en-US" dirty="0" smtClean="0"/>
              <a:t>} </a:t>
            </a:r>
          </a:p>
          <a:p>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Table Text Alignment</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The text in a table is aligned with the text-align and vertical-align properties.</a:t>
            </a:r>
          </a:p>
          <a:p>
            <a:pPr algn="just"/>
            <a:r>
              <a:rPr lang="en-US" dirty="0" smtClean="0"/>
              <a:t>The text-align property sets the horizontal alignment, like left, right, or center:</a:t>
            </a:r>
          </a:p>
          <a:p>
            <a:pPr>
              <a:buNone/>
            </a:pPr>
            <a:r>
              <a:rPr lang="en-US" b="1" dirty="0" smtClean="0"/>
              <a:t>    Example</a:t>
            </a:r>
          </a:p>
          <a:p>
            <a:r>
              <a:rPr lang="en-US" dirty="0" smtClean="0"/>
              <a:t>td</a:t>
            </a:r>
            <a:br>
              <a:rPr lang="en-US" dirty="0" smtClean="0"/>
            </a:br>
            <a:r>
              <a:rPr lang="en-US" dirty="0" smtClean="0"/>
              <a:t>{</a:t>
            </a:r>
            <a:br>
              <a:rPr lang="en-US" dirty="0" smtClean="0"/>
            </a:br>
            <a:r>
              <a:rPr lang="en-US" dirty="0" smtClean="0"/>
              <a:t>text-</a:t>
            </a:r>
            <a:r>
              <a:rPr lang="en-US" dirty="0" err="1" smtClean="0"/>
              <a:t>align:right</a:t>
            </a:r>
            <a:r>
              <a:rPr lang="en-US" dirty="0" smtClean="0"/>
              <a:t>;</a:t>
            </a:r>
            <a:br>
              <a:rPr lang="en-US" dirty="0" smtClean="0"/>
            </a:br>
            <a:r>
              <a:rPr lang="en-US" dirty="0" smtClean="0"/>
              <a:t>}</a:t>
            </a:r>
          </a:p>
          <a:p>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Table Text Alignment</a:t>
            </a:r>
            <a:endParaRPr lang="en-US" dirty="0"/>
          </a:p>
        </p:txBody>
      </p:sp>
      <p:sp>
        <p:nvSpPr>
          <p:cNvPr id="3" name="Content Placeholder 2"/>
          <p:cNvSpPr>
            <a:spLocks noGrp="1"/>
          </p:cNvSpPr>
          <p:nvPr>
            <p:ph idx="1"/>
          </p:nvPr>
        </p:nvSpPr>
        <p:spPr/>
        <p:txBody>
          <a:bodyPr/>
          <a:lstStyle/>
          <a:p>
            <a:pPr algn="just"/>
            <a:r>
              <a:rPr lang="en-US" dirty="0" smtClean="0"/>
              <a:t>The vertical-align property sets the vertical alignment, like top, bottom, or middle:</a:t>
            </a:r>
          </a:p>
          <a:p>
            <a:pPr>
              <a:buNone/>
            </a:pPr>
            <a:r>
              <a:rPr lang="en-US" b="1" dirty="0" smtClean="0"/>
              <a:t>   Example</a:t>
            </a:r>
          </a:p>
          <a:p>
            <a:r>
              <a:rPr lang="en-US" dirty="0" smtClean="0"/>
              <a:t>td</a:t>
            </a:r>
            <a:br>
              <a:rPr lang="en-US" dirty="0" smtClean="0"/>
            </a:br>
            <a:r>
              <a:rPr lang="en-US" dirty="0" smtClean="0"/>
              <a:t>{</a:t>
            </a:r>
            <a:br>
              <a:rPr lang="en-US" dirty="0" smtClean="0"/>
            </a:br>
            <a:r>
              <a:rPr lang="en-US" dirty="0" smtClean="0"/>
              <a:t>height:50px;</a:t>
            </a:r>
            <a:br>
              <a:rPr lang="en-US" dirty="0" smtClean="0"/>
            </a:br>
            <a:r>
              <a:rPr lang="en-US" dirty="0" smtClean="0"/>
              <a:t>vertical-</a:t>
            </a:r>
            <a:r>
              <a:rPr lang="en-US" dirty="0" err="1" smtClean="0"/>
              <a:t>align:bottom</a:t>
            </a:r>
            <a:r>
              <a:rPr lang="en-US" dirty="0" smtClean="0"/>
              <a:t>;</a:t>
            </a:r>
            <a:br>
              <a:rPr lang="en-US" dirty="0" smtClean="0"/>
            </a:br>
            <a:r>
              <a:rPr lang="en-US" dirty="0" smtClean="0"/>
              <a:t>}</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Table Padding</a:t>
            </a:r>
            <a:endParaRPr lang="en-US" dirty="0"/>
          </a:p>
        </p:txBody>
      </p:sp>
      <p:sp>
        <p:nvSpPr>
          <p:cNvPr id="3" name="Content Placeholder 2"/>
          <p:cNvSpPr>
            <a:spLocks noGrp="1"/>
          </p:cNvSpPr>
          <p:nvPr>
            <p:ph idx="1"/>
          </p:nvPr>
        </p:nvSpPr>
        <p:spPr/>
        <p:txBody>
          <a:bodyPr/>
          <a:lstStyle/>
          <a:p>
            <a:pPr algn="just"/>
            <a:r>
              <a:rPr lang="en-US" dirty="0" smtClean="0"/>
              <a:t>To control the space between the border and content in a table, use the padding property on td and </a:t>
            </a:r>
            <a:r>
              <a:rPr lang="en-US" dirty="0" err="1" smtClean="0"/>
              <a:t>th</a:t>
            </a:r>
            <a:r>
              <a:rPr lang="en-US" dirty="0" smtClean="0"/>
              <a:t> elements:</a:t>
            </a:r>
          </a:p>
          <a:p>
            <a:pPr>
              <a:buNone/>
            </a:pPr>
            <a:r>
              <a:rPr lang="en-US" b="1" dirty="0" smtClean="0"/>
              <a:t>   Example</a:t>
            </a:r>
          </a:p>
          <a:p>
            <a:r>
              <a:rPr lang="en-US" dirty="0" smtClean="0"/>
              <a:t>td</a:t>
            </a:r>
            <a:br>
              <a:rPr lang="en-US" dirty="0" smtClean="0"/>
            </a:br>
            <a:r>
              <a:rPr lang="en-US" dirty="0" smtClean="0"/>
              <a:t>{</a:t>
            </a:r>
            <a:br>
              <a:rPr lang="en-US" dirty="0" smtClean="0"/>
            </a:br>
            <a:r>
              <a:rPr lang="en-US" dirty="0" smtClean="0"/>
              <a:t>padding:15px;</a:t>
            </a:r>
            <a:br>
              <a:rPr lang="en-US" dirty="0" smtClean="0"/>
            </a:br>
            <a:r>
              <a:rPr lang="en-US" dirty="0" smtClean="0"/>
              <a:t>}</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Table Color</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smtClean="0"/>
              <a:t>The example below specifies the color of the borders, and the text and background color of </a:t>
            </a:r>
            <a:r>
              <a:rPr lang="en-US" dirty="0" err="1" smtClean="0"/>
              <a:t>th</a:t>
            </a:r>
            <a:r>
              <a:rPr lang="en-US" dirty="0" smtClean="0"/>
              <a:t> elements:</a:t>
            </a:r>
          </a:p>
          <a:p>
            <a:pPr>
              <a:buNone/>
            </a:pPr>
            <a:r>
              <a:rPr lang="en-US" b="1" dirty="0" smtClean="0"/>
              <a:t>    Example</a:t>
            </a:r>
          </a:p>
          <a:p>
            <a:r>
              <a:rPr lang="en-US" dirty="0" smtClean="0"/>
              <a:t>table, td, </a:t>
            </a:r>
            <a:r>
              <a:rPr lang="en-US" dirty="0" err="1" smtClean="0"/>
              <a:t>th</a:t>
            </a:r>
            <a:r>
              <a:rPr lang="en-US" dirty="0" smtClean="0"/>
              <a:t/>
            </a:r>
            <a:br>
              <a:rPr lang="en-US" dirty="0" smtClean="0"/>
            </a:br>
            <a:r>
              <a:rPr lang="en-US" dirty="0" smtClean="0"/>
              <a:t>{</a:t>
            </a:r>
            <a:br>
              <a:rPr lang="en-US" dirty="0" smtClean="0"/>
            </a:br>
            <a:r>
              <a:rPr lang="en-US" dirty="0" smtClean="0"/>
              <a:t>border:1px solid green;</a:t>
            </a:r>
            <a:br>
              <a:rPr lang="en-US" dirty="0" smtClean="0"/>
            </a:br>
            <a:r>
              <a:rPr lang="en-US" dirty="0" smtClean="0"/>
              <a:t>}</a:t>
            </a:r>
            <a:br>
              <a:rPr lang="en-US" dirty="0" smtClean="0"/>
            </a:br>
            <a:r>
              <a:rPr lang="en-US" dirty="0" err="1" smtClean="0"/>
              <a:t>th</a:t>
            </a:r>
            <a:r>
              <a:rPr lang="en-US" dirty="0" smtClean="0"/>
              <a:t/>
            </a:r>
            <a:br>
              <a:rPr lang="en-US" dirty="0" smtClean="0"/>
            </a:br>
            <a:r>
              <a:rPr lang="en-US" dirty="0" smtClean="0"/>
              <a:t>{</a:t>
            </a:r>
            <a:br>
              <a:rPr lang="en-US" dirty="0" smtClean="0"/>
            </a:br>
            <a:r>
              <a:rPr lang="en-US" dirty="0" smtClean="0"/>
              <a:t>background-</a:t>
            </a:r>
            <a:r>
              <a:rPr lang="en-US" dirty="0" err="1" smtClean="0"/>
              <a:t>color:green</a:t>
            </a:r>
            <a:r>
              <a:rPr lang="en-US" dirty="0" smtClean="0"/>
              <a:t>;</a:t>
            </a:r>
            <a:br>
              <a:rPr lang="en-US" dirty="0" smtClean="0"/>
            </a:br>
            <a:r>
              <a:rPr lang="en-US" dirty="0" err="1" smtClean="0"/>
              <a:t>color:white</a:t>
            </a:r>
            <a:r>
              <a:rPr lang="en-US" dirty="0" smtClean="0"/>
              <a:t>;</a:t>
            </a:r>
            <a:br>
              <a:rPr lang="en-US" dirty="0" smtClean="0"/>
            </a:br>
            <a:r>
              <a:rPr lang="en-US" dirty="0" smtClean="0"/>
              <a:t>}</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Box Model</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All HTML elements can be considered as boxes. In CSS, the term "box model" is used when talking about design and layout.</a:t>
            </a:r>
          </a:p>
          <a:p>
            <a:pPr algn="just"/>
            <a:r>
              <a:rPr lang="en-US" dirty="0" smtClean="0"/>
              <a:t>The CSS box model is essentially a box that wraps around HTML elements, and it consists of: margins, borders, padding, and the actual content.</a:t>
            </a:r>
          </a:p>
          <a:p>
            <a:pPr algn="just"/>
            <a:r>
              <a:rPr lang="en-US" dirty="0" smtClean="0"/>
              <a:t>The box model allows us to place a border around elements and space elements in relation to other elements.</a:t>
            </a:r>
          </a:p>
          <a:p>
            <a:pPr algn="just"/>
            <a:endParaRPr 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CSS Box Model</a:t>
            </a:r>
            <a:endParaRPr lang="en-US" dirty="0"/>
          </a:p>
        </p:txBody>
      </p:sp>
      <p:pic>
        <p:nvPicPr>
          <p:cNvPr id="4" name="Content Placeholder 3" descr="box-model.gif"/>
          <p:cNvPicPr>
            <a:picLocks noGrp="1" noChangeAspect="1"/>
          </p:cNvPicPr>
          <p:nvPr>
            <p:ph idx="1"/>
          </p:nvPr>
        </p:nvPicPr>
        <p:blipFill>
          <a:blip r:embed="rId2" cstate="print"/>
          <a:stretch>
            <a:fillRect/>
          </a:stretch>
        </p:blipFill>
        <p:spPr>
          <a:xfrm>
            <a:off x="1295400" y="1828800"/>
            <a:ext cx="6608461" cy="3563144"/>
          </a:xfr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CSS Box Model</a:t>
            </a:r>
            <a:endParaRPr lang="en-US" dirty="0"/>
          </a:p>
        </p:txBody>
      </p:sp>
      <p:sp>
        <p:nvSpPr>
          <p:cNvPr id="3" name="Content Placeholder 2"/>
          <p:cNvSpPr>
            <a:spLocks noGrp="1"/>
          </p:cNvSpPr>
          <p:nvPr>
            <p:ph idx="1"/>
          </p:nvPr>
        </p:nvSpPr>
        <p:spPr/>
        <p:txBody>
          <a:bodyPr>
            <a:noAutofit/>
          </a:bodyPr>
          <a:lstStyle/>
          <a:p>
            <a:pPr algn="just"/>
            <a:r>
              <a:rPr lang="en-US" sz="2400" dirty="0" smtClean="0"/>
              <a:t>Explanation of the different parts:</a:t>
            </a:r>
          </a:p>
          <a:p>
            <a:pPr algn="just"/>
            <a:r>
              <a:rPr lang="en-US" sz="2400" b="1" dirty="0" smtClean="0"/>
              <a:t>Margin</a:t>
            </a:r>
            <a:r>
              <a:rPr lang="en-US" sz="2400" dirty="0" smtClean="0"/>
              <a:t> - Clears an area around the border. The margin does not have a background color, it is completely transparent</a:t>
            </a:r>
          </a:p>
          <a:p>
            <a:pPr algn="just"/>
            <a:r>
              <a:rPr lang="en-US" sz="2400" b="1" dirty="0" smtClean="0"/>
              <a:t>Border</a:t>
            </a:r>
            <a:r>
              <a:rPr lang="en-US" sz="2400" dirty="0" smtClean="0"/>
              <a:t> - A border that goes around the padding and content. The border is affected by the background color of the box</a:t>
            </a:r>
          </a:p>
          <a:p>
            <a:pPr algn="just"/>
            <a:r>
              <a:rPr lang="en-US" sz="2400" b="1" dirty="0" smtClean="0"/>
              <a:t>Padding</a:t>
            </a:r>
            <a:r>
              <a:rPr lang="en-US" sz="2400" dirty="0" smtClean="0"/>
              <a:t> - Clears an area around the content. The padding is affected by the background color of the box</a:t>
            </a:r>
          </a:p>
          <a:p>
            <a:pPr algn="just"/>
            <a:r>
              <a:rPr lang="en-US" sz="2400" b="1" dirty="0" smtClean="0"/>
              <a:t>Content</a:t>
            </a:r>
            <a:r>
              <a:rPr lang="en-US" sz="2400" dirty="0" smtClean="0"/>
              <a:t> - The content of the box, where text and images appear</a:t>
            </a:r>
          </a:p>
          <a:p>
            <a:pPr algn="just"/>
            <a:r>
              <a:rPr lang="en-US" sz="2400" dirty="0" smtClean="0"/>
              <a:t>In order to set the width and height of an element correctly in all browsers, you need to know how the box model works.</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Width and Height of an Element</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smtClean="0"/>
              <a:t>Important:</a:t>
            </a:r>
            <a:r>
              <a:rPr lang="en-US" dirty="0" smtClean="0"/>
              <a:t> When you set the width and height properties of an element with CSS, you just set the width and height of the </a:t>
            </a:r>
            <a:r>
              <a:rPr lang="en-US" b="1" dirty="0" smtClean="0"/>
              <a:t>content area</a:t>
            </a:r>
            <a:r>
              <a:rPr lang="en-US" dirty="0" smtClean="0"/>
              <a:t>. To calculate the full size of an element, you must also add the padding, borders and margins.</a:t>
            </a:r>
          </a:p>
          <a:p>
            <a:pPr algn="just"/>
            <a:r>
              <a:rPr lang="en-US" dirty="0" smtClean="0"/>
              <a:t>The total width of the element in the example below is 300px:</a:t>
            </a:r>
          </a:p>
          <a:p>
            <a:r>
              <a:rPr lang="en-US" dirty="0" smtClean="0"/>
              <a:t>width:250px;</a:t>
            </a:r>
            <a:br>
              <a:rPr lang="en-US" dirty="0" smtClean="0"/>
            </a:br>
            <a:r>
              <a:rPr lang="en-US" dirty="0" smtClean="0"/>
              <a:t>padding:10px;</a:t>
            </a:r>
            <a:br>
              <a:rPr lang="en-US" dirty="0" smtClean="0"/>
            </a:br>
            <a:r>
              <a:rPr lang="en-US" dirty="0" smtClean="0"/>
              <a:t>border:5px solid gray;</a:t>
            </a:r>
            <a:br>
              <a:rPr lang="en-US" dirty="0" smtClean="0"/>
            </a:br>
            <a:r>
              <a:rPr lang="en-US" dirty="0" smtClean="0"/>
              <a:t>margin:10px; </a:t>
            </a:r>
          </a:p>
          <a:p>
            <a:endParaRPr 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Width and Height of an Element</a:t>
            </a:r>
            <a:endParaRPr lang="en-US" dirty="0"/>
          </a:p>
        </p:txBody>
      </p:sp>
      <p:sp>
        <p:nvSpPr>
          <p:cNvPr id="3" name="Content Placeholder 2"/>
          <p:cNvSpPr>
            <a:spLocks noGrp="1"/>
          </p:cNvSpPr>
          <p:nvPr>
            <p:ph idx="1"/>
          </p:nvPr>
        </p:nvSpPr>
        <p:spPr/>
        <p:txBody>
          <a:bodyPr/>
          <a:lstStyle/>
          <a:p>
            <a:r>
              <a:rPr lang="en-US" dirty="0" smtClean="0"/>
              <a:t>Let's do the math:</a:t>
            </a:r>
            <a:br>
              <a:rPr lang="en-US" dirty="0" smtClean="0"/>
            </a:br>
            <a:r>
              <a:rPr lang="en-US" dirty="0" smtClean="0"/>
              <a:t>250px (width)</a:t>
            </a:r>
            <a:br>
              <a:rPr lang="en-US" dirty="0" smtClean="0"/>
            </a:br>
            <a:r>
              <a:rPr lang="en-US" dirty="0" smtClean="0"/>
              <a:t>+ 20px (left + right padding)</a:t>
            </a:r>
            <a:br>
              <a:rPr lang="en-US" dirty="0" smtClean="0"/>
            </a:br>
            <a:r>
              <a:rPr lang="en-US" dirty="0" smtClean="0"/>
              <a:t>+ 10px (left + right border)</a:t>
            </a:r>
            <a:br>
              <a:rPr lang="en-US" dirty="0" smtClean="0"/>
            </a:br>
            <a:r>
              <a:rPr lang="en-US" dirty="0" smtClean="0"/>
              <a:t>+ 20px (left + right margin)</a:t>
            </a:r>
            <a:br>
              <a:rPr lang="en-US" dirty="0" smtClean="0"/>
            </a:br>
            <a:r>
              <a:rPr lang="en-US" dirty="0" smtClean="0"/>
              <a:t>= 300px</a:t>
            </a:r>
            <a:endParaRPr 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Width and Height of an Element</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The total width of an element should be calculated like this:</a:t>
            </a:r>
          </a:p>
          <a:p>
            <a:pPr algn="just"/>
            <a:r>
              <a:rPr lang="en-US" dirty="0" smtClean="0"/>
              <a:t>Total element width = width + left padding + right padding + left border + right border + left margin + right margin</a:t>
            </a:r>
          </a:p>
          <a:p>
            <a:pPr algn="just"/>
            <a:r>
              <a:rPr lang="en-US" dirty="0" smtClean="0"/>
              <a:t>The total height of an element should be calculated like this:</a:t>
            </a:r>
          </a:p>
          <a:p>
            <a:pPr algn="just"/>
            <a:r>
              <a:rPr lang="en-US" dirty="0" smtClean="0"/>
              <a:t>Total element height = height + top padding + bottom padding + top border + bottom border + top margin + bottom margin</a:t>
            </a:r>
          </a:p>
          <a:p>
            <a:pPr algn="just"/>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Browsers Compatibility Issue</a:t>
            </a:r>
            <a:endParaRPr lang="en-US" dirty="0"/>
          </a:p>
        </p:txBody>
      </p:sp>
      <p:sp>
        <p:nvSpPr>
          <p:cNvPr id="3" name="Content Placeholder 2"/>
          <p:cNvSpPr>
            <a:spLocks noGrp="1"/>
          </p:cNvSpPr>
          <p:nvPr>
            <p:ph idx="1"/>
          </p:nvPr>
        </p:nvSpPr>
        <p:spPr/>
        <p:txBody>
          <a:bodyPr/>
          <a:lstStyle/>
          <a:p>
            <a:pPr algn="just"/>
            <a:r>
              <a:rPr lang="en-US" dirty="0" smtClean="0"/>
              <a:t>IE8 and earlier versions of IE, included padding and border in the width property.</a:t>
            </a:r>
          </a:p>
          <a:p>
            <a:pPr algn="just"/>
            <a:r>
              <a:rPr lang="en-US" dirty="0" smtClean="0"/>
              <a:t>To fix this problem, add a &lt;!DOCTYPE html&gt; to the HTML page.</a:t>
            </a:r>
          </a:p>
          <a:p>
            <a:pPr algn="just"/>
            <a:endParaRPr lang="en-US"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Border</a:t>
            </a:r>
            <a:endParaRPr lang="en-US" dirty="0"/>
          </a:p>
        </p:txBody>
      </p:sp>
      <p:sp>
        <p:nvSpPr>
          <p:cNvPr id="3" name="Content Placeholder 2"/>
          <p:cNvSpPr>
            <a:spLocks noGrp="1"/>
          </p:cNvSpPr>
          <p:nvPr>
            <p:ph idx="1"/>
          </p:nvPr>
        </p:nvSpPr>
        <p:spPr/>
        <p:txBody>
          <a:bodyPr/>
          <a:lstStyle/>
          <a:p>
            <a:pPr algn="just">
              <a:buNone/>
            </a:pPr>
            <a:r>
              <a:rPr lang="en-US" b="1" dirty="0" smtClean="0"/>
              <a:t>    Border Style</a:t>
            </a:r>
          </a:p>
          <a:p>
            <a:pPr algn="just"/>
            <a:r>
              <a:rPr lang="en-US" dirty="0" smtClean="0"/>
              <a:t>The border-style property specifies what kind of border to display.</a:t>
            </a:r>
          </a:p>
          <a:p>
            <a:pPr algn="just"/>
            <a:r>
              <a:rPr lang="en-US" dirty="0" smtClean="0"/>
              <a:t>None of the border properties will have ANY effect unless the </a:t>
            </a:r>
            <a:r>
              <a:rPr lang="en-US" b="1" dirty="0" smtClean="0"/>
              <a:t>border-style</a:t>
            </a:r>
            <a:r>
              <a:rPr lang="en-US" dirty="0" smtClean="0"/>
              <a:t> property is set!</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Border-style values</a:t>
            </a:r>
            <a:endParaRPr lang="en-US" dirty="0"/>
          </a:p>
        </p:txBody>
      </p:sp>
      <p:sp>
        <p:nvSpPr>
          <p:cNvPr id="3" name="Content Placeholder 2"/>
          <p:cNvSpPr>
            <a:spLocks noGrp="1"/>
          </p:cNvSpPr>
          <p:nvPr>
            <p:ph idx="1"/>
          </p:nvPr>
        </p:nvSpPr>
        <p:spPr/>
        <p:txBody>
          <a:bodyPr/>
          <a:lstStyle/>
          <a:p>
            <a:pPr algn="just"/>
            <a:r>
              <a:rPr lang="en-US" dirty="0" smtClean="0"/>
              <a:t>none: Defines no border</a:t>
            </a:r>
          </a:p>
          <a:p>
            <a:pPr algn="just"/>
            <a:r>
              <a:rPr lang="en-US" dirty="0" smtClean="0"/>
              <a:t>dotted: Defines a dotted border</a:t>
            </a:r>
          </a:p>
          <a:p>
            <a:pPr algn="just"/>
            <a:r>
              <a:rPr lang="en-US" dirty="0" smtClean="0"/>
              <a:t>dashed: Defines a dashed border</a:t>
            </a:r>
          </a:p>
          <a:p>
            <a:pPr algn="just"/>
            <a:r>
              <a:rPr lang="en-US" dirty="0" smtClean="0"/>
              <a:t>solid: Defines a solid border</a:t>
            </a:r>
          </a:p>
          <a:p>
            <a:pPr algn="just"/>
            <a:r>
              <a:rPr lang="en-US" dirty="0" smtClean="0"/>
              <a:t>double: Defines two borders. The width of the two borders are the same as the border-width value</a:t>
            </a:r>
          </a:p>
          <a:p>
            <a:pPr algn="just"/>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Border-style values</a:t>
            </a:r>
            <a:endParaRPr lang="en-US" dirty="0"/>
          </a:p>
        </p:txBody>
      </p:sp>
      <p:sp>
        <p:nvSpPr>
          <p:cNvPr id="3" name="Content Placeholder 2"/>
          <p:cNvSpPr>
            <a:spLocks noGrp="1"/>
          </p:cNvSpPr>
          <p:nvPr>
            <p:ph idx="1"/>
          </p:nvPr>
        </p:nvSpPr>
        <p:spPr/>
        <p:txBody>
          <a:bodyPr/>
          <a:lstStyle/>
          <a:p>
            <a:pPr algn="just"/>
            <a:r>
              <a:rPr lang="en-US" dirty="0" smtClean="0"/>
              <a:t>groove: Defines a 3D grooved border. The effect depends on the border-color value</a:t>
            </a:r>
          </a:p>
          <a:p>
            <a:pPr algn="just"/>
            <a:r>
              <a:rPr lang="en-US" dirty="0" smtClean="0"/>
              <a:t>ridge: Defines a 3D ridged border. The effect depends on the border-color value</a:t>
            </a:r>
          </a:p>
          <a:p>
            <a:pPr algn="just"/>
            <a:r>
              <a:rPr lang="en-US" dirty="0" smtClean="0"/>
              <a:t>inset: Defines a 3D inset border. The effect depends on the border-color value</a:t>
            </a:r>
          </a:p>
          <a:p>
            <a:pPr algn="just"/>
            <a:r>
              <a:rPr lang="en-US" dirty="0" smtClean="0"/>
              <a:t>outset: Defines a 3D outset border. The effect depends on the border-color value</a:t>
            </a:r>
          </a:p>
          <a:p>
            <a:pPr algn="just"/>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Border Width</a:t>
            </a:r>
            <a:endParaRPr lang="en-US" dirty="0"/>
          </a:p>
        </p:txBody>
      </p:sp>
      <p:sp>
        <p:nvSpPr>
          <p:cNvPr id="3" name="Content Placeholder 2"/>
          <p:cNvSpPr>
            <a:spLocks noGrp="1"/>
          </p:cNvSpPr>
          <p:nvPr>
            <p:ph idx="1"/>
          </p:nvPr>
        </p:nvSpPr>
        <p:spPr/>
        <p:txBody>
          <a:bodyPr>
            <a:normAutofit/>
          </a:bodyPr>
          <a:lstStyle/>
          <a:p>
            <a:pPr algn="just"/>
            <a:r>
              <a:rPr lang="en-US" dirty="0" smtClean="0"/>
              <a:t>The border-width property is used to set the width of the border.</a:t>
            </a:r>
          </a:p>
          <a:p>
            <a:pPr algn="just"/>
            <a:r>
              <a:rPr lang="en-US" dirty="0" smtClean="0"/>
              <a:t>The width is set in pixels, or by using one of the three pre-defined values: thin, medium, or thick.</a:t>
            </a:r>
          </a:p>
          <a:p>
            <a:pPr algn="just"/>
            <a:r>
              <a:rPr lang="en-US" b="1" dirty="0" smtClean="0"/>
              <a:t>Note:</a:t>
            </a:r>
            <a:r>
              <a:rPr lang="en-US" dirty="0" smtClean="0"/>
              <a:t> The "border-width" property does not work if it is used alone. Use the "border-style" property to set the borders first.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Border Width</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Example</a:t>
            </a:r>
          </a:p>
          <a:p>
            <a:r>
              <a:rPr lang="en-US" dirty="0" err="1" smtClean="0"/>
              <a:t>p.one</a:t>
            </a:r>
            <a:r>
              <a:rPr lang="en-US" dirty="0" smtClean="0"/>
              <a:t/>
            </a:r>
            <a:br>
              <a:rPr lang="en-US" dirty="0" smtClean="0"/>
            </a:br>
            <a:r>
              <a:rPr lang="en-US" dirty="0" smtClean="0"/>
              <a:t>{</a:t>
            </a:r>
            <a:br>
              <a:rPr lang="en-US" dirty="0" smtClean="0"/>
            </a:br>
            <a:r>
              <a:rPr lang="en-US" dirty="0" smtClean="0"/>
              <a:t>border-</a:t>
            </a:r>
            <a:r>
              <a:rPr lang="en-US" dirty="0" err="1" smtClean="0"/>
              <a:t>style:solid</a:t>
            </a:r>
            <a:r>
              <a:rPr lang="en-US" dirty="0" smtClean="0"/>
              <a:t>;</a:t>
            </a:r>
            <a:br>
              <a:rPr lang="en-US" dirty="0" smtClean="0"/>
            </a:br>
            <a:r>
              <a:rPr lang="en-US" dirty="0" smtClean="0"/>
              <a:t>border-width:5px;</a:t>
            </a:r>
            <a:br>
              <a:rPr lang="en-US" dirty="0" smtClean="0"/>
            </a:br>
            <a:r>
              <a:rPr lang="en-US" dirty="0" smtClean="0"/>
              <a:t>}</a:t>
            </a:r>
            <a:br>
              <a:rPr lang="en-US" dirty="0" smtClean="0"/>
            </a:br>
            <a:r>
              <a:rPr lang="en-US" dirty="0" err="1" smtClean="0"/>
              <a:t>p.two</a:t>
            </a:r>
            <a:r>
              <a:rPr lang="en-US" dirty="0" smtClean="0"/>
              <a:t/>
            </a:r>
            <a:br>
              <a:rPr lang="en-US" dirty="0" smtClean="0"/>
            </a:br>
            <a:r>
              <a:rPr lang="en-US" dirty="0" smtClean="0"/>
              <a:t>{</a:t>
            </a:r>
            <a:br>
              <a:rPr lang="en-US" dirty="0" smtClean="0"/>
            </a:br>
            <a:r>
              <a:rPr lang="en-US" dirty="0" smtClean="0"/>
              <a:t>border-</a:t>
            </a:r>
            <a:r>
              <a:rPr lang="en-US" dirty="0" err="1" smtClean="0"/>
              <a:t>style:solid</a:t>
            </a:r>
            <a:r>
              <a:rPr lang="en-US" dirty="0" smtClean="0"/>
              <a:t>;</a:t>
            </a:r>
            <a:br>
              <a:rPr lang="en-US" dirty="0" smtClean="0"/>
            </a:br>
            <a:r>
              <a:rPr lang="en-US" dirty="0" smtClean="0"/>
              <a:t>border-</a:t>
            </a:r>
            <a:r>
              <a:rPr lang="en-US" dirty="0" err="1" smtClean="0"/>
              <a:t>width:medium</a:t>
            </a:r>
            <a:r>
              <a:rPr lang="en-US" dirty="0" smtClean="0"/>
              <a:t>;</a:t>
            </a:r>
            <a:br>
              <a:rPr lang="en-US" dirty="0" smtClean="0"/>
            </a:br>
            <a:r>
              <a:rPr lang="en-US" dirty="0" smtClean="0"/>
              <a:t>}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Border Color</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The border-color property is used to set the color of the border. The color can be set by:</a:t>
            </a:r>
          </a:p>
          <a:p>
            <a:pPr algn="just"/>
            <a:r>
              <a:rPr lang="en-US" dirty="0" smtClean="0"/>
              <a:t>name - specify a color name, like "red"</a:t>
            </a:r>
          </a:p>
          <a:p>
            <a:pPr algn="just"/>
            <a:r>
              <a:rPr lang="en-US" dirty="0" smtClean="0"/>
              <a:t>RGB - specify a RGB value, like "</a:t>
            </a:r>
            <a:r>
              <a:rPr lang="en-US" dirty="0" err="1" smtClean="0"/>
              <a:t>rgb</a:t>
            </a:r>
            <a:r>
              <a:rPr lang="en-US" dirty="0" smtClean="0"/>
              <a:t>(255,0,0)"</a:t>
            </a:r>
          </a:p>
          <a:p>
            <a:pPr algn="just"/>
            <a:r>
              <a:rPr lang="en-US" dirty="0" smtClean="0"/>
              <a:t>Hex - specify a hex value, like "#ff0000"</a:t>
            </a:r>
          </a:p>
          <a:p>
            <a:pPr algn="just"/>
            <a:r>
              <a:rPr lang="en-US" dirty="0" smtClean="0"/>
              <a:t>You can also set the border color to "transparent".</a:t>
            </a:r>
          </a:p>
          <a:p>
            <a:pPr algn="just"/>
            <a:r>
              <a:rPr lang="en-US" b="1" dirty="0" smtClean="0"/>
              <a:t>Note:</a:t>
            </a:r>
            <a:r>
              <a:rPr lang="en-US" dirty="0" smtClean="0"/>
              <a:t> The "border-color" property does not work if it is used alone. Use the "border-style" property to set the borders first.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Border Color</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Example</a:t>
            </a:r>
          </a:p>
          <a:p>
            <a:r>
              <a:rPr lang="en-US" dirty="0" err="1" smtClean="0"/>
              <a:t>p.one</a:t>
            </a:r>
            <a:r>
              <a:rPr lang="en-US" dirty="0" smtClean="0"/>
              <a:t/>
            </a:r>
            <a:br>
              <a:rPr lang="en-US" dirty="0" smtClean="0"/>
            </a:br>
            <a:r>
              <a:rPr lang="en-US" dirty="0" smtClean="0"/>
              <a:t>{</a:t>
            </a:r>
            <a:br>
              <a:rPr lang="en-US" dirty="0" smtClean="0"/>
            </a:br>
            <a:r>
              <a:rPr lang="en-US" dirty="0" smtClean="0"/>
              <a:t>border-</a:t>
            </a:r>
            <a:r>
              <a:rPr lang="en-US" dirty="0" err="1" smtClean="0"/>
              <a:t>style:solid</a:t>
            </a:r>
            <a:r>
              <a:rPr lang="en-US" dirty="0" smtClean="0"/>
              <a:t>;</a:t>
            </a:r>
            <a:br>
              <a:rPr lang="en-US" dirty="0" smtClean="0"/>
            </a:br>
            <a:r>
              <a:rPr lang="en-US" dirty="0" smtClean="0"/>
              <a:t>border-</a:t>
            </a:r>
            <a:r>
              <a:rPr lang="en-US" dirty="0" err="1" smtClean="0"/>
              <a:t>color:red</a:t>
            </a:r>
            <a:r>
              <a:rPr lang="en-US" dirty="0" smtClean="0"/>
              <a:t>;</a:t>
            </a:r>
            <a:br>
              <a:rPr lang="en-US" dirty="0" smtClean="0"/>
            </a:br>
            <a:r>
              <a:rPr lang="en-US" dirty="0" smtClean="0"/>
              <a:t>}</a:t>
            </a:r>
            <a:br>
              <a:rPr lang="en-US" dirty="0" smtClean="0"/>
            </a:br>
            <a:r>
              <a:rPr lang="en-US" dirty="0" err="1" smtClean="0"/>
              <a:t>p.two</a:t>
            </a:r>
            <a:r>
              <a:rPr lang="en-US" dirty="0" smtClean="0"/>
              <a:t/>
            </a:r>
            <a:br>
              <a:rPr lang="en-US" dirty="0" smtClean="0"/>
            </a:br>
            <a:r>
              <a:rPr lang="en-US" dirty="0" smtClean="0"/>
              <a:t>{</a:t>
            </a:r>
            <a:br>
              <a:rPr lang="en-US" dirty="0" smtClean="0"/>
            </a:br>
            <a:r>
              <a:rPr lang="en-US" dirty="0" smtClean="0"/>
              <a:t>border-</a:t>
            </a:r>
            <a:r>
              <a:rPr lang="en-US" dirty="0" err="1" smtClean="0"/>
              <a:t>style:solid</a:t>
            </a:r>
            <a:r>
              <a:rPr lang="en-US" dirty="0" smtClean="0"/>
              <a:t>;</a:t>
            </a:r>
            <a:br>
              <a:rPr lang="en-US" dirty="0" smtClean="0"/>
            </a:br>
            <a:r>
              <a:rPr lang="en-US" dirty="0" smtClean="0"/>
              <a:t>border-color:#98bf21;</a:t>
            </a:r>
            <a:br>
              <a:rPr lang="en-US" dirty="0" smtClean="0"/>
            </a:br>
            <a:r>
              <a:rPr lang="en-US" dirty="0" smtClean="0"/>
              <a:t>} </a:t>
            </a:r>
          </a:p>
          <a:p>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Border - Individual sides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In CSS it is possible to specify different borders for different sides:</a:t>
            </a:r>
          </a:p>
          <a:p>
            <a:pPr>
              <a:buNone/>
            </a:pPr>
            <a:r>
              <a:rPr lang="en-US" b="1" dirty="0" smtClean="0"/>
              <a:t>    Example</a:t>
            </a:r>
          </a:p>
          <a:p>
            <a:r>
              <a:rPr lang="en-US" dirty="0" smtClean="0"/>
              <a:t>p</a:t>
            </a:r>
            <a:br>
              <a:rPr lang="en-US" dirty="0" smtClean="0"/>
            </a:br>
            <a:r>
              <a:rPr lang="en-US" dirty="0" smtClean="0"/>
              <a:t>{</a:t>
            </a:r>
            <a:br>
              <a:rPr lang="en-US" dirty="0" smtClean="0"/>
            </a:br>
            <a:r>
              <a:rPr lang="en-US" dirty="0" smtClean="0"/>
              <a:t>border-top-</a:t>
            </a:r>
            <a:r>
              <a:rPr lang="en-US" dirty="0" err="1" smtClean="0"/>
              <a:t>style:dotted</a:t>
            </a:r>
            <a:r>
              <a:rPr lang="en-US" dirty="0" smtClean="0"/>
              <a:t>;</a:t>
            </a:r>
            <a:br>
              <a:rPr lang="en-US" dirty="0" smtClean="0"/>
            </a:br>
            <a:r>
              <a:rPr lang="en-US" dirty="0" smtClean="0"/>
              <a:t>border-right-</a:t>
            </a:r>
            <a:r>
              <a:rPr lang="en-US" dirty="0" err="1" smtClean="0"/>
              <a:t>style:solid</a:t>
            </a:r>
            <a:r>
              <a:rPr lang="en-US" dirty="0" smtClean="0"/>
              <a:t>;</a:t>
            </a:r>
            <a:br>
              <a:rPr lang="en-US" dirty="0" smtClean="0"/>
            </a:br>
            <a:r>
              <a:rPr lang="en-US" dirty="0" smtClean="0"/>
              <a:t>border-bottom-</a:t>
            </a:r>
            <a:r>
              <a:rPr lang="en-US" dirty="0" err="1" smtClean="0"/>
              <a:t>style:dotted</a:t>
            </a:r>
            <a:r>
              <a:rPr lang="en-US" dirty="0" smtClean="0"/>
              <a:t>;</a:t>
            </a:r>
            <a:br>
              <a:rPr lang="en-US" dirty="0" smtClean="0"/>
            </a:br>
            <a:r>
              <a:rPr lang="en-US" dirty="0" smtClean="0"/>
              <a:t>border-left-</a:t>
            </a:r>
            <a:r>
              <a:rPr lang="en-US" dirty="0" err="1" smtClean="0"/>
              <a:t>style:solid</a:t>
            </a:r>
            <a:r>
              <a:rPr lang="en-US" dirty="0" smtClean="0"/>
              <a:t>;</a:t>
            </a:r>
            <a:br>
              <a:rPr lang="en-US" dirty="0" smtClean="0"/>
            </a:br>
            <a:r>
              <a:rPr lang="en-US" dirty="0" smtClean="0"/>
              <a: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Border - Individual sides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border-style property can have from one to four values.</a:t>
            </a:r>
          </a:p>
          <a:p>
            <a:r>
              <a:rPr lang="en-US" b="1" dirty="0" smtClean="0"/>
              <a:t>border-</a:t>
            </a:r>
            <a:r>
              <a:rPr lang="en-US" b="1" dirty="0" err="1" smtClean="0"/>
              <a:t>style:dotted</a:t>
            </a:r>
            <a:r>
              <a:rPr lang="en-US" b="1" dirty="0" smtClean="0"/>
              <a:t> solid double dashed; </a:t>
            </a:r>
            <a:endParaRPr lang="en-US" dirty="0" smtClean="0"/>
          </a:p>
          <a:p>
            <a:pPr lvl="1"/>
            <a:r>
              <a:rPr lang="en-US" dirty="0" smtClean="0"/>
              <a:t>top border is dotted</a:t>
            </a:r>
          </a:p>
          <a:p>
            <a:pPr lvl="1"/>
            <a:r>
              <a:rPr lang="en-US" dirty="0" smtClean="0"/>
              <a:t>right border is solid</a:t>
            </a:r>
          </a:p>
          <a:p>
            <a:pPr lvl="1"/>
            <a:r>
              <a:rPr lang="en-US" dirty="0" smtClean="0"/>
              <a:t>bottom border is double</a:t>
            </a:r>
          </a:p>
          <a:p>
            <a:pPr lvl="1"/>
            <a:r>
              <a:rPr lang="en-US" dirty="0" smtClean="0"/>
              <a:t>left border is dashed</a:t>
            </a:r>
          </a:p>
          <a:p>
            <a:r>
              <a:rPr lang="en-US" b="1" dirty="0" smtClean="0"/>
              <a:t>border-</a:t>
            </a:r>
            <a:r>
              <a:rPr lang="en-US" b="1" dirty="0" err="1" smtClean="0"/>
              <a:t>style:dotted</a:t>
            </a:r>
            <a:r>
              <a:rPr lang="en-US" b="1" dirty="0" smtClean="0"/>
              <a:t> solid double;</a:t>
            </a:r>
            <a:r>
              <a:rPr lang="en-US" dirty="0" smtClean="0"/>
              <a:t> </a:t>
            </a:r>
          </a:p>
          <a:p>
            <a:pPr lvl="1"/>
            <a:r>
              <a:rPr lang="en-US" dirty="0" smtClean="0"/>
              <a:t>top border is dotted</a:t>
            </a:r>
          </a:p>
          <a:p>
            <a:pPr lvl="1"/>
            <a:r>
              <a:rPr lang="en-US" dirty="0" smtClean="0"/>
              <a:t>right and left borders are solid</a:t>
            </a:r>
          </a:p>
          <a:p>
            <a:pPr lvl="1"/>
            <a:r>
              <a:rPr lang="en-US" dirty="0" smtClean="0"/>
              <a:t>bottom border is double</a:t>
            </a:r>
          </a:p>
          <a:p>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Border - Individual sides</a:t>
            </a:r>
            <a:endParaRPr lang="en-US" dirty="0"/>
          </a:p>
        </p:txBody>
      </p:sp>
      <p:sp>
        <p:nvSpPr>
          <p:cNvPr id="3" name="Content Placeholder 2"/>
          <p:cNvSpPr>
            <a:spLocks noGrp="1"/>
          </p:cNvSpPr>
          <p:nvPr>
            <p:ph idx="1"/>
          </p:nvPr>
        </p:nvSpPr>
        <p:spPr/>
        <p:txBody>
          <a:bodyPr>
            <a:normAutofit/>
          </a:bodyPr>
          <a:lstStyle/>
          <a:p>
            <a:r>
              <a:rPr lang="en-US" b="1" dirty="0" smtClean="0"/>
              <a:t>border-</a:t>
            </a:r>
            <a:r>
              <a:rPr lang="en-US" b="1" dirty="0" err="1" smtClean="0"/>
              <a:t>style:dotted</a:t>
            </a:r>
            <a:r>
              <a:rPr lang="en-US" b="1" dirty="0" smtClean="0"/>
              <a:t> solid;</a:t>
            </a:r>
            <a:r>
              <a:rPr lang="en-US" dirty="0" smtClean="0"/>
              <a:t> </a:t>
            </a:r>
          </a:p>
          <a:p>
            <a:pPr lvl="1"/>
            <a:r>
              <a:rPr lang="en-US" dirty="0" smtClean="0"/>
              <a:t>top and bottom borders are dotted</a:t>
            </a:r>
          </a:p>
          <a:p>
            <a:pPr lvl="1"/>
            <a:r>
              <a:rPr lang="en-US" dirty="0" smtClean="0"/>
              <a:t>right and left borders are solid</a:t>
            </a:r>
          </a:p>
          <a:p>
            <a:r>
              <a:rPr lang="en-US" b="1" dirty="0" smtClean="0"/>
              <a:t>border-</a:t>
            </a:r>
            <a:r>
              <a:rPr lang="en-US" b="1" dirty="0" err="1" smtClean="0"/>
              <a:t>style:dotted</a:t>
            </a:r>
            <a:r>
              <a:rPr lang="en-US" b="1" dirty="0" smtClean="0"/>
              <a:t>;</a:t>
            </a:r>
            <a:endParaRPr lang="en-US" dirty="0" smtClean="0"/>
          </a:p>
          <a:p>
            <a:pPr lvl="1"/>
            <a:r>
              <a:rPr lang="en-US" dirty="0" smtClean="0"/>
              <a:t>all four borders are dotted</a:t>
            </a:r>
          </a:p>
          <a:p>
            <a:pPr algn="just"/>
            <a:r>
              <a:rPr lang="en-US" dirty="0" smtClean="0"/>
              <a:t>The border-style property is used in the example above. However, it also works with border-width and border-color.</a:t>
            </a:r>
          </a:p>
          <a:p>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Border - Shorthand property</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To shorten the code, it is also possible to specify all the individual border properties in one property. This is called a shorthand property.</a:t>
            </a:r>
          </a:p>
          <a:p>
            <a:pPr algn="just"/>
            <a:r>
              <a:rPr lang="en-US" dirty="0" smtClean="0"/>
              <a:t>The border property is a shorthand for the following individual border properties:</a:t>
            </a:r>
          </a:p>
          <a:p>
            <a:r>
              <a:rPr lang="en-US" dirty="0" smtClean="0"/>
              <a:t>border-width</a:t>
            </a:r>
          </a:p>
          <a:p>
            <a:r>
              <a:rPr lang="en-US" dirty="0" smtClean="0"/>
              <a:t>border-style (required)</a:t>
            </a:r>
          </a:p>
          <a:p>
            <a:r>
              <a:rPr lang="en-US" dirty="0" smtClean="0"/>
              <a:t>border-color</a:t>
            </a:r>
          </a:p>
          <a:p>
            <a:pPr>
              <a:buNone/>
            </a:pPr>
            <a:r>
              <a:rPr lang="en-US" b="1" dirty="0" smtClean="0"/>
              <a:t>    Example</a:t>
            </a:r>
          </a:p>
          <a:p>
            <a:r>
              <a:rPr lang="en-US" dirty="0" smtClean="0"/>
              <a:t>border:5px solid red;</a:t>
            </a:r>
          </a:p>
          <a:p>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Outline</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An outline is a line that is drawn around elements (outside the borders) to make the element "stand out". </a:t>
            </a:r>
          </a:p>
          <a:p>
            <a:pPr algn="just"/>
            <a:r>
              <a:rPr lang="en-US" dirty="0" smtClean="0"/>
              <a:t>However, the outline property is different from the border property.</a:t>
            </a:r>
          </a:p>
          <a:p>
            <a:pPr algn="just"/>
            <a:r>
              <a:rPr lang="en-US" dirty="0" smtClean="0"/>
              <a:t>The outline is not a part of an element's dimensions; the element's total width and height is not affected by the width of the outline.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CSS Outline</a:t>
            </a:r>
            <a:endParaRPr lang="en-US" dirty="0"/>
          </a:p>
        </p:txBody>
      </p:sp>
      <p:pic>
        <p:nvPicPr>
          <p:cNvPr id="4" name="Content Placeholder 3" descr="box_outline.gif"/>
          <p:cNvPicPr>
            <a:picLocks noGrp="1" noChangeAspect="1"/>
          </p:cNvPicPr>
          <p:nvPr>
            <p:ph idx="1"/>
          </p:nvPr>
        </p:nvPicPr>
        <p:blipFill>
          <a:blip r:embed="rId2" cstate="print"/>
          <a:stretch>
            <a:fillRect/>
          </a:stretch>
        </p:blipFill>
        <p:spPr>
          <a:xfrm>
            <a:off x="1175013" y="1676400"/>
            <a:ext cx="6749787" cy="3639344"/>
          </a:xfr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All CSS Outline Properties</a:t>
            </a:r>
            <a:endParaRPr lang="en-US" dirty="0"/>
          </a:p>
        </p:txBody>
      </p:sp>
      <p:graphicFrame>
        <p:nvGraphicFramePr>
          <p:cNvPr id="6" name="Content Placeholder 5"/>
          <p:cNvGraphicFramePr>
            <a:graphicFrameLocks noGrp="1"/>
          </p:cNvGraphicFramePr>
          <p:nvPr>
            <p:ph idx="1"/>
          </p:nvPr>
        </p:nvGraphicFramePr>
        <p:xfrm>
          <a:off x="457200" y="1600200"/>
          <a:ext cx="8229600" cy="3022600"/>
        </p:xfrm>
        <a:graphic>
          <a:graphicData uri="http://schemas.openxmlformats.org/drawingml/2006/table">
            <a:tbl>
              <a:tblPr firstRow="1" bandRow="1">
                <a:tableStyleId>{5C22544A-7EE6-4342-B048-85BDC9FD1C3A}</a:tableStyleId>
              </a:tblPr>
              <a:tblGrid>
                <a:gridCol w="2057400"/>
                <a:gridCol w="2057400"/>
                <a:gridCol w="2057400"/>
                <a:gridCol w="2057400"/>
              </a:tblGrid>
              <a:tr h="370840">
                <a:tc>
                  <a:txBody>
                    <a:bodyPr/>
                    <a:lstStyle/>
                    <a:p>
                      <a:pPr algn="l"/>
                      <a:r>
                        <a:rPr lang="en-US" dirty="0"/>
                        <a:t>Property</a:t>
                      </a:r>
                    </a:p>
                  </a:txBody>
                  <a:tcPr anchor="ctr"/>
                </a:tc>
                <a:tc>
                  <a:txBody>
                    <a:bodyPr/>
                    <a:lstStyle/>
                    <a:p>
                      <a:pPr algn="l"/>
                      <a:r>
                        <a:rPr lang="en-US"/>
                        <a:t>Description</a:t>
                      </a:r>
                    </a:p>
                  </a:txBody>
                  <a:tcPr anchor="ctr"/>
                </a:tc>
                <a:tc>
                  <a:txBody>
                    <a:bodyPr/>
                    <a:lstStyle/>
                    <a:p>
                      <a:pPr algn="l"/>
                      <a:r>
                        <a:rPr lang="en-US"/>
                        <a:t>Values</a:t>
                      </a:r>
                    </a:p>
                  </a:txBody>
                  <a:tcPr anchor="ctr"/>
                </a:tc>
                <a:tc>
                  <a:txBody>
                    <a:bodyPr/>
                    <a:lstStyle/>
                    <a:p>
                      <a:pPr algn="l"/>
                      <a:r>
                        <a:rPr lang="en-US"/>
                        <a:t>CSS</a:t>
                      </a:r>
                    </a:p>
                  </a:txBody>
                  <a:tcPr anchor="ctr"/>
                </a:tc>
              </a:tr>
              <a:tr h="370840">
                <a:tc>
                  <a:txBody>
                    <a:bodyPr/>
                    <a:lstStyle/>
                    <a:p>
                      <a:r>
                        <a:rPr lang="en-US" dirty="0">
                          <a:hlinkClick r:id="rId2"/>
                        </a:rPr>
                        <a:t>outline</a:t>
                      </a:r>
                      <a:r>
                        <a:rPr lang="en-US" dirty="0"/>
                        <a:t> </a:t>
                      </a:r>
                    </a:p>
                  </a:txBody>
                  <a:tcPr anchor="ctr"/>
                </a:tc>
                <a:tc>
                  <a:txBody>
                    <a:bodyPr/>
                    <a:lstStyle/>
                    <a:p>
                      <a:pPr algn="just"/>
                      <a:r>
                        <a:rPr lang="en-US" dirty="0"/>
                        <a:t>Sets all the outline properties in one declaration</a:t>
                      </a:r>
                    </a:p>
                  </a:txBody>
                  <a:tcPr anchor="ctr"/>
                </a:tc>
                <a:tc>
                  <a:txBody>
                    <a:bodyPr/>
                    <a:lstStyle/>
                    <a:p>
                      <a:r>
                        <a:rPr lang="en-US" i="1"/>
                        <a:t>outline-color</a:t>
                      </a:r>
                      <a:br>
                        <a:rPr lang="en-US" i="1"/>
                      </a:br>
                      <a:r>
                        <a:rPr lang="en-US" i="1"/>
                        <a:t>outline-style</a:t>
                      </a:r>
                      <a:br>
                        <a:rPr lang="en-US" i="1"/>
                      </a:br>
                      <a:r>
                        <a:rPr lang="en-US" i="1"/>
                        <a:t>outline-width</a:t>
                      </a:r>
                      <a:br>
                        <a:rPr lang="en-US" i="1"/>
                      </a:br>
                      <a:r>
                        <a:rPr lang="en-US"/>
                        <a:t>inherit</a:t>
                      </a:r>
                    </a:p>
                  </a:txBody>
                  <a:tcPr anchor="ctr"/>
                </a:tc>
                <a:tc>
                  <a:txBody>
                    <a:bodyPr/>
                    <a:lstStyle/>
                    <a:p>
                      <a:r>
                        <a:rPr lang="en-US"/>
                        <a:t>2</a:t>
                      </a:r>
                    </a:p>
                  </a:txBody>
                  <a:tcPr anchor="ctr"/>
                </a:tc>
              </a:tr>
              <a:tr h="370840">
                <a:tc>
                  <a:txBody>
                    <a:bodyPr/>
                    <a:lstStyle/>
                    <a:p>
                      <a:r>
                        <a:rPr lang="en-US">
                          <a:hlinkClick r:id="rId3"/>
                        </a:rPr>
                        <a:t>outline-color</a:t>
                      </a:r>
                      <a:r>
                        <a:rPr lang="en-US"/>
                        <a:t> </a:t>
                      </a:r>
                    </a:p>
                  </a:txBody>
                  <a:tcPr anchor="ctr"/>
                </a:tc>
                <a:tc>
                  <a:txBody>
                    <a:bodyPr/>
                    <a:lstStyle/>
                    <a:p>
                      <a:pPr algn="just"/>
                      <a:r>
                        <a:rPr lang="en-US" dirty="0"/>
                        <a:t>Sets the color of an outline</a:t>
                      </a:r>
                    </a:p>
                  </a:txBody>
                  <a:tcPr anchor="ctr"/>
                </a:tc>
                <a:tc>
                  <a:txBody>
                    <a:bodyPr/>
                    <a:lstStyle/>
                    <a:p>
                      <a:r>
                        <a:rPr lang="en-US" i="1"/>
                        <a:t>color_name</a:t>
                      </a:r>
                      <a:br>
                        <a:rPr lang="en-US" i="1"/>
                      </a:br>
                      <a:r>
                        <a:rPr lang="en-US" i="1"/>
                        <a:t>hex_number</a:t>
                      </a:r>
                      <a:br>
                        <a:rPr lang="en-US" i="1"/>
                      </a:br>
                      <a:r>
                        <a:rPr lang="en-US" i="1"/>
                        <a:t>rgb_number</a:t>
                      </a:r>
                      <a:br>
                        <a:rPr lang="en-US" i="1"/>
                      </a:br>
                      <a:r>
                        <a:rPr lang="en-US"/>
                        <a:t>invert</a:t>
                      </a:r>
                      <a:br>
                        <a:rPr lang="en-US"/>
                      </a:br>
                      <a:r>
                        <a:rPr lang="en-US"/>
                        <a:t>inherit</a:t>
                      </a:r>
                    </a:p>
                  </a:txBody>
                  <a:tcPr anchor="ctr"/>
                </a:tc>
                <a:tc>
                  <a:txBody>
                    <a:bodyPr/>
                    <a:lstStyle/>
                    <a:p>
                      <a:r>
                        <a:rPr lang="en-US" dirty="0"/>
                        <a:t>2</a:t>
                      </a:r>
                    </a:p>
                  </a:txBody>
                  <a:tcPr anchor="ctr"/>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All CSS Outline Properties</a:t>
            </a:r>
            <a:endParaRPr lang="en-US" dirty="0"/>
          </a:p>
        </p:txBody>
      </p:sp>
      <p:graphicFrame>
        <p:nvGraphicFramePr>
          <p:cNvPr id="4" name="Content Placeholder 3"/>
          <p:cNvGraphicFramePr>
            <a:graphicFrameLocks noGrp="1"/>
          </p:cNvGraphicFramePr>
          <p:nvPr>
            <p:ph idx="1"/>
          </p:nvPr>
        </p:nvGraphicFramePr>
        <p:xfrm>
          <a:off x="457200" y="1600200"/>
          <a:ext cx="8229600" cy="4668520"/>
        </p:xfrm>
        <a:graphic>
          <a:graphicData uri="http://schemas.openxmlformats.org/drawingml/2006/table">
            <a:tbl>
              <a:tblPr firstRow="1" bandRow="1">
                <a:tableStyleId>{5C22544A-7EE6-4342-B048-85BDC9FD1C3A}</a:tableStyleId>
              </a:tblPr>
              <a:tblGrid>
                <a:gridCol w="2057400"/>
                <a:gridCol w="2057400"/>
                <a:gridCol w="2057400"/>
                <a:gridCol w="2057400"/>
              </a:tblGrid>
              <a:tr h="370840">
                <a:tc>
                  <a:txBody>
                    <a:bodyPr/>
                    <a:lstStyle/>
                    <a:p>
                      <a:pPr algn="l"/>
                      <a:r>
                        <a:rPr lang="en-US" dirty="0"/>
                        <a:t>Property</a:t>
                      </a:r>
                    </a:p>
                  </a:txBody>
                  <a:tcPr anchor="ctr"/>
                </a:tc>
                <a:tc>
                  <a:txBody>
                    <a:bodyPr/>
                    <a:lstStyle/>
                    <a:p>
                      <a:pPr algn="l"/>
                      <a:r>
                        <a:rPr lang="en-US"/>
                        <a:t>Description</a:t>
                      </a:r>
                    </a:p>
                  </a:txBody>
                  <a:tcPr anchor="ctr"/>
                </a:tc>
                <a:tc>
                  <a:txBody>
                    <a:bodyPr/>
                    <a:lstStyle/>
                    <a:p>
                      <a:pPr algn="l"/>
                      <a:r>
                        <a:rPr lang="en-US"/>
                        <a:t>Values</a:t>
                      </a:r>
                    </a:p>
                  </a:txBody>
                  <a:tcPr anchor="ctr"/>
                </a:tc>
                <a:tc>
                  <a:txBody>
                    <a:bodyPr/>
                    <a:lstStyle/>
                    <a:p>
                      <a:pPr algn="l"/>
                      <a:r>
                        <a:rPr lang="en-US" dirty="0"/>
                        <a:t>CSS</a:t>
                      </a:r>
                    </a:p>
                  </a:txBody>
                  <a:tcPr anchor="ctr"/>
                </a:tc>
              </a:tr>
              <a:tr h="370840">
                <a:tc>
                  <a:txBody>
                    <a:bodyPr/>
                    <a:lstStyle/>
                    <a:p>
                      <a:r>
                        <a:rPr lang="en-US" dirty="0">
                          <a:hlinkClick r:id="rId2"/>
                        </a:rPr>
                        <a:t>outline-style</a:t>
                      </a:r>
                      <a:r>
                        <a:rPr lang="en-US" dirty="0"/>
                        <a:t> </a:t>
                      </a:r>
                    </a:p>
                  </a:txBody>
                  <a:tcPr anchor="ctr"/>
                </a:tc>
                <a:tc>
                  <a:txBody>
                    <a:bodyPr/>
                    <a:lstStyle/>
                    <a:p>
                      <a:pPr algn="just"/>
                      <a:r>
                        <a:rPr lang="en-US" dirty="0"/>
                        <a:t>Sets the style of an outline</a:t>
                      </a:r>
                    </a:p>
                  </a:txBody>
                  <a:tcPr anchor="ctr"/>
                </a:tc>
                <a:tc>
                  <a:txBody>
                    <a:bodyPr/>
                    <a:lstStyle/>
                    <a:p>
                      <a:r>
                        <a:rPr lang="en-US"/>
                        <a:t>none</a:t>
                      </a:r>
                      <a:br>
                        <a:rPr lang="en-US"/>
                      </a:br>
                      <a:r>
                        <a:rPr lang="en-US"/>
                        <a:t>dotted</a:t>
                      </a:r>
                      <a:br>
                        <a:rPr lang="en-US"/>
                      </a:br>
                      <a:r>
                        <a:rPr lang="en-US"/>
                        <a:t>dashed</a:t>
                      </a:r>
                      <a:br>
                        <a:rPr lang="en-US"/>
                      </a:br>
                      <a:r>
                        <a:rPr lang="en-US"/>
                        <a:t>solid</a:t>
                      </a:r>
                      <a:br>
                        <a:rPr lang="en-US"/>
                      </a:br>
                      <a:r>
                        <a:rPr lang="en-US"/>
                        <a:t>double</a:t>
                      </a:r>
                      <a:br>
                        <a:rPr lang="en-US"/>
                      </a:br>
                      <a:r>
                        <a:rPr lang="en-US"/>
                        <a:t>groove</a:t>
                      </a:r>
                      <a:br>
                        <a:rPr lang="en-US"/>
                      </a:br>
                      <a:r>
                        <a:rPr lang="en-US"/>
                        <a:t>ridge</a:t>
                      </a:r>
                      <a:br>
                        <a:rPr lang="en-US"/>
                      </a:br>
                      <a:r>
                        <a:rPr lang="en-US"/>
                        <a:t>inset</a:t>
                      </a:r>
                      <a:br>
                        <a:rPr lang="en-US"/>
                      </a:br>
                      <a:r>
                        <a:rPr lang="en-US"/>
                        <a:t>outset</a:t>
                      </a:r>
                      <a:br>
                        <a:rPr lang="en-US"/>
                      </a:br>
                      <a:r>
                        <a:rPr lang="en-US"/>
                        <a:t>inherit</a:t>
                      </a:r>
                    </a:p>
                  </a:txBody>
                  <a:tcPr anchor="ctr"/>
                </a:tc>
                <a:tc>
                  <a:txBody>
                    <a:bodyPr/>
                    <a:lstStyle/>
                    <a:p>
                      <a:r>
                        <a:rPr lang="en-US"/>
                        <a:t>2</a:t>
                      </a:r>
                    </a:p>
                  </a:txBody>
                  <a:tcPr anchor="ctr"/>
                </a:tc>
              </a:tr>
              <a:tr h="370840">
                <a:tc>
                  <a:txBody>
                    <a:bodyPr/>
                    <a:lstStyle/>
                    <a:p>
                      <a:r>
                        <a:rPr lang="en-US">
                          <a:hlinkClick r:id="rId3"/>
                        </a:rPr>
                        <a:t>outline-width</a:t>
                      </a:r>
                      <a:r>
                        <a:rPr lang="en-US"/>
                        <a:t> </a:t>
                      </a:r>
                    </a:p>
                  </a:txBody>
                  <a:tcPr anchor="ctr"/>
                </a:tc>
                <a:tc>
                  <a:txBody>
                    <a:bodyPr/>
                    <a:lstStyle/>
                    <a:p>
                      <a:pPr algn="just"/>
                      <a:r>
                        <a:rPr lang="en-US" dirty="0"/>
                        <a:t>Sets the width of an outline</a:t>
                      </a:r>
                    </a:p>
                  </a:txBody>
                  <a:tcPr anchor="ctr"/>
                </a:tc>
                <a:tc>
                  <a:txBody>
                    <a:bodyPr/>
                    <a:lstStyle/>
                    <a:p>
                      <a:r>
                        <a:rPr lang="en-US"/>
                        <a:t>thin</a:t>
                      </a:r>
                      <a:br>
                        <a:rPr lang="en-US"/>
                      </a:br>
                      <a:r>
                        <a:rPr lang="en-US"/>
                        <a:t>medium</a:t>
                      </a:r>
                      <a:br>
                        <a:rPr lang="en-US"/>
                      </a:br>
                      <a:r>
                        <a:rPr lang="en-US"/>
                        <a:t>thick</a:t>
                      </a:r>
                      <a:br>
                        <a:rPr lang="en-US"/>
                      </a:br>
                      <a:r>
                        <a:rPr lang="en-US" i="1"/>
                        <a:t>length</a:t>
                      </a:r>
                      <a:br>
                        <a:rPr lang="en-US" i="1"/>
                      </a:br>
                      <a:r>
                        <a:rPr lang="en-US"/>
                        <a:t>inherit</a:t>
                      </a:r>
                    </a:p>
                  </a:txBody>
                  <a:tcPr anchor="ctr"/>
                </a:tc>
                <a:tc>
                  <a:txBody>
                    <a:bodyPr/>
                    <a:lstStyle/>
                    <a:p>
                      <a:r>
                        <a:rPr lang="en-US" dirty="0"/>
                        <a:t>2</a:t>
                      </a:r>
                    </a:p>
                  </a:txBody>
                  <a:tcPr anchor="ctr"/>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Margin</a:t>
            </a:r>
            <a:endParaRPr lang="en-US" dirty="0"/>
          </a:p>
        </p:txBody>
      </p:sp>
      <p:sp>
        <p:nvSpPr>
          <p:cNvPr id="3" name="Content Placeholder 2"/>
          <p:cNvSpPr>
            <a:spLocks noGrp="1"/>
          </p:cNvSpPr>
          <p:nvPr>
            <p:ph idx="1"/>
          </p:nvPr>
        </p:nvSpPr>
        <p:spPr/>
        <p:txBody>
          <a:bodyPr/>
          <a:lstStyle/>
          <a:p>
            <a:pPr algn="just"/>
            <a:r>
              <a:rPr lang="en-US" dirty="0" smtClean="0"/>
              <a:t>The margin clears an area around an element (outside the border). The margin does not have a background color, and is completely transparent.</a:t>
            </a:r>
          </a:p>
          <a:p>
            <a:pPr algn="just"/>
            <a:r>
              <a:rPr lang="en-US" dirty="0" smtClean="0"/>
              <a:t>The top, right, bottom, and left margin can be changed independently using separate properties. A shorthand margin property can also be used, to change all margins at once.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Possible Values</a:t>
            </a:r>
            <a:endParaRPr lang="en-US" dirty="0"/>
          </a:p>
        </p:txBody>
      </p:sp>
      <p:graphicFrame>
        <p:nvGraphicFramePr>
          <p:cNvPr id="4" name="Content Placeholder 3"/>
          <p:cNvGraphicFramePr>
            <a:graphicFrameLocks noGrp="1"/>
          </p:cNvGraphicFramePr>
          <p:nvPr>
            <p:ph idx="1"/>
          </p:nvPr>
        </p:nvGraphicFramePr>
        <p:xfrm>
          <a:off x="457200" y="1600200"/>
          <a:ext cx="8229600" cy="2661920"/>
        </p:xfrm>
        <a:graphic>
          <a:graphicData uri="http://schemas.openxmlformats.org/drawingml/2006/table">
            <a:tbl>
              <a:tblPr firstRow="1" bandRow="1">
                <a:tableStyleId>{5C22544A-7EE6-4342-B048-85BDC9FD1C3A}</a:tableStyleId>
              </a:tblPr>
              <a:tblGrid>
                <a:gridCol w="4114800"/>
                <a:gridCol w="4114800"/>
              </a:tblGrid>
              <a:tr h="370840">
                <a:tc>
                  <a:txBody>
                    <a:bodyPr/>
                    <a:lstStyle/>
                    <a:p>
                      <a:pPr algn="just"/>
                      <a:r>
                        <a:rPr lang="en-US" dirty="0"/>
                        <a:t>Value</a:t>
                      </a:r>
                    </a:p>
                  </a:txBody>
                  <a:tcPr anchor="ctr"/>
                </a:tc>
                <a:tc>
                  <a:txBody>
                    <a:bodyPr/>
                    <a:lstStyle/>
                    <a:p>
                      <a:pPr algn="just"/>
                      <a:r>
                        <a:rPr lang="en-US"/>
                        <a:t>Description</a:t>
                      </a:r>
                    </a:p>
                  </a:txBody>
                  <a:tcPr anchor="ctr"/>
                </a:tc>
              </a:tr>
              <a:tr h="370840">
                <a:tc>
                  <a:txBody>
                    <a:bodyPr/>
                    <a:lstStyle/>
                    <a:p>
                      <a:pPr algn="just"/>
                      <a:r>
                        <a:rPr lang="en-US" dirty="0"/>
                        <a:t>auto</a:t>
                      </a:r>
                    </a:p>
                  </a:txBody>
                  <a:tcPr anchor="ctr"/>
                </a:tc>
                <a:tc>
                  <a:txBody>
                    <a:bodyPr/>
                    <a:lstStyle/>
                    <a:p>
                      <a:pPr algn="just"/>
                      <a:r>
                        <a:rPr lang="en-US"/>
                        <a:t>The browser calculates a margin</a:t>
                      </a:r>
                    </a:p>
                  </a:txBody>
                  <a:tcPr anchor="ctr"/>
                </a:tc>
              </a:tr>
              <a:tr h="370840">
                <a:tc>
                  <a:txBody>
                    <a:bodyPr/>
                    <a:lstStyle/>
                    <a:p>
                      <a:pPr algn="just"/>
                      <a:r>
                        <a:rPr lang="en-US" i="1"/>
                        <a:t>length</a:t>
                      </a:r>
                      <a:endParaRPr lang="en-US"/>
                    </a:p>
                  </a:txBody>
                  <a:tcPr anchor="ctr"/>
                </a:tc>
                <a:tc>
                  <a:txBody>
                    <a:bodyPr/>
                    <a:lstStyle/>
                    <a:p>
                      <a:pPr algn="just"/>
                      <a:r>
                        <a:rPr lang="en-US"/>
                        <a:t>Specifies a margin in px, pt, cm, etc. Default value is 0px</a:t>
                      </a:r>
                    </a:p>
                  </a:txBody>
                  <a:tcPr anchor="ctr"/>
                </a:tc>
              </a:tr>
              <a:tr h="370840">
                <a:tc>
                  <a:txBody>
                    <a:bodyPr/>
                    <a:lstStyle/>
                    <a:p>
                      <a:pPr algn="just"/>
                      <a:r>
                        <a:rPr lang="en-US" i="1"/>
                        <a:t>%</a:t>
                      </a:r>
                      <a:endParaRPr lang="en-US"/>
                    </a:p>
                  </a:txBody>
                  <a:tcPr anchor="ctr"/>
                </a:tc>
                <a:tc>
                  <a:txBody>
                    <a:bodyPr/>
                    <a:lstStyle/>
                    <a:p>
                      <a:pPr algn="just"/>
                      <a:r>
                        <a:rPr lang="en-US"/>
                        <a:t>Specifies a margin in percent of the width of the containing element</a:t>
                      </a:r>
                    </a:p>
                  </a:txBody>
                  <a:tcPr anchor="ctr"/>
                </a:tc>
              </a:tr>
              <a:tr h="370840">
                <a:tc>
                  <a:txBody>
                    <a:bodyPr/>
                    <a:lstStyle/>
                    <a:p>
                      <a:pPr algn="just"/>
                      <a:r>
                        <a:rPr lang="en-US"/>
                        <a:t>inherit</a:t>
                      </a:r>
                    </a:p>
                  </a:txBody>
                  <a:tcPr anchor="ctr"/>
                </a:tc>
                <a:tc>
                  <a:txBody>
                    <a:bodyPr/>
                    <a:lstStyle/>
                    <a:p>
                      <a:pPr algn="just"/>
                      <a:r>
                        <a:rPr lang="en-US" dirty="0"/>
                        <a:t>Specifies that the margin should be inherited from the parent element</a:t>
                      </a:r>
                    </a:p>
                  </a:txBody>
                  <a:tcPr anchor="ctr"/>
                </a:tc>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Margin - Individual sides</a:t>
            </a:r>
            <a:endParaRPr lang="en-US" dirty="0"/>
          </a:p>
        </p:txBody>
      </p:sp>
      <p:sp>
        <p:nvSpPr>
          <p:cNvPr id="3" name="Content Placeholder 2"/>
          <p:cNvSpPr>
            <a:spLocks noGrp="1"/>
          </p:cNvSpPr>
          <p:nvPr>
            <p:ph idx="1"/>
          </p:nvPr>
        </p:nvSpPr>
        <p:spPr/>
        <p:txBody>
          <a:bodyPr/>
          <a:lstStyle/>
          <a:p>
            <a:pPr algn="just"/>
            <a:r>
              <a:rPr lang="en-US" dirty="0" smtClean="0"/>
              <a:t>In CSS, it is possible to specify different margins for different sides:</a:t>
            </a:r>
          </a:p>
          <a:p>
            <a:r>
              <a:rPr lang="en-US" b="1" dirty="0" smtClean="0"/>
              <a:t>Example</a:t>
            </a:r>
          </a:p>
          <a:p>
            <a:r>
              <a:rPr lang="en-US" dirty="0" smtClean="0"/>
              <a:t>margin-top:100px;</a:t>
            </a:r>
            <a:br>
              <a:rPr lang="en-US" dirty="0" smtClean="0"/>
            </a:br>
            <a:r>
              <a:rPr lang="en-US" dirty="0" smtClean="0"/>
              <a:t>margin-bottom:100px;</a:t>
            </a:r>
            <a:br>
              <a:rPr lang="en-US" dirty="0" smtClean="0"/>
            </a:br>
            <a:r>
              <a:rPr lang="en-US" dirty="0" smtClean="0"/>
              <a:t>margin-right:50px;</a:t>
            </a:r>
            <a:br>
              <a:rPr lang="en-US" dirty="0" smtClean="0"/>
            </a:br>
            <a:r>
              <a:rPr lang="en-US" dirty="0" smtClean="0"/>
              <a:t>margin-left:50px;</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Margin - Shorthand property</a:t>
            </a:r>
            <a:endParaRPr lang="en-US" dirty="0"/>
          </a:p>
        </p:txBody>
      </p:sp>
      <p:sp>
        <p:nvSpPr>
          <p:cNvPr id="3" name="Content Placeholder 2"/>
          <p:cNvSpPr>
            <a:spLocks noGrp="1"/>
          </p:cNvSpPr>
          <p:nvPr>
            <p:ph idx="1"/>
          </p:nvPr>
        </p:nvSpPr>
        <p:spPr/>
        <p:txBody>
          <a:bodyPr/>
          <a:lstStyle/>
          <a:p>
            <a:pPr algn="just"/>
            <a:r>
              <a:rPr lang="en-US" dirty="0" smtClean="0"/>
              <a:t>To shorten the code, it is possible to specify all the margin properties in one property. This is called a shorthand property.</a:t>
            </a:r>
          </a:p>
          <a:p>
            <a:pPr algn="just"/>
            <a:r>
              <a:rPr lang="en-US" dirty="0" smtClean="0"/>
              <a:t>The shorthand property for all the margin properties is "margin":</a:t>
            </a:r>
          </a:p>
          <a:p>
            <a:pPr>
              <a:buNone/>
            </a:pPr>
            <a:r>
              <a:rPr lang="en-US" b="1" dirty="0" smtClean="0"/>
              <a:t>    Example</a:t>
            </a:r>
          </a:p>
          <a:p>
            <a:r>
              <a:rPr lang="en-US" dirty="0" smtClean="0"/>
              <a:t>margin:100px 50px;</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smtClean="0"/>
              <a:t>The margin property can have from one to four values.</a:t>
            </a:r>
          </a:p>
          <a:p>
            <a:r>
              <a:rPr lang="en-US" b="1" dirty="0" smtClean="0"/>
              <a:t>margin:25px 50px 75px 100px; </a:t>
            </a:r>
            <a:endParaRPr lang="en-US" dirty="0" smtClean="0"/>
          </a:p>
          <a:p>
            <a:pPr lvl="1"/>
            <a:r>
              <a:rPr lang="en-US" dirty="0" smtClean="0"/>
              <a:t>top margin is 25px</a:t>
            </a:r>
          </a:p>
          <a:p>
            <a:pPr lvl="1"/>
            <a:r>
              <a:rPr lang="en-US" dirty="0" smtClean="0"/>
              <a:t>right margin is 50px</a:t>
            </a:r>
          </a:p>
          <a:p>
            <a:pPr lvl="1"/>
            <a:r>
              <a:rPr lang="en-US" dirty="0" smtClean="0"/>
              <a:t>bottom margin is 75px</a:t>
            </a:r>
          </a:p>
          <a:p>
            <a:pPr lvl="1"/>
            <a:r>
              <a:rPr lang="en-US" dirty="0" smtClean="0"/>
              <a:t>left margin is 100px</a:t>
            </a:r>
          </a:p>
          <a:p>
            <a:r>
              <a:rPr lang="en-US" b="1" dirty="0" smtClean="0"/>
              <a:t>margin:25px 50px 75px;</a:t>
            </a:r>
            <a:endParaRPr lang="en-US" dirty="0" smtClean="0"/>
          </a:p>
          <a:p>
            <a:pPr lvl="1"/>
            <a:r>
              <a:rPr lang="en-US" dirty="0" smtClean="0"/>
              <a:t>top margin is 25px</a:t>
            </a:r>
          </a:p>
          <a:p>
            <a:pPr lvl="1"/>
            <a:r>
              <a:rPr lang="en-US" dirty="0" smtClean="0"/>
              <a:t>right and left margins are 50px</a:t>
            </a:r>
          </a:p>
          <a:p>
            <a:pPr lvl="1"/>
            <a:r>
              <a:rPr lang="en-US" dirty="0" smtClean="0"/>
              <a:t>bottom margin is 75px</a:t>
            </a:r>
          </a:p>
          <a:p>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margin:25px 50px;</a:t>
            </a:r>
          </a:p>
          <a:p>
            <a:pPr>
              <a:buNone/>
            </a:pPr>
            <a:r>
              <a:rPr lang="en-US" b="1" dirty="0" smtClean="0"/>
              <a:t>   - </a:t>
            </a:r>
            <a:r>
              <a:rPr lang="en-US" dirty="0" smtClean="0"/>
              <a:t>top and bottom margins are 25px</a:t>
            </a:r>
          </a:p>
          <a:p>
            <a:pPr>
              <a:buNone/>
            </a:pPr>
            <a:r>
              <a:rPr lang="en-US" dirty="0" smtClean="0"/>
              <a:t>   - right and left margins are 50px</a:t>
            </a:r>
          </a:p>
          <a:p>
            <a:r>
              <a:rPr lang="en-US" b="1" dirty="0" smtClean="0"/>
              <a:t>margin:25px;</a:t>
            </a:r>
          </a:p>
          <a:p>
            <a:pPr>
              <a:buNone/>
            </a:pPr>
            <a:r>
              <a:rPr lang="en-US" b="1" dirty="0" smtClean="0"/>
              <a:t>   - </a:t>
            </a:r>
            <a:r>
              <a:rPr lang="en-US" dirty="0" smtClean="0"/>
              <a:t>all four margins are 25px</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Padding</a:t>
            </a:r>
            <a:endParaRPr lang="en-US" dirty="0"/>
          </a:p>
        </p:txBody>
      </p:sp>
      <p:sp>
        <p:nvSpPr>
          <p:cNvPr id="3" name="Content Placeholder 2"/>
          <p:cNvSpPr>
            <a:spLocks noGrp="1"/>
          </p:cNvSpPr>
          <p:nvPr>
            <p:ph idx="1"/>
          </p:nvPr>
        </p:nvSpPr>
        <p:spPr/>
        <p:txBody>
          <a:bodyPr/>
          <a:lstStyle/>
          <a:p>
            <a:pPr algn="just"/>
            <a:r>
              <a:rPr lang="en-US" dirty="0" smtClean="0"/>
              <a:t>The padding clears an area around the content (inside the border) of an element. The padding is affected by the background color of the element.</a:t>
            </a:r>
          </a:p>
          <a:p>
            <a:pPr algn="just"/>
            <a:r>
              <a:rPr lang="en-US" dirty="0" smtClean="0"/>
              <a:t>The top, right, bottom, and left padding can be changed independently using separate properties. A shorthand padding property can also be used, to change all </a:t>
            </a:r>
            <a:r>
              <a:rPr lang="en-US" dirty="0" err="1" smtClean="0"/>
              <a:t>paddings</a:t>
            </a:r>
            <a:r>
              <a:rPr lang="en-US" dirty="0" smtClean="0"/>
              <a:t> at once.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Possible Values</a:t>
            </a:r>
            <a:endParaRPr lang="en-US" dirty="0"/>
          </a:p>
        </p:txBody>
      </p:sp>
      <p:graphicFrame>
        <p:nvGraphicFramePr>
          <p:cNvPr id="4" name="Content Placeholder 3"/>
          <p:cNvGraphicFramePr>
            <a:graphicFrameLocks noGrp="1"/>
          </p:cNvGraphicFramePr>
          <p:nvPr>
            <p:ph idx="1"/>
          </p:nvPr>
        </p:nvGraphicFramePr>
        <p:xfrm>
          <a:off x="457200" y="1600200"/>
          <a:ext cx="8229600" cy="1651000"/>
        </p:xfrm>
        <a:graphic>
          <a:graphicData uri="http://schemas.openxmlformats.org/drawingml/2006/table">
            <a:tbl>
              <a:tblPr firstRow="1" bandRow="1">
                <a:tableStyleId>{5C22544A-7EE6-4342-B048-85BDC9FD1C3A}</a:tableStyleId>
              </a:tblPr>
              <a:tblGrid>
                <a:gridCol w="4114800"/>
                <a:gridCol w="4114800"/>
              </a:tblGrid>
              <a:tr h="370840">
                <a:tc>
                  <a:txBody>
                    <a:bodyPr/>
                    <a:lstStyle/>
                    <a:p>
                      <a:pPr algn="just"/>
                      <a:r>
                        <a:rPr lang="en-US" dirty="0"/>
                        <a:t>Value</a:t>
                      </a:r>
                    </a:p>
                  </a:txBody>
                  <a:tcPr anchor="ctr"/>
                </a:tc>
                <a:tc>
                  <a:txBody>
                    <a:bodyPr/>
                    <a:lstStyle/>
                    <a:p>
                      <a:pPr algn="just"/>
                      <a:r>
                        <a:rPr lang="en-US"/>
                        <a:t>Description</a:t>
                      </a:r>
                    </a:p>
                  </a:txBody>
                  <a:tcPr anchor="ctr"/>
                </a:tc>
              </a:tr>
              <a:tr h="370840">
                <a:tc>
                  <a:txBody>
                    <a:bodyPr/>
                    <a:lstStyle/>
                    <a:p>
                      <a:pPr algn="just"/>
                      <a:r>
                        <a:rPr lang="en-US" i="1" dirty="0"/>
                        <a:t>length</a:t>
                      </a:r>
                      <a:endParaRPr lang="en-US" dirty="0"/>
                    </a:p>
                  </a:txBody>
                  <a:tcPr anchor="ctr"/>
                </a:tc>
                <a:tc>
                  <a:txBody>
                    <a:bodyPr/>
                    <a:lstStyle/>
                    <a:p>
                      <a:pPr algn="just"/>
                      <a:r>
                        <a:rPr lang="en-US"/>
                        <a:t>Defines a fixed padding (in pixels, pt, em, etc.)</a:t>
                      </a:r>
                    </a:p>
                  </a:txBody>
                  <a:tcPr anchor="ctr"/>
                </a:tc>
              </a:tr>
              <a:tr h="370840">
                <a:tc>
                  <a:txBody>
                    <a:bodyPr/>
                    <a:lstStyle/>
                    <a:p>
                      <a:pPr algn="just"/>
                      <a:r>
                        <a:rPr lang="en-US" i="1"/>
                        <a:t>%</a:t>
                      </a:r>
                      <a:endParaRPr lang="en-US"/>
                    </a:p>
                  </a:txBody>
                  <a:tcPr anchor="ctr"/>
                </a:tc>
                <a:tc>
                  <a:txBody>
                    <a:bodyPr/>
                    <a:lstStyle/>
                    <a:p>
                      <a:pPr algn="just"/>
                      <a:r>
                        <a:rPr lang="en-US" dirty="0"/>
                        <a:t>Defines a padding in % of the containing element</a:t>
                      </a:r>
                    </a:p>
                  </a:txBody>
                  <a:tcPr anchor="ctr"/>
                </a:tc>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Padding - Individual sides</a:t>
            </a:r>
            <a:endParaRPr lang="en-US" dirty="0"/>
          </a:p>
        </p:txBody>
      </p:sp>
      <p:sp>
        <p:nvSpPr>
          <p:cNvPr id="3" name="Content Placeholder 2"/>
          <p:cNvSpPr>
            <a:spLocks noGrp="1"/>
          </p:cNvSpPr>
          <p:nvPr>
            <p:ph idx="1"/>
          </p:nvPr>
        </p:nvSpPr>
        <p:spPr/>
        <p:txBody>
          <a:bodyPr/>
          <a:lstStyle/>
          <a:p>
            <a:pPr algn="just"/>
            <a:r>
              <a:rPr lang="en-US" dirty="0" smtClean="0"/>
              <a:t>In CSS, it is possible to specify different padding for different sides:</a:t>
            </a:r>
          </a:p>
          <a:p>
            <a:r>
              <a:rPr lang="en-US" b="1" dirty="0" smtClean="0"/>
              <a:t>Example</a:t>
            </a:r>
          </a:p>
          <a:p>
            <a:r>
              <a:rPr lang="en-US" dirty="0" smtClean="0"/>
              <a:t>padding-top:25px;</a:t>
            </a:r>
            <a:br>
              <a:rPr lang="en-US" dirty="0" smtClean="0"/>
            </a:br>
            <a:r>
              <a:rPr lang="en-US" dirty="0" smtClean="0"/>
              <a:t>padding-bottom:25px;</a:t>
            </a:r>
            <a:br>
              <a:rPr lang="en-US" dirty="0" smtClean="0"/>
            </a:br>
            <a:r>
              <a:rPr lang="en-US" dirty="0" smtClean="0"/>
              <a:t>padding-right:50px;</a:t>
            </a:r>
            <a:br>
              <a:rPr lang="en-US" dirty="0" smtClean="0"/>
            </a:br>
            <a:r>
              <a:rPr lang="en-US" dirty="0" smtClean="0"/>
              <a:t>padding-left:50px;</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Padding - Shorthand property</a:t>
            </a:r>
            <a:endParaRPr lang="en-US" dirty="0"/>
          </a:p>
        </p:txBody>
      </p:sp>
      <p:sp>
        <p:nvSpPr>
          <p:cNvPr id="3" name="Content Placeholder 2"/>
          <p:cNvSpPr>
            <a:spLocks noGrp="1"/>
          </p:cNvSpPr>
          <p:nvPr>
            <p:ph idx="1"/>
          </p:nvPr>
        </p:nvSpPr>
        <p:spPr/>
        <p:txBody>
          <a:bodyPr/>
          <a:lstStyle/>
          <a:p>
            <a:pPr algn="just"/>
            <a:r>
              <a:rPr lang="en-US" dirty="0" smtClean="0"/>
              <a:t>To shorten the code, it is possible to specify all the padding properties in one property. This is called a shorthand property.</a:t>
            </a:r>
          </a:p>
          <a:p>
            <a:pPr algn="just"/>
            <a:r>
              <a:rPr lang="en-US" dirty="0" smtClean="0"/>
              <a:t>The shorthand property for all the padding properties is "padding":</a:t>
            </a:r>
          </a:p>
          <a:p>
            <a:r>
              <a:rPr lang="en-US" b="1" dirty="0" smtClean="0"/>
              <a:t>Example</a:t>
            </a:r>
          </a:p>
          <a:p>
            <a:r>
              <a:rPr lang="en-US" dirty="0" smtClean="0"/>
              <a:t>padding:25px 50px;</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The padding property can have from one to four values.</a:t>
            </a:r>
          </a:p>
          <a:p>
            <a:r>
              <a:rPr lang="en-US" b="1" dirty="0" smtClean="0"/>
              <a:t>padding:25px 50px 75px 100px; </a:t>
            </a:r>
            <a:endParaRPr lang="en-US" dirty="0" smtClean="0"/>
          </a:p>
          <a:p>
            <a:pPr lvl="1"/>
            <a:r>
              <a:rPr lang="en-US" dirty="0" smtClean="0"/>
              <a:t>top padding is 25px</a:t>
            </a:r>
          </a:p>
          <a:p>
            <a:pPr lvl="1"/>
            <a:r>
              <a:rPr lang="en-US" dirty="0" smtClean="0"/>
              <a:t>right padding is 50px</a:t>
            </a:r>
          </a:p>
          <a:p>
            <a:pPr lvl="1"/>
            <a:r>
              <a:rPr lang="en-US" dirty="0" smtClean="0"/>
              <a:t>bottom padding is 75px</a:t>
            </a:r>
          </a:p>
          <a:p>
            <a:pPr lvl="1"/>
            <a:r>
              <a:rPr lang="en-US" dirty="0" smtClean="0"/>
              <a:t>left padding is 100px</a:t>
            </a:r>
          </a:p>
          <a:p>
            <a:pPr lvl="1"/>
            <a:endParaRPr lang="en-US" dirty="0" smtClean="0"/>
          </a:p>
          <a:p>
            <a:r>
              <a:rPr lang="en-US" b="1" dirty="0" smtClean="0"/>
              <a:t>padding:25px 50px 75px;</a:t>
            </a:r>
            <a:endParaRPr lang="en-US" dirty="0" smtClean="0"/>
          </a:p>
          <a:p>
            <a:pPr lvl="1"/>
            <a:r>
              <a:rPr lang="en-US" dirty="0" smtClean="0"/>
              <a:t>top padding is 25px</a:t>
            </a:r>
          </a:p>
          <a:p>
            <a:pPr lvl="1"/>
            <a:r>
              <a:rPr lang="en-US" dirty="0" smtClean="0"/>
              <a:t>right and left </a:t>
            </a:r>
            <a:r>
              <a:rPr lang="en-US" dirty="0" err="1" smtClean="0"/>
              <a:t>paddings</a:t>
            </a:r>
            <a:r>
              <a:rPr lang="en-US" dirty="0" smtClean="0"/>
              <a:t> are 50px</a:t>
            </a:r>
          </a:p>
          <a:p>
            <a:pPr lvl="1"/>
            <a:r>
              <a:rPr lang="en-US" dirty="0" smtClean="0"/>
              <a:t>bottom padding is 75px</a:t>
            </a:r>
            <a:br>
              <a:rPr lang="en-US" dirty="0" smtClean="0"/>
            </a:br>
            <a:endParaRPr lang="en-US" dirty="0" smtClean="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padding:25px 50px;</a:t>
            </a:r>
            <a:endParaRPr lang="en-US" dirty="0" smtClean="0"/>
          </a:p>
          <a:p>
            <a:pPr lvl="1"/>
            <a:r>
              <a:rPr lang="en-US" dirty="0" smtClean="0"/>
              <a:t>top and bottom </a:t>
            </a:r>
            <a:r>
              <a:rPr lang="en-US" dirty="0" err="1" smtClean="0"/>
              <a:t>paddings</a:t>
            </a:r>
            <a:r>
              <a:rPr lang="en-US" dirty="0" smtClean="0"/>
              <a:t> are 25px</a:t>
            </a:r>
          </a:p>
          <a:p>
            <a:pPr lvl="1"/>
            <a:r>
              <a:rPr lang="en-US" dirty="0" smtClean="0"/>
              <a:t>right and left </a:t>
            </a:r>
            <a:r>
              <a:rPr lang="en-US" dirty="0" err="1" smtClean="0"/>
              <a:t>paddings</a:t>
            </a:r>
            <a:r>
              <a:rPr lang="en-US" dirty="0" smtClean="0"/>
              <a:t> are 50px</a:t>
            </a:r>
            <a:br>
              <a:rPr lang="en-US" dirty="0" smtClean="0"/>
            </a:br>
            <a:endParaRPr lang="en-US" dirty="0" smtClean="0"/>
          </a:p>
          <a:p>
            <a:r>
              <a:rPr lang="en-US" b="1" dirty="0" smtClean="0"/>
              <a:t>padding:25px;</a:t>
            </a:r>
            <a:endParaRPr lang="en-US" dirty="0" smtClean="0"/>
          </a:p>
          <a:p>
            <a:pPr lvl="1"/>
            <a:r>
              <a:rPr lang="en-US" dirty="0" smtClean="0"/>
              <a:t>all four </a:t>
            </a:r>
            <a:r>
              <a:rPr lang="en-US" dirty="0" err="1" smtClean="0"/>
              <a:t>paddings</a:t>
            </a:r>
            <a:r>
              <a:rPr lang="en-US" dirty="0" smtClean="0"/>
              <a:t> are 25px</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CSS Grouping and Nesting Selectors</a:t>
            </a:r>
            <a:endParaRPr lang="en-US" dirty="0"/>
          </a:p>
        </p:txBody>
      </p:sp>
      <p:sp>
        <p:nvSpPr>
          <p:cNvPr id="3" name="Content Placeholder 2"/>
          <p:cNvSpPr>
            <a:spLocks noGrp="1"/>
          </p:cNvSpPr>
          <p:nvPr>
            <p:ph idx="1"/>
          </p:nvPr>
        </p:nvSpPr>
        <p:spPr/>
        <p:txBody>
          <a:bodyPr>
            <a:noAutofit/>
          </a:bodyPr>
          <a:lstStyle/>
          <a:p>
            <a:pPr>
              <a:buNone/>
            </a:pPr>
            <a:r>
              <a:rPr lang="en-US" sz="2000" b="1" dirty="0" smtClean="0"/>
              <a:t>     Grouping Selectors</a:t>
            </a:r>
          </a:p>
          <a:p>
            <a:r>
              <a:rPr lang="en-US" sz="2000" dirty="0" smtClean="0"/>
              <a:t>In style sheets there are often elements with the same style.</a:t>
            </a:r>
          </a:p>
          <a:p>
            <a:pPr>
              <a:buNone/>
            </a:pPr>
            <a:r>
              <a:rPr lang="en-US" sz="2000" dirty="0" smtClean="0"/>
              <a:t>     </a:t>
            </a:r>
          </a:p>
          <a:p>
            <a:pPr>
              <a:buNone/>
            </a:pPr>
            <a:r>
              <a:rPr lang="en-US" sz="2000" dirty="0" smtClean="0"/>
              <a:t>      h1</a:t>
            </a:r>
            <a:br>
              <a:rPr lang="en-US" sz="2000" dirty="0" smtClean="0"/>
            </a:br>
            <a:r>
              <a:rPr lang="en-US" sz="2000" dirty="0" smtClean="0"/>
              <a:t>{</a:t>
            </a:r>
            <a:br>
              <a:rPr lang="en-US" sz="2000" dirty="0" smtClean="0"/>
            </a:br>
            <a:r>
              <a:rPr lang="en-US" sz="2000" dirty="0" err="1" smtClean="0"/>
              <a:t>color:green</a:t>
            </a:r>
            <a:r>
              <a:rPr lang="en-US" sz="2000" dirty="0" smtClean="0"/>
              <a:t>;</a:t>
            </a:r>
            <a:br>
              <a:rPr lang="en-US" sz="2000" dirty="0" smtClean="0"/>
            </a:br>
            <a:r>
              <a:rPr lang="en-US" sz="2000" dirty="0" smtClean="0"/>
              <a:t>}</a:t>
            </a:r>
            <a:br>
              <a:rPr lang="en-US" sz="2000" dirty="0" smtClean="0"/>
            </a:br>
            <a:r>
              <a:rPr lang="en-US" sz="2000" dirty="0" smtClean="0"/>
              <a:t>h2</a:t>
            </a:r>
            <a:br>
              <a:rPr lang="en-US" sz="2000" dirty="0" smtClean="0"/>
            </a:br>
            <a:r>
              <a:rPr lang="en-US" sz="2000" dirty="0" smtClean="0"/>
              <a:t>{</a:t>
            </a:r>
            <a:br>
              <a:rPr lang="en-US" sz="2000" dirty="0" smtClean="0"/>
            </a:br>
            <a:r>
              <a:rPr lang="en-US" sz="2000" dirty="0" err="1" smtClean="0"/>
              <a:t>color:green</a:t>
            </a:r>
            <a:r>
              <a:rPr lang="en-US" sz="2000" dirty="0" smtClean="0"/>
              <a:t>;</a:t>
            </a:r>
            <a:br>
              <a:rPr lang="en-US" sz="2000" dirty="0" smtClean="0"/>
            </a:br>
            <a:r>
              <a:rPr lang="en-US" sz="2000" dirty="0" smtClean="0"/>
              <a:t>}</a:t>
            </a:r>
            <a:br>
              <a:rPr lang="en-US" sz="2000" dirty="0" smtClean="0"/>
            </a:br>
            <a:r>
              <a:rPr lang="en-US" sz="2000" dirty="0" smtClean="0"/>
              <a:t>p</a:t>
            </a:r>
            <a:br>
              <a:rPr lang="en-US" sz="2000" dirty="0" smtClean="0"/>
            </a:br>
            <a:r>
              <a:rPr lang="en-US" sz="2000" dirty="0" smtClean="0"/>
              <a:t>{</a:t>
            </a:r>
            <a:br>
              <a:rPr lang="en-US" sz="2000" dirty="0" smtClean="0"/>
            </a:br>
            <a:r>
              <a:rPr lang="en-US" sz="2000" dirty="0" err="1" smtClean="0"/>
              <a:t>color:green</a:t>
            </a:r>
            <a:r>
              <a:rPr lang="en-US" sz="2000" dirty="0" smtClean="0"/>
              <a:t>;</a:t>
            </a:r>
            <a:br>
              <a:rPr lang="en-US" sz="2000" dirty="0" smtClean="0"/>
            </a:br>
            <a:r>
              <a:rPr lang="en-US" sz="2000" dirty="0" smtClean="0"/>
              <a:t>}</a:t>
            </a:r>
          </a:p>
          <a:p>
            <a:endParaRPr lang="en-US" sz="2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Grouping Selectors</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To minimize the code, you can group selectors.</a:t>
            </a:r>
          </a:p>
          <a:p>
            <a:pPr algn="just"/>
            <a:r>
              <a:rPr lang="en-US" dirty="0" smtClean="0"/>
              <a:t>Separate each selector with a comma.</a:t>
            </a:r>
          </a:p>
          <a:p>
            <a:pPr algn="just"/>
            <a:r>
              <a:rPr lang="en-US" dirty="0" smtClean="0"/>
              <a:t>In the example below we have grouped the selectors from the code above:</a:t>
            </a:r>
          </a:p>
          <a:p>
            <a:pPr>
              <a:buNone/>
            </a:pPr>
            <a:r>
              <a:rPr lang="en-US" b="1" dirty="0" smtClean="0"/>
              <a:t>    Example</a:t>
            </a:r>
          </a:p>
          <a:p>
            <a:pPr>
              <a:buNone/>
            </a:pPr>
            <a:r>
              <a:rPr lang="en-US" dirty="0" smtClean="0"/>
              <a:t>    h1,h2,p</a:t>
            </a:r>
            <a:br>
              <a:rPr lang="en-US" dirty="0" smtClean="0"/>
            </a:br>
            <a:r>
              <a:rPr lang="en-US" dirty="0" smtClean="0"/>
              <a:t>{</a:t>
            </a:r>
            <a:br>
              <a:rPr lang="en-US" dirty="0" smtClean="0"/>
            </a:br>
            <a:r>
              <a:rPr lang="en-US" dirty="0" err="1" smtClean="0"/>
              <a:t>color:green</a:t>
            </a:r>
            <a:r>
              <a:rPr lang="en-US" dirty="0" smtClean="0"/>
              <a:t>;</a:t>
            </a:r>
            <a:br>
              <a:rPr lang="en-US" dirty="0" smtClean="0"/>
            </a:br>
            <a:r>
              <a:rPr lang="en-US" dirty="0" smtClean="0"/>
              <a:t>}</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Nesting Selectors</a:t>
            </a:r>
            <a:endParaRPr lang="en-US" dirty="0"/>
          </a:p>
        </p:txBody>
      </p:sp>
      <p:sp>
        <p:nvSpPr>
          <p:cNvPr id="3" name="Content Placeholder 2"/>
          <p:cNvSpPr>
            <a:spLocks noGrp="1"/>
          </p:cNvSpPr>
          <p:nvPr>
            <p:ph idx="1"/>
          </p:nvPr>
        </p:nvSpPr>
        <p:spPr/>
        <p:txBody>
          <a:bodyPr/>
          <a:lstStyle/>
          <a:p>
            <a:pPr algn="just"/>
            <a:r>
              <a:rPr lang="en-US" dirty="0" smtClean="0"/>
              <a:t>It is possible to apply a style for a selector within a selector.</a:t>
            </a:r>
          </a:p>
          <a:p>
            <a:pPr algn="just"/>
            <a:r>
              <a:rPr lang="en-US" dirty="0" smtClean="0"/>
              <a:t>In the example below, one style is specified for all p elements, one style is specified for all elements with class="marked", and a third style is specified only for p elements within elements with class="marked":</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Nesting Selectors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Example</a:t>
            </a:r>
          </a:p>
          <a:p>
            <a:pPr>
              <a:buNone/>
            </a:pPr>
            <a:r>
              <a:rPr lang="en-US" dirty="0" smtClean="0"/>
              <a:t>     p</a:t>
            </a:r>
            <a:br>
              <a:rPr lang="en-US" dirty="0" smtClean="0"/>
            </a:br>
            <a:r>
              <a:rPr lang="en-US" dirty="0" smtClean="0"/>
              <a:t>{</a:t>
            </a:r>
            <a:br>
              <a:rPr lang="en-US" dirty="0" smtClean="0"/>
            </a:br>
            <a:r>
              <a:rPr lang="en-US" dirty="0" err="1" smtClean="0"/>
              <a:t>color:blue</a:t>
            </a:r>
            <a:r>
              <a:rPr lang="en-US" dirty="0" smtClean="0"/>
              <a:t>;</a:t>
            </a:r>
            <a:br>
              <a:rPr lang="en-US" dirty="0" smtClean="0"/>
            </a:br>
            <a:r>
              <a:rPr lang="en-US" dirty="0" smtClean="0"/>
              <a:t>text-</a:t>
            </a:r>
            <a:r>
              <a:rPr lang="en-US" dirty="0" err="1" smtClean="0"/>
              <a:t>align:center</a:t>
            </a:r>
            <a:r>
              <a:rPr lang="en-US" dirty="0" smtClean="0"/>
              <a:t>;</a:t>
            </a:r>
            <a:br>
              <a:rPr lang="en-US" dirty="0" smtClean="0"/>
            </a:br>
            <a:r>
              <a:rPr lang="en-US" dirty="0" smtClean="0"/>
              <a:t>}</a:t>
            </a:r>
            <a:br>
              <a:rPr lang="en-US" dirty="0" smtClean="0"/>
            </a:br>
            <a:r>
              <a:rPr lang="en-US" dirty="0" smtClean="0"/>
              <a:t>.marked</a:t>
            </a:r>
            <a:br>
              <a:rPr lang="en-US" dirty="0" smtClean="0"/>
            </a:br>
            <a:r>
              <a:rPr lang="en-US" dirty="0" smtClean="0"/>
              <a:t>{</a:t>
            </a:r>
            <a:br>
              <a:rPr lang="en-US" dirty="0" smtClean="0"/>
            </a:br>
            <a:r>
              <a:rPr lang="en-US" dirty="0" smtClean="0"/>
              <a:t>background-</a:t>
            </a:r>
            <a:r>
              <a:rPr lang="en-US" dirty="0" err="1" smtClean="0"/>
              <a:t>color:red</a:t>
            </a:r>
            <a:r>
              <a:rPr lang="en-US" dirty="0" smtClean="0"/>
              <a:t>;</a:t>
            </a:r>
            <a:br>
              <a:rPr lang="en-US" dirty="0" smtClean="0"/>
            </a:br>
            <a:r>
              <a:rPr lang="en-US" dirty="0" smtClean="0"/>
              <a:t>}</a:t>
            </a:r>
            <a:br>
              <a:rPr lang="en-US" dirty="0" smtClean="0"/>
            </a:br>
            <a:r>
              <a:rPr lang="en-US" dirty="0" smtClean="0"/>
              <a:t>.marked p</a:t>
            </a:r>
            <a:br>
              <a:rPr lang="en-US" dirty="0" smtClean="0"/>
            </a:br>
            <a:r>
              <a:rPr lang="en-US" dirty="0" smtClean="0"/>
              <a:t>{</a:t>
            </a:r>
            <a:br>
              <a:rPr lang="en-US" dirty="0" smtClean="0"/>
            </a:br>
            <a:r>
              <a:rPr lang="en-US" dirty="0" err="1" smtClean="0"/>
              <a:t>color:white</a:t>
            </a:r>
            <a:r>
              <a:rPr lang="en-US" dirty="0" smtClean="0"/>
              <a:t>;</a:t>
            </a:r>
            <a:br>
              <a:rPr lang="en-US" dirty="0" smtClean="0"/>
            </a:br>
            <a:r>
              <a:rPr lang="en-US" dirty="0" smtClean="0"/>
              <a:t>}</a:t>
            </a:r>
          </a:p>
          <a:p>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CSS Positioning</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Positioning</a:t>
            </a:r>
          </a:p>
          <a:p>
            <a:pPr algn="just"/>
            <a:r>
              <a:rPr lang="en-US" dirty="0" smtClean="0"/>
              <a:t>The CSS positioning properties allow you to position an element. It can also place an element behind another, and specify what should happen when an element's content is too big.</a:t>
            </a:r>
          </a:p>
          <a:p>
            <a:pPr algn="just"/>
            <a:r>
              <a:rPr lang="en-US" dirty="0" smtClean="0"/>
              <a:t>Elements can be positioned using the top, bottom, left, and right properties. However, these properties will not work unless the position property is set first. They also work differently depending on the positioning method.</a:t>
            </a:r>
          </a:p>
          <a:p>
            <a:pPr algn="just"/>
            <a:r>
              <a:rPr lang="en-US" dirty="0" smtClean="0"/>
              <a:t>There are four different positioning methods.</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CSS Positioning</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Static Positioning</a:t>
            </a:r>
          </a:p>
          <a:p>
            <a:pPr algn="just"/>
            <a:r>
              <a:rPr lang="en-US" dirty="0" smtClean="0"/>
              <a:t>HTML elements are positioned static by default. A static positioned element is always positioned according to the normal flow of the page.</a:t>
            </a:r>
          </a:p>
          <a:p>
            <a:pPr algn="just"/>
            <a:r>
              <a:rPr lang="en-US" dirty="0" smtClean="0"/>
              <a:t>Static positioned elements are not affected by the top, bottom, left, and right properties.</a:t>
            </a:r>
          </a:p>
          <a:p>
            <a:pPr>
              <a:buNone/>
            </a:pPr>
            <a:r>
              <a:rPr lang="en-US" b="1" dirty="0" smtClean="0"/>
              <a:t>     Fixed Positioning</a:t>
            </a:r>
          </a:p>
          <a:p>
            <a:pPr algn="just"/>
            <a:r>
              <a:rPr lang="en-US" dirty="0" smtClean="0"/>
              <a:t>An element with fixed position is positioned relative to the browser window.</a:t>
            </a:r>
          </a:p>
          <a:p>
            <a:pPr algn="just"/>
            <a:r>
              <a:rPr lang="en-US" dirty="0" smtClean="0"/>
              <a:t>It will not move even if the window is scrolled</a:t>
            </a:r>
          </a:p>
          <a:p>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CSS Positioning</a:t>
            </a:r>
            <a:endParaRPr lang="en-US" dirty="0"/>
          </a:p>
        </p:txBody>
      </p:sp>
      <p:sp>
        <p:nvSpPr>
          <p:cNvPr id="3" name="Content Placeholder 2"/>
          <p:cNvSpPr>
            <a:spLocks noGrp="1"/>
          </p:cNvSpPr>
          <p:nvPr>
            <p:ph idx="1"/>
          </p:nvPr>
        </p:nvSpPr>
        <p:spPr/>
        <p:txBody>
          <a:bodyPr/>
          <a:lstStyle/>
          <a:p>
            <a:r>
              <a:rPr lang="en-US" b="1" dirty="0" smtClean="0"/>
              <a:t>Example</a:t>
            </a:r>
          </a:p>
          <a:p>
            <a:r>
              <a:rPr lang="en-US" dirty="0" err="1" smtClean="0"/>
              <a:t>p.pos_fixed</a:t>
            </a:r>
            <a:r>
              <a:rPr lang="en-US" dirty="0" smtClean="0"/>
              <a:t/>
            </a:r>
            <a:br>
              <a:rPr lang="en-US" dirty="0" smtClean="0"/>
            </a:br>
            <a:r>
              <a:rPr lang="en-US" dirty="0" smtClean="0"/>
              <a:t>{</a:t>
            </a:r>
            <a:br>
              <a:rPr lang="en-US" dirty="0" smtClean="0"/>
            </a:br>
            <a:r>
              <a:rPr lang="en-US" dirty="0" err="1" smtClean="0"/>
              <a:t>position:fixed</a:t>
            </a:r>
            <a:r>
              <a:rPr lang="en-US" dirty="0" smtClean="0"/>
              <a:t>;</a:t>
            </a:r>
            <a:br>
              <a:rPr lang="en-US" dirty="0" smtClean="0"/>
            </a:br>
            <a:r>
              <a:rPr lang="en-US" dirty="0" smtClean="0"/>
              <a:t>top:30px;</a:t>
            </a:r>
            <a:br>
              <a:rPr lang="en-US" dirty="0" smtClean="0"/>
            </a:br>
            <a:r>
              <a:rPr lang="en-US" dirty="0" smtClean="0"/>
              <a:t>right:5px;</a:t>
            </a:r>
            <a:br>
              <a:rPr lang="en-US" dirty="0" smtClean="0"/>
            </a:br>
            <a:r>
              <a:rPr lang="en-US" dirty="0" smtClean="0"/>
              <a: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Relative Positioning</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smtClean="0"/>
              <a:t>A relative positioned element is positioned relative to its normal position.</a:t>
            </a:r>
          </a:p>
          <a:p>
            <a:pPr>
              <a:buNone/>
            </a:pPr>
            <a:r>
              <a:rPr lang="en-US" b="1" dirty="0" smtClean="0"/>
              <a:t>     Example</a:t>
            </a:r>
          </a:p>
          <a:p>
            <a:pPr>
              <a:buNone/>
            </a:pPr>
            <a:r>
              <a:rPr lang="en-US" dirty="0" smtClean="0"/>
              <a:t>     h2.pos_left</a:t>
            </a:r>
            <a:br>
              <a:rPr lang="en-US" dirty="0" smtClean="0"/>
            </a:br>
            <a:r>
              <a:rPr lang="en-US" dirty="0" smtClean="0"/>
              <a:t>{</a:t>
            </a:r>
            <a:br>
              <a:rPr lang="en-US" dirty="0" smtClean="0"/>
            </a:br>
            <a:r>
              <a:rPr lang="en-US" dirty="0" err="1" smtClean="0"/>
              <a:t>position:relative</a:t>
            </a:r>
            <a:r>
              <a:rPr lang="en-US" dirty="0" smtClean="0"/>
              <a:t>;</a:t>
            </a:r>
            <a:br>
              <a:rPr lang="en-US" dirty="0" smtClean="0"/>
            </a:br>
            <a:r>
              <a:rPr lang="en-US" dirty="0" smtClean="0"/>
              <a:t>left:-20px;</a:t>
            </a:r>
            <a:br>
              <a:rPr lang="en-US" dirty="0" smtClean="0"/>
            </a:br>
            <a:r>
              <a:rPr lang="en-US" dirty="0" smtClean="0"/>
              <a:t>}</a:t>
            </a:r>
            <a:br>
              <a:rPr lang="en-US" dirty="0" smtClean="0"/>
            </a:br>
            <a:r>
              <a:rPr lang="en-US" dirty="0" smtClean="0"/>
              <a:t>h2.pos_right</a:t>
            </a:r>
            <a:br>
              <a:rPr lang="en-US" dirty="0" smtClean="0"/>
            </a:br>
            <a:r>
              <a:rPr lang="en-US" dirty="0" smtClean="0"/>
              <a:t>{</a:t>
            </a:r>
            <a:br>
              <a:rPr lang="en-US" dirty="0" smtClean="0"/>
            </a:br>
            <a:r>
              <a:rPr lang="en-US" dirty="0" err="1" smtClean="0"/>
              <a:t>position:relative</a:t>
            </a:r>
            <a:r>
              <a:rPr lang="en-US" dirty="0" smtClean="0"/>
              <a:t>;</a:t>
            </a:r>
            <a:br>
              <a:rPr lang="en-US" dirty="0" smtClean="0"/>
            </a:br>
            <a:r>
              <a:rPr lang="en-US" dirty="0" smtClean="0"/>
              <a:t>left:20px;</a:t>
            </a:r>
            <a:br>
              <a:rPr lang="en-US" dirty="0" smtClean="0"/>
            </a:br>
            <a:r>
              <a:rPr lang="en-US" dirty="0" smtClean="0"/>
              <a:t>}</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Relative Positioning</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The content of relatively positioned elements can be moved and overlap other elements, but the reserved space for the element is still preserved in the normal flow.</a:t>
            </a:r>
          </a:p>
          <a:p>
            <a:pPr>
              <a:buNone/>
            </a:pPr>
            <a:r>
              <a:rPr lang="en-US" b="1" dirty="0" smtClean="0"/>
              <a:t>    Example</a:t>
            </a:r>
          </a:p>
          <a:p>
            <a:pPr>
              <a:buNone/>
            </a:pPr>
            <a:r>
              <a:rPr lang="en-US" dirty="0" smtClean="0"/>
              <a:t>    h2.pos_top</a:t>
            </a:r>
            <a:br>
              <a:rPr lang="en-US" dirty="0" smtClean="0"/>
            </a:br>
            <a:r>
              <a:rPr lang="en-US" dirty="0" smtClean="0"/>
              <a:t>{</a:t>
            </a:r>
            <a:br>
              <a:rPr lang="en-US" dirty="0" smtClean="0"/>
            </a:br>
            <a:r>
              <a:rPr lang="en-US" dirty="0" err="1" smtClean="0"/>
              <a:t>position:relative</a:t>
            </a:r>
            <a:r>
              <a:rPr lang="en-US" dirty="0" smtClean="0"/>
              <a:t>;</a:t>
            </a:r>
            <a:br>
              <a:rPr lang="en-US" dirty="0" smtClean="0"/>
            </a:br>
            <a:r>
              <a:rPr lang="en-US" dirty="0" smtClean="0"/>
              <a:t>top:-50px;</a:t>
            </a:r>
            <a:br>
              <a:rPr lang="en-US" dirty="0" smtClean="0"/>
            </a:br>
            <a:r>
              <a:rPr lang="en-US" dirty="0" smtClean="0"/>
              <a:t>}</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Absolute Positioning</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An absolute position element is positioned relative to the first parent element that has a position other than static. If no such element is found, the containing block is &lt;html&gt;:</a:t>
            </a:r>
          </a:p>
          <a:p>
            <a:pPr>
              <a:buNone/>
            </a:pPr>
            <a:r>
              <a:rPr lang="en-US" b="1" dirty="0" smtClean="0"/>
              <a:t>    Example</a:t>
            </a:r>
          </a:p>
          <a:p>
            <a:pPr>
              <a:buNone/>
            </a:pPr>
            <a:r>
              <a:rPr lang="en-US" dirty="0" smtClean="0"/>
              <a:t>    h2</a:t>
            </a:r>
            <a:br>
              <a:rPr lang="en-US" dirty="0" smtClean="0"/>
            </a:br>
            <a:r>
              <a:rPr lang="en-US" dirty="0" smtClean="0"/>
              <a:t>{</a:t>
            </a:r>
            <a:br>
              <a:rPr lang="en-US" dirty="0" smtClean="0"/>
            </a:br>
            <a:r>
              <a:rPr lang="en-US" dirty="0" err="1" smtClean="0"/>
              <a:t>position:absolute</a:t>
            </a:r>
            <a:r>
              <a:rPr lang="en-US" dirty="0" smtClean="0"/>
              <a:t>;</a:t>
            </a:r>
            <a:br>
              <a:rPr lang="en-US" dirty="0" smtClean="0"/>
            </a:br>
            <a:r>
              <a:rPr lang="en-US" dirty="0" smtClean="0"/>
              <a:t>left:100px;</a:t>
            </a:r>
            <a:br>
              <a:rPr lang="en-US" dirty="0" smtClean="0"/>
            </a:br>
            <a:r>
              <a:rPr lang="en-US" dirty="0" smtClean="0"/>
              <a:t>top:150px;</a:t>
            </a:r>
            <a:br>
              <a:rPr lang="en-US" dirty="0" smtClean="0"/>
            </a:br>
            <a:r>
              <a:rPr lang="en-US" dirty="0" smtClean="0"/>
              <a:t>}</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Absolute Positioning</a:t>
            </a:r>
            <a:endParaRPr lang="en-US" dirty="0"/>
          </a:p>
        </p:txBody>
      </p:sp>
      <p:sp>
        <p:nvSpPr>
          <p:cNvPr id="3" name="Content Placeholder 2"/>
          <p:cNvSpPr>
            <a:spLocks noGrp="1"/>
          </p:cNvSpPr>
          <p:nvPr>
            <p:ph idx="1"/>
          </p:nvPr>
        </p:nvSpPr>
        <p:spPr/>
        <p:txBody>
          <a:bodyPr/>
          <a:lstStyle/>
          <a:p>
            <a:pPr algn="just"/>
            <a:r>
              <a:rPr lang="en-US" dirty="0" smtClean="0"/>
              <a:t>Absolutely positioned elements are removed from the normal flow. The document and other elements behave like the absolutely positioned element does not exist.</a:t>
            </a:r>
          </a:p>
          <a:p>
            <a:pPr algn="just"/>
            <a:r>
              <a:rPr lang="en-US" dirty="0" smtClean="0"/>
              <a:t>Absolutely positioned elements can overlap other elements.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Overlapping Elements</a:t>
            </a:r>
            <a:endParaRPr lang="en-US" dirty="0"/>
          </a:p>
        </p:txBody>
      </p:sp>
      <p:sp>
        <p:nvSpPr>
          <p:cNvPr id="3" name="Content Placeholder 2"/>
          <p:cNvSpPr>
            <a:spLocks noGrp="1"/>
          </p:cNvSpPr>
          <p:nvPr>
            <p:ph idx="1"/>
          </p:nvPr>
        </p:nvSpPr>
        <p:spPr/>
        <p:txBody>
          <a:bodyPr/>
          <a:lstStyle/>
          <a:p>
            <a:pPr algn="just"/>
            <a:r>
              <a:rPr lang="en-US" dirty="0" smtClean="0"/>
              <a:t>When elements are positioned outside the normal flow, they can overlap other elements.</a:t>
            </a:r>
          </a:p>
          <a:p>
            <a:pPr algn="just"/>
            <a:r>
              <a:rPr lang="en-US" dirty="0" smtClean="0"/>
              <a:t>The z-index property specifies the stack order of an element (which element should be placed in front of, or behind, the others).</a:t>
            </a:r>
          </a:p>
          <a:p>
            <a:pPr algn="just"/>
            <a:r>
              <a:rPr lang="en-US" dirty="0" smtClean="0"/>
              <a:t>An element can have a positive or negative stack order</a:t>
            </a:r>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Overlapping Elements</a:t>
            </a:r>
            <a:endParaRPr lang="en-US" dirty="0"/>
          </a:p>
        </p:txBody>
      </p:sp>
      <p:sp>
        <p:nvSpPr>
          <p:cNvPr id="3" name="Content Placeholder 2"/>
          <p:cNvSpPr>
            <a:spLocks noGrp="1"/>
          </p:cNvSpPr>
          <p:nvPr>
            <p:ph idx="1"/>
          </p:nvPr>
        </p:nvSpPr>
        <p:spPr/>
        <p:txBody>
          <a:bodyPr/>
          <a:lstStyle/>
          <a:p>
            <a:pPr>
              <a:buNone/>
            </a:pPr>
            <a:r>
              <a:rPr lang="en-US" b="1" dirty="0" smtClean="0"/>
              <a:t>    Example</a:t>
            </a:r>
          </a:p>
          <a:p>
            <a:pPr>
              <a:buNone/>
            </a:pPr>
            <a:r>
              <a:rPr lang="en-US" dirty="0" smtClean="0"/>
              <a:t>    </a:t>
            </a:r>
            <a:r>
              <a:rPr lang="en-US" dirty="0" err="1" smtClean="0"/>
              <a:t>img</a:t>
            </a:r>
            <a:r>
              <a:rPr lang="en-US" dirty="0" smtClean="0"/>
              <a:t/>
            </a:r>
            <a:br>
              <a:rPr lang="en-US" dirty="0" smtClean="0"/>
            </a:br>
            <a:r>
              <a:rPr lang="en-US" dirty="0" smtClean="0"/>
              <a:t>{</a:t>
            </a:r>
            <a:br>
              <a:rPr lang="en-US" dirty="0" smtClean="0"/>
            </a:br>
            <a:r>
              <a:rPr lang="en-US" dirty="0" err="1" smtClean="0"/>
              <a:t>position:absolute</a:t>
            </a:r>
            <a:r>
              <a:rPr lang="en-US" dirty="0" smtClean="0"/>
              <a:t>;</a:t>
            </a:r>
            <a:br>
              <a:rPr lang="en-US" dirty="0" smtClean="0"/>
            </a:br>
            <a:r>
              <a:rPr lang="en-US" dirty="0" smtClean="0"/>
              <a:t>left:0px;</a:t>
            </a:r>
            <a:br>
              <a:rPr lang="en-US" dirty="0" smtClean="0"/>
            </a:br>
            <a:r>
              <a:rPr lang="en-US" dirty="0" smtClean="0"/>
              <a:t>top:0px;</a:t>
            </a:r>
            <a:br>
              <a:rPr lang="en-US" dirty="0" smtClean="0"/>
            </a:br>
            <a:r>
              <a:rPr lang="en-US" dirty="0" smtClean="0"/>
              <a:t>z-index:-1;</a:t>
            </a:r>
            <a:br>
              <a:rPr lang="en-US" dirty="0" smtClean="0"/>
            </a:br>
            <a:r>
              <a:rPr lang="en-US" dirty="0" smtClean="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E581FBE3ACD4C4DB50311EB9DD968DC" ma:contentTypeVersion="3" ma:contentTypeDescription="Create a new document." ma:contentTypeScope="" ma:versionID="255cfa5ec864b3cae31638100093f87b">
  <xsd:schema xmlns:xsd="http://www.w3.org/2001/XMLSchema" xmlns:xs="http://www.w3.org/2001/XMLSchema" xmlns:p="http://schemas.microsoft.com/office/2006/metadata/properties" xmlns:ns2="bbb6502a-bd75-46fb-9a70-27076cd4e959" targetNamespace="http://schemas.microsoft.com/office/2006/metadata/properties" ma:root="true" ma:fieldsID="4473f7ba9c48c4a4eea1e2563c56c7a9" ns2:_="">
    <xsd:import namespace="bbb6502a-bd75-46fb-9a70-27076cd4e95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b6502a-bd75-46fb-9a70-27076cd4e9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1E1275E-5961-42E0-939B-A37C20FBF524}"/>
</file>

<file path=customXml/itemProps2.xml><?xml version="1.0" encoding="utf-8"?>
<ds:datastoreItem xmlns:ds="http://schemas.openxmlformats.org/officeDocument/2006/customXml" ds:itemID="{103D1CC9-5148-4015-9DD6-7A516BB0E0D7}"/>
</file>

<file path=customXml/itemProps3.xml><?xml version="1.0" encoding="utf-8"?>
<ds:datastoreItem xmlns:ds="http://schemas.openxmlformats.org/officeDocument/2006/customXml" ds:itemID="{2F7C0779-8678-4A3E-8E9A-CEFBB1F39AF8}"/>
</file>

<file path=docProps/app.xml><?xml version="1.0" encoding="utf-8"?>
<Properties xmlns="http://schemas.openxmlformats.org/officeDocument/2006/extended-properties" xmlns:vt="http://schemas.openxmlformats.org/officeDocument/2006/docPropsVTypes">
  <TotalTime>626</TotalTime>
  <Words>5141</Words>
  <Application>Microsoft Office PowerPoint</Application>
  <PresentationFormat>On-screen Show (4:3)</PresentationFormat>
  <Paragraphs>597</Paragraphs>
  <Slides>117</Slides>
  <Notes>0</Notes>
  <HiddenSlides>0</HiddenSlides>
  <MMClips>0</MMClips>
  <ScaleCrop>false</ScaleCrop>
  <HeadingPairs>
    <vt:vector size="4" baseType="variant">
      <vt:variant>
        <vt:lpstr>Theme</vt:lpstr>
      </vt:variant>
      <vt:variant>
        <vt:i4>1</vt:i4>
      </vt:variant>
      <vt:variant>
        <vt:lpstr>Slide Titles</vt:lpstr>
      </vt:variant>
      <vt:variant>
        <vt:i4>117</vt:i4>
      </vt:variant>
    </vt:vector>
  </HeadingPairs>
  <TitlesOfParts>
    <vt:vector size="118" baseType="lpstr">
      <vt:lpstr>Office Theme</vt:lpstr>
      <vt:lpstr>Cascading Style Sheets</vt:lpstr>
      <vt:lpstr>What is CSS?</vt:lpstr>
      <vt:lpstr>Styles Solved a Big Problem</vt:lpstr>
      <vt:lpstr>Styles Solved a Big Problem</vt:lpstr>
      <vt:lpstr>CSS Saves a Lot of Work!</vt:lpstr>
      <vt:lpstr>CSS Syntax</vt:lpstr>
      <vt:lpstr>CSS Syntax</vt:lpstr>
      <vt:lpstr>CSS Syntax</vt:lpstr>
      <vt:lpstr>CSS Id and Class</vt:lpstr>
      <vt:lpstr>CSS Id and Class</vt:lpstr>
      <vt:lpstr>CSS Id and Class</vt:lpstr>
      <vt:lpstr>CSS Id and Class</vt:lpstr>
      <vt:lpstr>The CSS Universal Selector</vt:lpstr>
      <vt:lpstr>CSS How To...</vt:lpstr>
      <vt:lpstr>External Style Sheet</vt:lpstr>
      <vt:lpstr>External Style Sheet</vt:lpstr>
      <vt:lpstr>Internal Style Sheet</vt:lpstr>
      <vt:lpstr>Inline Styles</vt:lpstr>
      <vt:lpstr>Multiple Style Sheets</vt:lpstr>
      <vt:lpstr>Multiple Style Sheets</vt:lpstr>
      <vt:lpstr>Multiple Style Sheets</vt:lpstr>
      <vt:lpstr>Multiple Styles Will Cascade into One</vt:lpstr>
      <vt:lpstr>Multiple Styles Will Cascade into One</vt:lpstr>
      <vt:lpstr>Multiple Styles Will Cascade into One</vt:lpstr>
      <vt:lpstr>CSS Background</vt:lpstr>
      <vt:lpstr>Background Color</vt:lpstr>
      <vt:lpstr>Background Image</vt:lpstr>
      <vt:lpstr>Background Image - Repeat Horizontally or Vertically</vt:lpstr>
      <vt:lpstr>Background Image - Set position and no-repeat</vt:lpstr>
      <vt:lpstr>Background Image - Set position and no-repeat</vt:lpstr>
      <vt:lpstr>Background - Shorthand property</vt:lpstr>
      <vt:lpstr>CSS Text</vt:lpstr>
      <vt:lpstr>Text Alignment</vt:lpstr>
      <vt:lpstr>Text Decoration</vt:lpstr>
      <vt:lpstr>Text Decoration</vt:lpstr>
      <vt:lpstr>Text Transformation</vt:lpstr>
      <vt:lpstr>Text Indentation</vt:lpstr>
      <vt:lpstr>CSS Font</vt:lpstr>
      <vt:lpstr>CSS Font Families</vt:lpstr>
      <vt:lpstr>Font Family</vt:lpstr>
      <vt:lpstr>Font Family</vt:lpstr>
      <vt:lpstr>Font Style</vt:lpstr>
      <vt:lpstr>Font Size</vt:lpstr>
      <vt:lpstr>Font Size</vt:lpstr>
      <vt:lpstr>Set Font Size With Pixels</vt:lpstr>
      <vt:lpstr>Set Font Size With Em</vt:lpstr>
      <vt:lpstr>Set Font Size With Em</vt:lpstr>
      <vt:lpstr>Set Font Size With Em</vt:lpstr>
      <vt:lpstr>Use a Combination of Percent and Em</vt:lpstr>
      <vt:lpstr>CSS Links</vt:lpstr>
      <vt:lpstr>CSS Links</vt:lpstr>
      <vt:lpstr>Text Decoration</vt:lpstr>
      <vt:lpstr>Background Color</vt:lpstr>
      <vt:lpstr>CSS Lists</vt:lpstr>
      <vt:lpstr>Different List Item Markers</vt:lpstr>
      <vt:lpstr>An Image as The List Item Marker</vt:lpstr>
      <vt:lpstr>An Image as The List Item Marker</vt:lpstr>
      <vt:lpstr>Crossbrowser Solution</vt:lpstr>
      <vt:lpstr>Crossbrowser Solution</vt:lpstr>
      <vt:lpstr>Example explained</vt:lpstr>
      <vt:lpstr>List - Shorthand property</vt:lpstr>
      <vt:lpstr>List - Shorthand property</vt:lpstr>
      <vt:lpstr>CSS Tables</vt:lpstr>
      <vt:lpstr>Table Borders</vt:lpstr>
      <vt:lpstr>Collapse Borders</vt:lpstr>
      <vt:lpstr>Table Width and Height</vt:lpstr>
      <vt:lpstr>Table Text Alignment</vt:lpstr>
      <vt:lpstr>Table Text Alignment</vt:lpstr>
      <vt:lpstr>Table Padding</vt:lpstr>
      <vt:lpstr>Table Color</vt:lpstr>
      <vt:lpstr>CSS Box Model</vt:lpstr>
      <vt:lpstr>CSS Box Model</vt:lpstr>
      <vt:lpstr>CSS Box Model</vt:lpstr>
      <vt:lpstr>Width and Height of an Element</vt:lpstr>
      <vt:lpstr>Width and Height of an Element</vt:lpstr>
      <vt:lpstr>Width and Height of an Element</vt:lpstr>
      <vt:lpstr>Browsers Compatibility Issue</vt:lpstr>
      <vt:lpstr>CSS Border</vt:lpstr>
      <vt:lpstr>Border-style values</vt:lpstr>
      <vt:lpstr>Border-style values</vt:lpstr>
      <vt:lpstr>Border Width</vt:lpstr>
      <vt:lpstr>Border Width</vt:lpstr>
      <vt:lpstr>Border Color</vt:lpstr>
      <vt:lpstr>Border Color</vt:lpstr>
      <vt:lpstr>Border - Individual sides</vt:lpstr>
      <vt:lpstr>Border - Individual sides</vt:lpstr>
      <vt:lpstr>Border - Individual sides</vt:lpstr>
      <vt:lpstr>Border - Shorthand property</vt:lpstr>
      <vt:lpstr>CSS Outline</vt:lpstr>
      <vt:lpstr>CSS Outline</vt:lpstr>
      <vt:lpstr>All CSS Outline Properties</vt:lpstr>
      <vt:lpstr>All CSS Outline Properties</vt:lpstr>
      <vt:lpstr>CSS Margin</vt:lpstr>
      <vt:lpstr>Possible Values</vt:lpstr>
      <vt:lpstr>Margin - Individual sides</vt:lpstr>
      <vt:lpstr>Margin - Shorthand property</vt:lpstr>
      <vt:lpstr>PowerPoint Presentation</vt:lpstr>
      <vt:lpstr>PowerPoint Presentation</vt:lpstr>
      <vt:lpstr>CSS Padding</vt:lpstr>
      <vt:lpstr>Possible Values</vt:lpstr>
      <vt:lpstr>Padding - Individual sides</vt:lpstr>
      <vt:lpstr>Padding - Shorthand property</vt:lpstr>
      <vt:lpstr>PowerPoint Presentation</vt:lpstr>
      <vt:lpstr>PowerPoint Presentation</vt:lpstr>
      <vt:lpstr>CSS Grouping and Nesting Selectors</vt:lpstr>
      <vt:lpstr>Grouping Selectors</vt:lpstr>
      <vt:lpstr>Nesting Selectors</vt:lpstr>
      <vt:lpstr>Nesting Selectors</vt:lpstr>
      <vt:lpstr>CSS Positioning</vt:lpstr>
      <vt:lpstr>CSS Positioning</vt:lpstr>
      <vt:lpstr>CSS Positioning</vt:lpstr>
      <vt:lpstr>Relative Positioning</vt:lpstr>
      <vt:lpstr>Relative Positioning</vt:lpstr>
      <vt:lpstr>Absolute Positioning</vt:lpstr>
      <vt:lpstr>Absolute Positioning</vt:lpstr>
      <vt:lpstr>Overlapping Elements</vt:lpstr>
      <vt:lpstr>Overlapping Elements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Cascading Style Sheets</dc:title>
  <dc:creator>Prof Rajiv</dc:creator>
  <cp:lastModifiedBy>Windows User</cp:lastModifiedBy>
  <cp:revision>149</cp:revision>
  <dcterms:created xsi:type="dcterms:W3CDTF">2006-08-16T00:00:00Z</dcterms:created>
  <dcterms:modified xsi:type="dcterms:W3CDTF">2022-12-16T07:01:15Z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0x0101005E581FBE3ACD4C4DB50311EB9DD968DC</vt:lpwstr>
  </property>
</Properties>
</file>