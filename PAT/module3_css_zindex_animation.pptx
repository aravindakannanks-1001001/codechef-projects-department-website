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s/slide56.xml" ContentType="application/vnd.openxmlformats-officedocument.presentationml.slide+xml"/>
  <Override PartName="/ppt/slides/slide5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61"/>
  </p:notesMasterIdLst>
  <p:sldIdLst>
    <p:sldId id="256" r:id="rId2"/>
    <p:sldId id="265" r:id="rId3"/>
    <p:sldId id="303" r:id="rId4"/>
    <p:sldId id="304" r:id="rId5"/>
    <p:sldId id="305" r:id="rId6"/>
    <p:sldId id="306" r:id="rId7"/>
    <p:sldId id="307" r:id="rId8"/>
    <p:sldId id="278" r:id="rId9"/>
    <p:sldId id="279" r:id="rId10"/>
    <p:sldId id="263" r:id="rId11"/>
    <p:sldId id="308" r:id="rId12"/>
    <p:sldId id="309" r:id="rId13"/>
    <p:sldId id="310" r:id="rId14"/>
    <p:sldId id="311" r:id="rId15"/>
    <p:sldId id="312" r:id="rId16"/>
    <p:sldId id="281" r:id="rId17"/>
    <p:sldId id="280" r:id="rId18"/>
    <p:sldId id="313" r:id="rId19"/>
    <p:sldId id="314" r:id="rId20"/>
    <p:sldId id="315" r:id="rId21"/>
    <p:sldId id="316" r:id="rId22"/>
    <p:sldId id="272" r:id="rId23"/>
    <p:sldId id="275" r:id="rId24"/>
    <p:sldId id="274" r:id="rId25"/>
    <p:sldId id="317" r:id="rId26"/>
    <p:sldId id="268" r:id="rId27"/>
    <p:sldId id="273" r:id="rId28"/>
    <p:sldId id="318" r:id="rId29"/>
    <p:sldId id="319" r:id="rId30"/>
    <p:sldId id="320" r:id="rId31"/>
    <p:sldId id="321" r:id="rId32"/>
    <p:sldId id="270" r:id="rId33"/>
    <p:sldId id="282" r:id="rId34"/>
    <p:sldId id="271" r:id="rId35"/>
    <p:sldId id="283" r:id="rId36"/>
    <p:sldId id="322" r:id="rId37"/>
    <p:sldId id="289" r:id="rId38"/>
    <p:sldId id="290" r:id="rId39"/>
    <p:sldId id="291" r:id="rId40"/>
    <p:sldId id="288" r:id="rId41"/>
    <p:sldId id="292" r:id="rId42"/>
    <p:sldId id="293" r:id="rId43"/>
    <p:sldId id="294" r:id="rId44"/>
    <p:sldId id="257" r:id="rId45"/>
    <p:sldId id="258" r:id="rId46"/>
    <p:sldId id="260" r:id="rId47"/>
    <p:sldId id="259" r:id="rId48"/>
    <p:sldId id="261" r:id="rId49"/>
    <p:sldId id="284" r:id="rId50"/>
    <p:sldId id="296" r:id="rId51"/>
    <p:sldId id="285" r:id="rId52"/>
    <p:sldId id="298" r:id="rId53"/>
    <p:sldId id="297" r:id="rId54"/>
    <p:sldId id="286" r:id="rId55"/>
    <p:sldId id="287" r:id="rId56"/>
    <p:sldId id="299" r:id="rId57"/>
    <p:sldId id="300" r:id="rId58"/>
    <p:sldId id="301" r:id="rId59"/>
    <p:sldId id="302" r:id="rId6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-516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875FFC-FE92-4EBE-97D5-728E9CED6A67}" type="datetimeFigureOut">
              <a:rPr lang="en-IN" smtClean="0"/>
              <a:pPr/>
              <a:t>12-01-2026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017150-AB55-421A-97AD-58C8AC2D087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804239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1D6BA21-018E-6AE6-D582-A96947F2C8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6B906F81-940A-975B-6BE2-258640FF03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7A85A1D-3378-EBFD-C7D0-636AB80457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647F8B-9724-4588-8630-F1AF4B9D534E}" type="datetime1">
              <a:rPr lang="en-IN" smtClean="0"/>
              <a:pPr/>
              <a:t>12-01-2026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735FE3D-2094-7E04-A004-875382A25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32D827D-3A5E-4197-8547-878A82F055B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793734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43AA685-603E-0C51-8712-4AC02CE76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437E043-1E31-5A6A-D462-3ECBA56A1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3E71792-A67E-6ACD-55A3-676F354C9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32D827D-3A5E-4197-8547-878A82F055B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332094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C96C8BE-B918-D33B-752D-792784A1F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C17CA25-305C-9AAA-B184-EF21479CFC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1600203-4488-78CB-BA22-8424DC436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32D827D-3A5E-4197-8547-878A82F055B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837341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21087DA-9E15-69CB-6F8F-19641E1DE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5C4AD9B-93F5-44AA-353E-5612004548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9F8B9E34-2581-6340-7B09-588C62F418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A454B5E-2A49-6927-7F32-E554AE5F1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32D827D-3A5E-4197-8547-878A82F055B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006210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F96973F-350B-8E83-73FC-B56F55D7B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D7D82A3-9E2B-6B90-6EBF-73120A6BE1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688F8FC6-E3F6-47F9-27ED-F1BA80DD5F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30C610E0-2409-602A-47D8-2AFC859737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808F36E9-7029-C71B-A8CF-CA4662EB12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D7FD109D-86A3-8FDB-9B9E-5AF67831D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32D827D-3A5E-4197-8547-878A82F055B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863034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6CDD4C7-BDD5-E9D2-37D8-1E8E9E892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FAFB36D8-FB12-1462-4DF7-078CBF104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32D827D-3A5E-4197-8547-878A82F055B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094475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FB533F20-66C2-A24D-BD4D-A3F33DF1D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32D827D-3A5E-4197-8547-878A82F055B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435472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1A95764-A964-75C8-A173-A6B661EB8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FAAE1E2-BABA-6AE2-B305-78F11ED683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DC03297E-187B-DC62-3357-BA6DD73C4A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697C3EAE-FEB5-B6B9-C01D-E935F81AF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32D827D-3A5E-4197-8547-878A82F055B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113608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883F137-C26A-84FA-0524-75C3BE204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CA906056-F2C8-045C-3B5D-A8737B17C8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7999C867-804C-70F4-7AC4-5DCC79487F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076C937-20E1-711A-38D7-B9257171D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32D827D-3A5E-4197-8547-878A82F055B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972330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583E58F-04EE-6253-2131-DC859BA36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42B7D015-73BA-3A87-BBE3-791BE201A4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7831A69-1113-4D47-EB3C-51AEFD44C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32D827D-3A5E-4197-8547-878A82F055B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56401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41266E35-519F-7E32-3A1C-78A06A0AE9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2DC46838-6529-153D-7DAA-86C7788AAA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F4364B0-A766-0543-587D-C98E37801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32D827D-3A5E-4197-8547-878A82F055B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813630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4BD0F499-184F-7B8D-9259-ACA02EAFC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629A094-01E6-142E-D2D8-09F99D6FE7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197855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cssref/css_inherit.php" TargetMode="External"/><Relationship Id="rId2" Type="http://schemas.openxmlformats.org/officeDocument/2006/relationships/hyperlink" Target="https://www.w3schools.com/cssref/css_initial.php" TargetMode="Externa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www.w3schools.com/cssref/pr_class_display.php" TargetMode="Externa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cssref/css_inherit.php" TargetMode="External"/><Relationship Id="rId7" Type="http://schemas.openxmlformats.org/officeDocument/2006/relationships/image" Target="../media/image28.png"/><Relationship Id="rId2" Type="http://schemas.openxmlformats.org/officeDocument/2006/relationships/hyperlink" Target="https://www.w3schools.com/cssref/css_initial.php" TargetMode="Externa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w3schools.com/cssref/pr_grid.php" TargetMode="External"/><Relationship Id="rId13" Type="http://schemas.openxmlformats.org/officeDocument/2006/relationships/hyperlink" Target="https://www.w3schools.com/cssref/pr_grid-column.php" TargetMode="External"/><Relationship Id="rId18" Type="http://schemas.openxmlformats.org/officeDocument/2006/relationships/hyperlink" Target="https://www.w3schools.com/cssref/pr_grid-row-start.php" TargetMode="External"/><Relationship Id="rId26" Type="http://schemas.openxmlformats.org/officeDocument/2006/relationships/hyperlink" Target="https://www.w3schools.com/cssref/css_pr_place-content.php" TargetMode="External"/><Relationship Id="rId3" Type="http://schemas.openxmlformats.org/officeDocument/2006/relationships/hyperlink" Target="https://www.w3schools.com/cssref/css3_pr_align-items.php" TargetMode="External"/><Relationship Id="rId21" Type="http://schemas.openxmlformats.org/officeDocument/2006/relationships/hyperlink" Target="https://www.w3schools.com/cssref/pr_grid-template-columns.php" TargetMode="External"/><Relationship Id="rId7" Type="http://schemas.openxmlformats.org/officeDocument/2006/relationships/hyperlink" Target="https://www.w3schools.com/cssref/css3_pr_gap.php" TargetMode="External"/><Relationship Id="rId12" Type="http://schemas.openxmlformats.org/officeDocument/2006/relationships/hyperlink" Target="https://www.w3schools.com/cssref/pr_grid-auto-rows.php" TargetMode="External"/><Relationship Id="rId17" Type="http://schemas.openxmlformats.org/officeDocument/2006/relationships/hyperlink" Target="https://www.w3schools.com/cssref/pr_grid-row-end.php" TargetMode="External"/><Relationship Id="rId25" Type="http://schemas.openxmlformats.org/officeDocument/2006/relationships/hyperlink" Target="https://www.w3schools.com/cssref/css_pr_place-self.php" TargetMode="External"/><Relationship Id="rId2" Type="http://schemas.openxmlformats.org/officeDocument/2006/relationships/hyperlink" Target="https://www.w3schools.com/cssref/css3_pr_align-content.php" TargetMode="External"/><Relationship Id="rId16" Type="http://schemas.openxmlformats.org/officeDocument/2006/relationships/hyperlink" Target="https://www.w3schools.com/cssref/pr_grid-row.php" TargetMode="External"/><Relationship Id="rId20" Type="http://schemas.openxmlformats.org/officeDocument/2006/relationships/hyperlink" Target="https://www.w3schools.com/cssref/pr_grid-template-areas.php" TargetMode="Externa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www.w3schools.com/cssref/css3_pr_column-gap.php" TargetMode="External"/><Relationship Id="rId11" Type="http://schemas.openxmlformats.org/officeDocument/2006/relationships/hyperlink" Target="https://www.w3schools.com/cssref/pr_grid-auto-flow.php" TargetMode="External"/><Relationship Id="rId24" Type="http://schemas.openxmlformats.org/officeDocument/2006/relationships/hyperlink" Target="https://www.w3schools.com/cssref/css_pr_justify-self.php" TargetMode="External"/><Relationship Id="rId5" Type="http://schemas.openxmlformats.org/officeDocument/2006/relationships/hyperlink" Target="https://www.w3schools.com/cssref/pr_class_display.php" TargetMode="External"/><Relationship Id="rId15" Type="http://schemas.openxmlformats.org/officeDocument/2006/relationships/hyperlink" Target="https://www.w3schools.com/cssref/pr_grid-column-start.php" TargetMode="External"/><Relationship Id="rId23" Type="http://schemas.openxmlformats.org/officeDocument/2006/relationships/hyperlink" Target="https://www.w3schools.com/cssref/css3_pr_justify-content.php" TargetMode="External"/><Relationship Id="rId10" Type="http://schemas.openxmlformats.org/officeDocument/2006/relationships/hyperlink" Target="https://www.w3schools.com/cssref/pr_grid-auto-columns.php" TargetMode="External"/><Relationship Id="rId19" Type="http://schemas.openxmlformats.org/officeDocument/2006/relationships/hyperlink" Target="https://www.w3schools.com/cssref/pr_grid-template.php" TargetMode="External"/><Relationship Id="rId4" Type="http://schemas.openxmlformats.org/officeDocument/2006/relationships/hyperlink" Target="https://www.w3schools.com/cssref/css3_pr_align-self.php" TargetMode="External"/><Relationship Id="rId9" Type="http://schemas.openxmlformats.org/officeDocument/2006/relationships/hyperlink" Target="https://www.w3schools.com/cssref/pr_grid-area.php" TargetMode="External"/><Relationship Id="rId14" Type="http://schemas.openxmlformats.org/officeDocument/2006/relationships/hyperlink" Target="https://www.w3schools.com/cssref/pr_grid-column-end.php" TargetMode="External"/><Relationship Id="rId22" Type="http://schemas.openxmlformats.org/officeDocument/2006/relationships/hyperlink" Target="https://www.w3schools.com/cssref/pr_grid-template-rows.php" TargetMode="External"/><Relationship Id="rId27" Type="http://schemas.openxmlformats.org/officeDocument/2006/relationships/hyperlink" Target="https://www.w3schools.com/cssref/css3_pr_row-gap.php" TargetMode="Externa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9600" b="1" smtClean="0"/>
              <a:t>CSS…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xmlns="" val="3352228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baseline="-25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Position property</a:t>
            </a:r>
            <a:endParaRPr lang="en-IN" sz="2800" baseline="-25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592494" y="1515141"/>
            <a:ext cx="11030546" cy="4319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100000"/>
              </a:lnSpc>
              <a:buNone/>
            </a:pPr>
            <a:r>
              <a:rPr kumimoji="0" lang="en-US" altLang="en-US" b="0" i="0" u="none" strike="noStrike" cap="none" normalizeH="0" baseline="-2500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The </a:t>
            </a:r>
            <a:r>
              <a:rPr kumimoji="0" lang="en-US" altLang="en-US" b="0" i="0" u="none" strike="noStrike" cap="none" normalizeH="0" baseline="-25000" dirty="0">
                <a:ln>
                  <a:noFill/>
                </a:ln>
                <a:solidFill>
                  <a:srgbClr val="DC143C"/>
                </a:solidFill>
                <a:effectLst/>
                <a:latin typeface="Times New Roman" pitchFamily="18" charset="0"/>
                <a:cs typeface="Times New Roman" pitchFamily="18" charset="0"/>
              </a:rPr>
              <a:t>position</a:t>
            </a:r>
            <a:r>
              <a:rPr kumimoji="0" lang="en-US" altLang="en-US" b="0" i="0" u="none" strike="noStrike" cap="none" normalizeH="0" baseline="-2500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 property specifies the type of positioning method used for an element (static, relative, fixed, absolute or sticky).</a:t>
            </a:r>
            <a:r>
              <a:rPr kumimoji="0" lang="en-US" altLang="en-US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just">
              <a:lnSpc>
                <a:spcPct val="100000"/>
              </a:lnSpc>
              <a:buNone/>
            </a:pPr>
            <a:r>
              <a:rPr lang="en-US" altLang="en-US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There are five different position values</a:t>
            </a:r>
            <a:r>
              <a:rPr lang="en-US" altLang="en-US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>
              <a:lnSpc>
                <a:spcPct val="100000"/>
              </a:lnSpc>
              <a:buNone/>
            </a:pPr>
            <a:endParaRPr lang="en-US" altLang="en-US" baseline="-25000" dirty="0" smtClean="0">
              <a:latin typeface="Times New Roman" pitchFamily="18" charset="0"/>
              <a:cs typeface="Times New Roman" pitchFamily="18" charset="0"/>
            </a:endParaRPr>
          </a:p>
          <a:p>
            <a:pPr marL="2286000" lvl="5" indent="0" algn="just">
              <a:lnSpc>
                <a:spcPct val="100000"/>
              </a:lnSpc>
            </a:pPr>
            <a:r>
              <a:rPr lang="en-US" altLang="en-US" sz="3600" baseline="-25000" dirty="0" smtClean="0">
                <a:latin typeface="Times New Roman" pitchFamily="18" charset="0"/>
                <a:cs typeface="Times New Roman" pitchFamily="18" charset="0"/>
              </a:rPr>
              <a:t>static</a:t>
            </a:r>
            <a:endParaRPr lang="en-US" altLang="en-US" sz="3600" baseline="-25000" dirty="0">
              <a:latin typeface="Times New Roman" pitchFamily="18" charset="0"/>
              <a:cs typeface="Times New Roman" pitchFamily="18" charset="0"/>
            </a:endParaRPr>
          </a:p>
          <a:p>
            <a:pPr marL="2286000" lvl="5" indent="0" algn="just">
              <a:lnSpc>
                <a:spcPct val="100000"/>
              </a:lnSpc>
            </a:pPr>
            <a:r>
              <a:rPr lang="en-US" altLang="en-US" sz="3600" baseline="-25000" dirty="0">
                <a:latin typeface="Times New Roman" pitchFamily="18" charset="0"/>
                <a:cs typeface="Times New Roman" pitchFamily="18" charset="0"/>
              </a:rPr>
              <a:t>relative</a:t>
            </a:r>
          </a:p>
          <a:p>
            <a:pPr marL="2286000" lvl="5" indent="0" algn="just">
              <a:lnSpc>
                <a:spcPct val="100000"/>
              </a:lnSpc>
            </a:pPr>
            <a:r>
              <a:rPr lang="en-US" altLang="en-US" sz="3600" baseline="-25000" dirty="0">
                <a:latin typeface="Times New Roman" pitchFamily="18" charset="0"/>
                <a:cs typeface="Times New Roman" pitchFamily="18" charset="0"/>
              </a:rPr>
              <a:t>fixed</a:t>
            </a:r>
          </a:p>
          <a:p>
            <a:pPr marL="2286000" lvl="5" indent="0" algn="just">
              <a:lnSpc>
                <a:spcPct val="100000"/>
              </a:lnSpc>
            </a:pPr>
            <a:r>
              <a:rPr lang="en-US" altLang="en-US" sz="3600" baseline="-25000" dirty="0">
                <a:latin typeface="Times New Roman" pitchFamily="18" charset="0"/>
                <a:cs typeface="Times New Roman" pitchFamily="18" charset="0"/>
              </a:rPr>
              <a:t>absolute</a:t>
            </a:r>
          </a:p>
          <a:p>
            <a:pPr marL="2286000" lvl="5" indent="0" algn="just">
              <a:lnSpc>
                <a:spcPct val="100000"/>
              </a:lnSpc>
            </a:pPr>
            <a:r>
              <a:rPr lang="en-US" altLang="en-US" sz="3600" baseline="-25000" dirty="0">
                <a:latin typeface="Times New Roman" pitchFamily="18" charset="0"/>
                <a:cs typeface="Times New Roman" pitchFamily="18" charset="0"/>
              </a:rPr>
              <a:t>sticky</a:t>
            </a:r>
          </a:p>
          <a:p>
            <a:pPr algn="just">
              <a:lnSpc>
                <a:spcPct val="100000"/>
              </a:lnSpc>
            </a:pPr>
            <a:r>
              <a:rPr lang="en-US" altLang="en-US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Elements are then positioned using the top, bottom, left, and right properties. However, these properties will not work unless the </a:t>
            </a:r>
            <a:r>
              <a:rPr lang="en-US" altLang="en-US" sz="3600" b="1" baseline="-25000" dirty="0">
                <a:solidFill>
                  <a:srgbClr val="DC143C"/>
                </a:solidFill>
                <a:latin typeface="Times New Roman" pitchFamily="18" charset="0"/>
                <a:cs typeface="Times New Roman" pitchFamily="18" charset="0"/>
              </a:rPr>
              <a:t>position</a:t>
            </a:r>
            <a:r>
              <a:rPr lang="en-US" altLang="en-US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 property is set first. </a:t>
            </a:r>
          </a:p>
          <a:p>
            <a:pPr algn="just">
              <a:lnSpc>
                <a:spcPct val="100000"/>
              </a:lnSpc>
            </a:pPr>
            <a:r>
              <a:rPr lang="en-US" altLang="en-US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They also work differently depending on the position value.</a:t>
            </a:r>
            <a:endParaRPr lang="en-US" altLang="en-US" baseline="-25000" dirty="0"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43934"/>
            <a:ext cx="184731" cy="3795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IN" sz="2800" baseline="-25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31289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272110" y="713764"/>
            <a:ext cx="25699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position: static (Default)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687033" y="1456959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This is the</a:t>
            </a:r>
            <a:r>
              <a:rPr lang="en-US" u="sng" dirty="0" smtClean="0">
                <a:latin typeface="Times New Roman" pitchFamily="18" charset="0"/>
                <a:cs typeface="Times New Roman" pitchFamily="18" charset="0"/>
              </a:rPr>
              <a:t> default positioning for all HTML elements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u="sng" dirty="0" smtClean="0">
                <a:latin typeface="Times New Roman" pitchFamily="18" charset="0"/>
                <a:cs typeface="Times New Roman" pitchFamily="18" charset="0"/>
              </a:rPr>
              <a:t>Elements appear one after another in normal document flow</a:t>
            </a:r>
            <a:r>
              <a:rPr lang="en-US" u="sng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u="sng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u="sng" dirty="0" smtClean="0">
                <a:latin typeface="Times New Roman" pitchFamily="18" charset="0"/>
                <a:cs typeface="Times New Roman" pitchFamily="18" charset="0"/>
              </a:rPr>
              <a:t>top, left, right, bottom 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do not work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984202" y="2646723"/>
            <a:ext cx="4501116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&lt;div class="static-box"&gt;Static Position&lt;/div&gt;</a:t>
            </a:r>
          </a:p>
          <a:p>
            <a:endParaRPr lang="en-US" dirty="0" smtClean="0"/>
          </a:p>
          <a:p>
            <a:r>
              <a:rPr lang="en-US" dirty="0" smtClean="0"/>
              <a:t>&lt;style&gt;</a:t>
            </a:r>
          </a:p>
          <a:p>
            <a:r>
              <a:rPr lang="en-US" dirty="0" smtClean="0"/>
              <a:t>.static-box {</a:t>
            </a:r>
          </a:p>
          <a:p>
            <a:r>
              <a:rPr lang="en-US" dirty="0" smtClean="0"/>
              <a:t>  position: static;</a:t>
            </a:r>
          </a:p>
          <a:p>
            <a:r>
              <a:rPr lang="en-US" dirty="0" smtClean="0"/>
              <a:t>  background: </a:t>
            </a:r>
            <a:r>
              <a:rPr lang="en-US" dirty="0" err="1" smtClean="0"/>
              <a:t>lightblue</a:t>
            </a:r>
            <a:r>
              <a:rPr lang="en-US" dirty="0" smtClean="0"/>
              <a:t>;</a:t>
            </a:r>
          </a:p>
          <a:p>
            <a:r>
              <a:rPr lang="en-US" dirty="0" smtClean="0"/>
              <a:t>  padding: 10px;</a:t>
            </a:r>
          </a:p>
          <a:p>
            <a:r>
              <a:rPr lang="en-US" dirty="0" smtClean="0"/>
              <a:t>}</a:t>
            </a:r>
          </a:p>
          <a:p>
            <a:r>
              <a:rPr lang="en-US" dirty="0" smtClean="0"/>
              <a:t>&lt;/style&gt;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649580" y="3517716"/>
            <a:ext cx="5543550" cy="885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272110" y="713764"/>
            <a:ext cx="18412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position: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relative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687033" y="1456959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Element is positioned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relative to its original position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Space for the element is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still reserved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Other elements are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not affected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984201" y="2646723"/>
            <a:ext cx="4830729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&lt;div class="relative-box"&gt;Relative Position&lt;/div&gt;</a:t>
            </a:r>
          </a:p>
          <a:p>
            <a:endParaRPr lang="en-US" dirty="0" smtClean="0"/>
          </a:p>
          <a:p>
            <a:r>
              <a:rPr lang="en-US" dirty="0" smtClean="0"/>
              <a:t>&lt;style&gt;</a:t>
            </a:r>
          </a:p>
          <a:p>
            <a:r>
              <a:rPr lang="en-US" dirty="0" smtClean="0"/>
              <a:t>.relative-box {</a:t>
            </a:r>
          </a:p>
          <a:p>
            <a:r>
              <a:rPr lang="en-US" dirty="0" smtClean="0"/>
              <a:t>  position: relative;</a:t>
            </a:r>
          </a:p>
          <a:p>
            <a:r>
              <a:rPr lang="en-US" dirty="0" smtClean="0"/>
              <a:t>  top: 20px;</a:t>
            </a:r>
          </a:p>
          <a:p>
            <a:r>
              <a:rPr lang="en-US" dirty="0" smtClean="0"/>
              <a:t>  left: 30px;</a:t>
            </a:r>
          </a:p>
          <a:p>
            <a:r>
              <a:rPr lang="en-US" dirty="0" smtClean="0"/>
              <a:t>  background: </a:t>
            </a:r>
            <a:r>
              <a:rPr lang="en-US" dirty="0" err="1" smtClean="0"/>
              <a:t>lightgreen</a:t>
            </a:r>
            <a:r>
              <a:rPr lang="en-US" dirty="0" smtClean="0"/>
              <a:t>;</a:t>
            </a:r>
          </a:p>
          <a:p>
            <a:r>
              <a:rPr lang="en-US" dirty="0" smtClean="0"/>
              <a:t>  padding: 10px;</a:t>
            </a:r>
          </a:p>
          <a:p>
            <a:r>
              <a:rPr lang="en-US" dirty="0" smtClean="0"/>
              <a:t>}</a:t>
            </a:r>
          </a:p>
          <a:p>
            <a:r>
              <a:rPr lang="en-US" dirty="0" smtClean="0"/>
              <a:t>&lt;/style&gt;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20649" y="3388020"/>
            <a:ext cx="5697537" cy="1123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261477" y="139582"/>
            <a:ext cx="250260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position: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absolute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133619" y="521255"/>
            <a:ext cx="672332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Element is positioned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relative to the nearest positioned ancestor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If no ancestor is positioned, it uses the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viewport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Element is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removed from normal flow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(no space reserved).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73888" y="1540891"/>
            <a:ext cx="8399721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&lt;div class="container"&gt;</a:t>
            </a:r>
          </a:p>
          <a:p>
            <a:r>
              <a:rPr lang="en-US" dirty="0" smtClean="0"/>
              <a:t>  Container</a:t>
            </a:r>
          </a:p>
          <a:p>
            <a:r>
              <a:rPr lang="en-US" dirty="0" smtClean="0"/>
              <a:t>  &lt;div class="absolute-box"&gt;Absolute Position&lt;/div&gt;</a:t>
            </a:r>
          </a:p>
          <a:p>
            <a:r>
              <a:rPr lang="en-US" dirty="0" smtClean="0"/>
              <a:t>&lt;/div&gt;</a:t>
            </a:r>
          </a:p>
          <a:p>
            <a:r>
              <a:rPr lang="en-US" dirty="0" smtClean="0"/>
              <a:t>&lt;</a:t>
            </a:r>
            <a:r>
              <a:rPr lang="en-US" dirty="0" smtClean="0"/>
              <a:t>style&gt;</a:t>
            </a:r>
          </a:p>
          <a:p>
            <a:r>
              <a:rPr lang="en-US" dirty="0" smtClean="0"/>
              <a:t>.container {</a:t>
            </a:r>
          </a:p>
          <a:p>
            <a:r>
              <a:rPr lang="en-US" dirty="0" smtClean="0"/>
              <a:t>  position: relative;</a:t>
            </a:r>
          </a:p>
          <a:p>
            <a:r>
              <a:rPr lang="en-US" dirty="0" smtClean="0"/>
              <a:t>  width: 300px;</a:t>
            </a:r>
          </a:p>
          <a:p>
            <a:r>
              <a:rPr lang="en-US" dirty="0" smtClean="0"/>
              <a:t>  height: 150px;</a:t>
            </a:r>
          </a:p>
          <a:p>
            <a:r>
              <a:rPr lang="en-US" dirty="0" smtClean="0"/>
              <a:t>  border: 2px solid black;</a:t>
            </a:r>
          </a:p>
          <a:p>
            <a:r>
              <a:rPr lang="en-US" dirty="0" smtClean="0"/>
              <a:t>}</a:t>
            </a:r>
            <a:endParaRPr lang="en-US" dirty="0" smtClean="0"/>
          </a:p>
          <a:p>
            <a:r>
              <a:rPr lang="en-US" dirty="0" smtClean="0"/>
              <a:t>.absolute-box {</a:t>
            </a:r>
          </a:p>
          <a:p>
            <a:r>
              <a:rPr lang="en-US" dirty="0" smtClean="0"/>
              <a:t>  position: absolute;</a:t>
            </a:r>
          </a:p>
          <a:p>
            <a:r>
              <a:rPr lang="en-US" dirty="0" smtClean="0"/>
              <a:t>  top: 20px;</a:t>
            </a:r>
          </a:p>
          <a:p>
            <a:r>
              <a:rPr lang="en-US" dirty="0" smtClean="0"/>
              <a:t>  right: 10px;</a:t>
            </a:r>
          </a:p>
          <a:p>
            <a:r>
              <a:rPr lang="en-US" dirty="0" smtClean="0"/>
              <a:t>  background: pink;</a:t>
            </a:r>
          </a:p>
          <a:p>
            <a:r>
              <a:rPr lang="en-US" dirty="0" smtClean="0"/>
              <a:t>  padding: 10px;</a:t>
            </a:r>
          </a:p>
          <a:p>
            <a:r>
              <a:rPr lang="en-US" dirty="0" smtClean="0"/>
              <a:t>}</a:t>
            </a:r>
          </a:p>
          <a:p>
            <a:r>
              <a:rPr lang="en-US" dirty="0" smtClean="0"/>
              <a:t>&lt;/style&gt;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19600" y="3486150"/>
            <a:ext cx="3057525" cy="163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261477" y="139582"/>
            <a:ext cx="205697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position: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fixed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133619" y="521255"/>
            <a:ext cx="672332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Element is positioned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relative to the browser window (viewport)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It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does not move when scrolling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Removed from normal document flow.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73888" y="2326731"/>
            <a:ext cx="8399721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/>
              <a:t>&lt;div class="fixed-box"&gt;Fixed Position&lt;/div&gt;</a:t>
            </a:r>
          </a:p>
          <a:p>
            <a:endParaRPr lang="en-US" sz="2000" dirty="0" smtClean="0"/>
          </a:p>
          <a:p>
            <a:r>
              <a:rPr lang="en-US" sz="2000" dirty="0" smtClean="0"/>
              <a:t>&lt;style&gt;</a:t>
            </a:r>
          </a:p>
          <a:p>
            <a:r>
              <a:rPr lang="en-US" sz="2000" dirty="0" smtClean="0"/>
              <a:t>.fixed-box {</a:t>
            </a:r>
          </a:p>
          <a:p>
            <a:r>
              <a:rPr lang="en-US" sz="2000" dirty="0" smtClean="0"/>
              <a:t>  position: fixed;</a:t>
            </a:r>
          </a:p>
          <a:p>
            <a:r>
              <a:rPr lang="en-US" sz="2000" dirty="0" smtClean="0"/>
              <a:t>  bottom: 10px;</a:t>
            </a:r>
          </a:p>
          <a:p>
            <a:r>
              <a:rPr lang="en-US" sz="2000" dirty="0" smtClean="0"/>
              <a:t>  right: 10px;</a:t>
            </a:r>
          </a:p>
          <a:p>
            <a:r>
              <a:rPr lang="en-US" sz="2000" dirty="0" smtClean="0"/>
              <a:t>  background: orange;</a:t>
            </a:r>
          </a:p>
          <a:p>
            <a:r>
              <a:rPr lang="en-US" sz="2000" dirty="0" smtClean="0"/>
              <a:t>  padding: 10px;</a:t>
            </a:r>
          </a:p>
          <a:p>
            <a:r>
              <a:rPr lang="en-US" sz="2000" dirty="0" smtClean="0"/>
              <a:t>}</a:t>
            </a:r>
          </a:p>
          <a:p>
            <a:r>
              <a:rPr lang="en-US" sz="2000" dirty="0" smtClean="0"/>
              <a:t>&lt;/style&gt;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01620" y="3036962"/>
            <a:ext cx="5039341" cy="2620962"/>
          </a:xfrm>
          <a:prstGeom prst="rect">
            <a:avLst/>
          </a:prstGeom>
          <a:noFill/>
          <a:ln w="9525">
            <a:solidFill>
              <a:schemeClr val="accent1">
                <a:shade val="50000"/>
              </a:schemeClr>
            </a:solidFill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261477" y="139582"/>
            <a:ext cx="21771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position: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sticky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133619" y="835591"/>
            <a:ext cx="672332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000" dirty="0" smtClean="0"/>
              <a:t>Combines </a:t>
            </a:r>
            <a:r>
              <a:rPr lang="en-US" sz="2000" b="1" dirty="0" smtClean="0"/>
              <a:t>relative and fixed</a:t>
            </a:r>
            <a:r>
              <a:rPr lang="en-US" sz="2000" dirty="0" smtClean="0"/>
              <a:t> positioning.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/>
              <a:t>Acts like relative until a scroll position is reached.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/>
              <a:t>Then behaves like fixed.</a:t>
            </a:r>
            <a:endParaRPr lang="en-US" sz="2000" dirty="0"/>
          </a:p>
        </p:txBody>
      </p:sp>
      <p:sp>
        <p:nvSpPr>
          <p:cNvPr id="7" name="Rectangle 6"/>
          <p:cNvSpPr/>
          <p:nvPr/>
        </p:nvSpPr>
        <p:spPr>
          <a:xfrm>
            <a:off x="1073888" y="2326731"/>
            <a:ext cx="8399721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/>
              <a:t>&lt;div class="sticky-box"&gt;Sticky Position&lt;/div&gt;</a:t>
            </a:r>
          </a:p>
          <a:p>
            <a:endParaRPr lang="en-US" sz="2000" dirty="0" smtClean="0"/>
          </a:p>
          <a:p>
            <a:r>
              <a:rPr lang="en-US" sz="2000" dirty="0" smtClean="0"/>
              <a:t>&lt;style&gt;</a:t>
            </a:r>
          </a:p>
          <a:p>
            <a:r>
              <a:rPr lang="en-US" sz="2000" dirty="0" smtClean="0"/>
              <a:t>.sticky-box {</a:t>
            </a:r>
          </a:p>
          <a:p>
            <a:r>
              <a:rPr lang="en-US" sz="2000" dirty="0" smtClean="0"/>
              <a:t>  position: sticky;</a:t>
            </a:r>
          </a:p>
          <a:p>
            <a:r>
              <a:rPr lang="en-US" sz="2000" dirty="0" smtClean="0"/>
              <a:t>  top: 0;</a:t>
            </a:r>
          </a:p>
          <a:p>
            <a:r>
              <a:rPr lang="en-US" sz="2000" dirty="0" smtClean="0"/>
              <a:t>  background: yellow;</a:t>
            </a:r>
          </a:p>
          <a:p>
            <a:r>
              <a:rPr lang="en-US" sz="2000" dirty="0" smtClean="0"/>
              <a:t>  padding: 10px;</a:t>
            </a:r>
          </a:p>
          <a:p>
            <a:r>
              <a:rPr lang="en-US" sz="2000" dirty="0" smtClean="0"/>
              <a:t>}</a:t>
            </a:r>
          </a:p>
          <a:p>
            <a:r>
              <a:rPr lang="en-US" sz="2000" dirty="0" smtClean="0"/>
              <a:t>&lt;/style&gt;</a:t>
            </a:r>
          </a:p>
          <a:p>
            <a:endParaRPr lang="en-US" sz="2000" dirty="0" smtClean="0"/>
          </a:p>
          <a:p>
            <a:r>
              <a:rPr lang="en-US" sz="2000" dirty="0" smtClean="0"/>
              <a:t>&lt;p style="height: 1000px;"&gt;Scroll down&lt;/p&gt;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240463" y="2857501"/>
            <a:ext cx="4832350" cy="842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697538" y="4386263"/>
            <a:ext cx="631825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B596AFA-5E55-CBC4-721A-BCB1BEBAB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6872" y="365125"/>
            <a:ext cx="7719991" cy="1325563"/>
          </a:xfrm>
        </p:spPr>
        <p:txBody>
          <a:bodyPr/>
          <a:lstStyle/>
          <a:p>
            <a:r>
              <a:rPr lang="en-IN" b="1" dirty="0">
                <a:latin typeface="Book Antiqua" panose="02040602050305030304" pitchFamily="18" charset="0"/>
              </a:rPr>
              <a:t>CSS Positioning Properties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xmlns="" id="{38734D9C-5D59-88A7-CECE-727EC097E6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598609790"/>
              </p:ext>
            </p:extLst>
          </p:nvPr>
        </p:nvGraphicFramePr>
        <p:xfrm>
          <a:off x="1280160" y="2158214"/>
          <a:ext cx="9763760" cy="3413760"/>
        </p:xfrm>
        <a:graphic>
          <a:graphicData uri="http://schemas.openxmlformats.org/drawingml/2006/table">
            <a:tbl>
              <a:tblPr/>
              <a:tblGrid>
                <a:gridCol w="1700355">
                  <a:extLst>
                    <a:ext uri="{9D8B030D-6E8A-4147-A177-3AD203B41FA5}">
                      <a16:colId xmlns:a16="http://schemas.microsoft.com/office/drawing/2014/main" xmlns="" val="112813322"/>
                    </a:ext>
                  </a:extLst>
                </a:gridCol>
                <a:gridCol w="8063405">
                  <a:extLst>
                    <a:ext uri="{9D8B030D-6E8A-4147-A177-3AD203B41FA5}">
                      <a16:colId xmlns:a16="http://schemas.microsoft.com/office/drawing/2014/main" xmlns="" val="33903921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 b="1" dirty="0">
                          <a:effectLst/>
                          <a:latin typeface="Book Antiqua" panose="02040602050305030304" pitchFamily="18" charset="0"/>
                        </a:rPr>
                        <a:t>Property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 b="1" dirty="0">
                          <a:effectLst/>
                          <a:latin typeface="Book Antiqua" panose="02040602050305030304" pitchFamily="18" charset="0"/>
                        </a:rPr>
                        <a:t>Description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8922956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 dirty="0">
                          <a:effectLst/>
                          <a:latin typeface="Book Antiqua" panose="02040602050305030304" pitchFamily="18" charset="0"/>
                        </a:rPr>
                        <a:t>bottom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dirty="0">
                          <a:effectLst/>
                          <a:latin typeface="Book Antiqua" panose="02040602050305030304" pitchFamily="18" charset="0"/>
                        </a:rPr>
                        <a:t>Sets the bottom margin edge for a positioned box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8416023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 dirty="0">
                          <a:effectLst/>
                          <a:latin typeface="Book Antiqua" panose="02040602050305030304" pitchFamily="18" charset="0"/>
                        </a:rPr>
                        <a:t>clip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>
                          <a:effectLst/>
                          <a:latin typeface="Book Antiqua" panose="02040602050305030304" pitchFamily="18" charset="0"/>
                        </a:rPr>
                        <a:t>Clips an absolutely positioned element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7710754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 dirty="0">
                          <a:effectLst/>
                          <a:latin typeface="Book Antiqua" panose="02040602050305030304" pitchFamily="18" charset="0"/>
                        </a:rPr>
                        <a:t>left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dirty="0">
                          <a:effectLst/>
                          <a:latin typeface="Book Antiqua" panose="02040602050305030304" pitchFamily="18" charset="0"/>
                        </a:rPr>
                        <a:t>Sets the left margin edge for a positioned box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1029498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 dirty="0">
                          <a:effectLst/>
                          <a:latin typeface="Book Antiqua" panose="02040602050305030304" pitchFamily="18" charset="0"/>
                        </a:rPr>
                        <a:t>position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>
                          <a:effectLst/>
                          <a:latin typeface="Book Antiqua" panose="02040602050305030304" pitchFamily="18" charset="0"/>
                        </a:rPr>
                        <a:t>Specifies the type of positioning for an element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2580310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 dirty="0">
                          <a:effectLst/>
                          <a:latin typeface="Book Antiqua" panose="02040602050305030304" pitchFamily="18" charset="0"/>
                        </a:rPr>
                        <a:t>right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>
                          <a:effectLst/>
                          <a:latin typeface="Book Antiqua" panose="02040602050305030304" pitchFamily="18" charset="0"/>
                        </a:rPr>
                        <a:t>Sets the right margin edge for a positioned box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0137637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 dirty="0">
                          <a:effectLst/>
                          <a:latin typeface="Book Antiqua" panose="02040602050305030304" pitchFamily="18" charset="0"/>
                        </a:rPr>
                        <a:t>top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dirty="0">
                          <a:effectLst/>
                          <a:latin typeface="Book Antiqua" panose="02040602050305030304" pitchFamily="18" charset="0"/>
                        </a:rPr>
                        <a:t>Sets the top margin edge for a positioned box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981476330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A36C54C0-12AF-5258-8FEA-7A314E30B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D827D-3A5E-4197-8547-878A82F055BA}" type="slidenum">
              <a:rPr lang="en-IN" smtClean="0"/>
              <a:pPr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005215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0886146-59F6-11A6-25C6-0F4D662A4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9998" y="193672"/>
            <a:ext cx="5062538" cy="1325563"/>
          </a:xfrm>
        </p:spPr>
        <p:txBody>
          <a:bodyPr/>
          <a:lstStyle/>
          <a:p>
            <a:r>
              <a:rPr lang="en-IN" b="1" dirty="0">
                <a:latin typeface="Book Antiqua" panose="02040602050305030304" pitchFamily="18" charset="0"/>
              </a:rPr>
              <a:t>CSS Overflow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4C0363F1-5C60-6EAA-1AD5-80DEF6C64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D827D-3A5E-4197-8547-878A82F055BA}" type="slidenum">
              <a:rPr lang="en-IN" smtClean="0"/>
              <a:pPr/>
              <a:t>9</a:t>
            </a:fld>
            <a:endParaRPr lang="en-IN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xmlns="" id="{0A940AAB-C8DF-EC4B-CFCB-CE851AEA48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746091"/>
            <a:ext cx="10795000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The CSS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Times New Roman" pitchFamily="18" charset="0"/>
                <a:cs typeface="Times New Roman" pitchFamily="18" charset="0"/>
              </a:rPr>
              <a:t>overflow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 property controls what happens to content that is too big to fit into an area.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The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Times New Roman" pitchFamily="18" charset="0"/>
                <a:cs typeface="Times New Roman" pitchFamily="18" charset="0"/>
              </a:rPr>
              <a:t>overflow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 property specifies whether to clip the content or to add scrollbars when the content of an element is too big to fit in the specified area.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The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Times New Roman" pitchFamily="18" charset="0"/>
                <a:cs typeface="Times New Roman" pitchFamily="18" charset="0"/>
              </a:rPr>
              <a:t>overflow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 property has the following values: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Times New Roman" pitchFamily="18" charset="0"/>
                <a:cs typeface="Times New Roman" pitchFamily="18" charset="0"/>
              </a:rPr>
              <a:t>visible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 - Default. The overflow is not clipped. The content renders outside the element's box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Times New Roman" pitchFamily="18" charset="0"/>
                <a:cs typeface="Times New Roman" pitchFamily="18" charset="0"/>
              </a:rPr>
              <a:t>hidden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 - The overflow is clipped, and the rest of the content will be invisible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Times New Roman" pitchFamily="18" charset="0"/>
                <a:cs typeface="Times New Roman" pitchFamily="18" charset="0"/>
              </a:rPr>
              <a:t>scroll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 - The overflow is clipped, and a scrollbar is added to see the rest of the content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Times New Roman" pitchFamily="18" charset="0"/>
                <a:cs typeface="Times New Roman" pitchFamily="18" charset="0"/>
              </a:rPr>
              <a:t>auto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 - Similar to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Times New Roman" pitchFamily="18" charset="0"/>
                <a:cs typeface="Times New Roman" pitchFamily="18" charset="0"/>
              </a:rPr>
              <a:t>scroll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, but it adds scrollbars only when necessary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xmlns="" id="{D878C92B-E933-AB0D-D41D-5B7A18300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901534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6C95516-77AD-B3E0-3A4C-8D00BED3F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775" y="-24923"/>
            <a:ext cx="10515600" cy="821651"/>
          </a:xfrm>
        </p:spPr>
        <p:txBody>
          <a:bodyPr/>
          <a:lstStyle/>
          <a:p>
            <a:r>
              <a:rPr lang="en-GB" sz="4000" b="1" dirty="0">
                <a:solidFill>
                  <a:srgbClr val="C00000"/>
                </a:solidFill>
                <a:latin typeface="Book Antiqua" panose="02040602050305030304" pitchFamily="18" charset="0"/>
              </a:rPr>
              <a:t>Overflow</a:t>
            </a:r>
            <a:endParaRPr lang="en-IN" b="1" dirty="0">
              <a:solidFill>
                <a:srgbClr val="C00000"/>
              </a:solidFill>
              <a:latin typeface="Book Antiqua" panose="0204060205030503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8E660F1-2683-5AD6-2AB3-95DADECF46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665859"/>
            <a:ext cx="5157787" cy="823912"/>
          </a:xfrm>
        </p:spPr>
        <p:txBody>
          <a:bodyPr/>
          <a:lstStyle/>
          <a:p>
            <a:r>
              <a:rPr lang="en-GB" dirty="0">
                <a:solidFill>
                  <a:srgbClr val="C00000"/>
                </a:solidFill>
                <a:latin typeface="Book Antiqua" panose="02040602050305030304" pitchFamily="18" charset="0"/>
              </a:rPr>
              <a:t>Description</a:t>
            </a:r>
            <a:endParaRPr lang="en-IN" dirty="0">
              <a:solidFill>
                <a:srgbClr val="C00000"/>
              </a:solidFill>
              <a:latin typeface="Book Antiqua" panose="0204060205030503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652F0CE1-EB65-7722-A9E1-9D39B0E892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415033"/>
            <a:ext cx="5183188" cy="823912"/>
          </a:xfrm>
        </p:spPr>
        <p:txBody>
          <a:bodyPr/>
          <a:lstStyle/>
          <a:p>
            <a:r>
              <a:rPr lang="en-GB" dirty="0">
                <a:solidFill>
                  <a:srgbClr val="C00000"/>
                </a:solidFill>
                <a:latin typeface="Book Antiqua" panose="02040602050305030304" pitchFamily="18" charset="0"/>
              </a:rPr>
              <a:t>Example</a:t>
            </a:r>
            <a:endParaRPr lang="en-IN" dirty="0">
              <a:solidFill>
                <a:srgbClr val="C00000"/>
              </a:solidFill>
              <a:latin typeface="Book Antiqua" panose="0204060205030503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4BE35661-AA68-0555-223A-1D63381FE3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40164" y="1236684"/>
            <a:ext cx="5183188" cy="456133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dirty="0"/>
              <a:t>div.ex1 {</a:t>
            </a:r>
            <a:br>
              <a:rPr lang="en-IN" sz="2000" dirty="0"/>
            </a:br>
            <a:r>
              <a:rPr lang="en-IN" sz="2000" dirty="0"/>
              <a:t>  overflow: scroll;</a:t>
            </a:r>
            <a:br>
              <a:rPr lang="en-IN" sz="2000" dirty="0"/>
            </a:br>
            <a:r>
              <a:rPr lang="en-IN" sz="2000" dirty="0"/>
              <a:t>}</a:t>
            </a:r>
            <a:br>
              <a:rPr lang="en-IN" sz="2000" dirty="0"/>
            </a:br>
            <a:r>
              <a:rPr lang="en-IN" sz="2000" dirty="0"/>
              <a:t/>
            </a:r>
            <a:br>
              <a:rPr lang="en-IN" sz="2000" dirty="0"/>
            </a:br>
            <a:r>
              <a:rPr lang="en-IN" sz="2000" dirty="0"/>
              <a:t>div.ex2 {</a:t>
            </a:r>
            <a:br>
              <a:rPr lang="en-IN" sz="2000" dirty="0"/>
            </a:br>
            <a:r>
              <a:rPr lang="en-IN" sz="2000" dirty="0"/>
              <a:t>  overflow: hidden;</a:t>
            </a:r>
            <a:br>
              <a:rPr lang="en-IN" sz="2000" dirty="0"/>
            </a:br>
            <a:r>
              <a:rPr lang="en-IN" sz="2000" dirty="0"/>
              <a:t>}</a:t>
            </a:r>
            <a:br>
              <a:rPr lang="en-IN" sz="2000" dirty="0"/>
            </a:br>
            <a:r>
              <a:rPr lang="en-IN" sz="2000" dirty="0"/>
              <a:t/>
            </a:r>
            <a:br>
              <a:rPr lang="en-IN" sz="2000" dirty="0"/>
            </a:br>
            <a:r>
              <a:rPr lang="en-IN" sz="2000" dirty="0"/>
              <a:t>div.ex3 {</a:t>
            </a:r>
            <a:br>
              <a:rPr lang="en-IN" sz="2000" dirty="0"/>
            </a:br>
            <a:r>
              <a:rPr lang="en-IN" sz="2000" dirty="0"/>
              <a:t>  overflow: auto;</a:t>
            </a:r>
            <a:br>
              <a:rPr lang="en-IN" sz="2000" dirty="0"/>
            </a:br>
            <a:r>
              <a:rPr lang="en-IN" sz="2000" dirty="0"/>
              <a:t>}</a:t>
            </a:r>
            <a:br>
              <a:rPr lang="en-IN" sz="2000" dirty="0"/>
            </a:br>
            <a:r>
              <a:rPr lang="en-IN" sz="2000" dirty="0"/>
              <a:t/>
            </a:r>
            <a:br>
              <a:rPr lang="en-IN" sz="2000" dirty="0"/>
            </a:br>
            <a:r>
              <a:rPr lang="en-IN" sz="2000" dirty="0"/>
              <a:t>div.ex4 {</a:t>
            </a:r>
            <a:br>
              <a:rPr lang="en-IN" sz="2000" dirty="0"/>
            </a:br>
            <a:r>
              <a:rPr lang="en-IN" sz="2000" dirty="0"/>
              <a:t>  overflow: clip;</a:t>
            </a:r>
            <a:br>
              <a:rPr lang="en-IN" sz="2000" dirty="0"/>
            </a:br>
            <a:r>
              <a:rPr lang="en-IN" sz="2000" dirty="0"/>
              <a:t>}</a:t>
            </a:r>
            <a:br>
              <a:rPr lang="en-IN" sz="2000" dirty="0"/>
            </a:br>
            <a:r>
              <a:rPr lang="en-IN" sz="2000" dirty="0"/>
              <a:t/>
            </a:r>
            <a:br>
              <a:rPr lang="en-IN" sz="2000" dirty="0"/>
            </a:br>
            <a:r>
              <a:rPr lang="en-IN" sz="2000" dirty="0"/>
              <a:t>div.ex5 {</a:t>
            </a:r>
            <a:br>
              <a:rPr lang="en-IN" sz="2000" dirty="0"/>
            </a:br>
            <a:r>
              <a:rPr lang="en-IN" sz="2000" dirty="0"/>
              <a:t>  overflow: visible;</a:t>
            </a:r>
            <a:br>
              <a:rPr lang="en-IN" sz="2000" dirty="0"/>
            </a:br>
            <a:r>
              <a:rPr lang="en-IN" sz="2000" dirty="0"/>
              <a:t>}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D827D-3A5E-4197-8547-878A82F055BA}" type="slidenum">
              <a:rPr lang="en-IN" smtClean="0"/>
              <a:pPr/>
              <a:t>10</a:t>
            </a:fld>
            <a:endParaRPr lang="en-IN"/>
          </a:p>
        </p:txBody>
      </p:sp>
      <p:sp>
        <p:nvSpPr>
          <p:cNvPr id="9" name="Rectangle 1"/>
          <p:cNvSpPr>
            <a:spLocks noGrp="1" noChangeArrowheads="1"/>
          </p:cNvSpPr>
          <p:nvPr>
            <p:ph sz="half" idx="2"/>
          </p:nvPr>
        </p:nvSpPr>
        <p:spPr bwMode="auto">
          <a:xfrm>
            <a:off x="739775" y="1766322"/>
            <a:ext cx="4879910" cy="3416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100000"/>
              </a:lnSpc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The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Book Antiqua" panose="02040602050305030304" pitchFamily="18" charset="0"/>
              </a:rPr>
              <a:t>overflow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 property specifies what should happen if content overflows an element's box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.</a:t>
            </a:r>
          </a:p>
          <a:p>
            <a:pPr algn="just">
              <a:lnSpc>
                <a:spcPct val="100000"/>
              </a:lnSpc>
              <a:buNone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 Antiqua" panose="0204060205030503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This property specifies whether to clip content or to add scrollbars when an element's content is too big to fit in a specified area.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021870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6C95516-77AD-B3E0-3A4C-8D00BED3F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775" y="-24923"/>
            <a:ext cx="10515600" cy="821651"/>
          </a:xfrm>
        </p:spPr>
        <p:txBody>
          <a:bodyPr/>
          <a:lstStyle/>
          <a:p>
            <a:r>
              <a:rPr lang="en-US" sz="4000" b="1" dirty="0" smtClean="0"/>
              <a:t>overflow: visible (Default)</a:t>
            </a:r>
            <a:endParaRPr lang="en-IN" b="1" dirty="0">
              <a:solidFill>
                <a:srgbClr val="C00000"/>
              </a:solidFill>
              <a:latin typeface="Book Antiqua" panose="0204060205030503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8E660F1-2683-5AD6-2AB3-95DADECF46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665859"/>
            <a:ext cx="5157787" cy="823912"/>
          </a:xfrm>
        </p:spPr>
        <p:txBody>
          <a:bodyPr/>
          <a:lstStyle/>
          <a:p>
            <a:r>
              <a:rPr lang="en-GB" dirty="0">
                <a:solidFill>
                  <a:srgbClr val="C00000"/>
                </a:solidFill>
                <a:latin typeface="Book Antiqua" panose="02040602050305030304" pitchFamily="18" charset="0"/>
              </a:rPr>
              <a:t>Description</a:t>
            </a:r>
            <a:endParaRPr lang="en-IN" dirty="0">
              <a:solidFill>
                <a:srgbClr val="C00000"/>
              </a:solidFill>
              <a:latin typeface="Book Antiqua" panose="0204060205030503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652F0CE1-EB65-7722-A9E1-9D39B0E892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415033"/>
            <a:ext cx="5183188" cy="823912"/>
          </a:xfrm>
        </p:spPr>
        <p:txBody>
          <a:bodyPr/>
          <a:lstStyle/>
          <a:p>
            <a:r>
              <a:rPr lang="en-GB" dirty="0">
                <a:solidFill>
                  <a:srgbClr val="C00000"/>
                </a:solidFill>
                <a:latin typeface="Book Antiqua" panose="02040602050305030304" pitchFamily="18" charset="0"/>
              </a:rPr>
              <a:t>Example</a:t>
            </a:r>
            <a:endParaRPr lang="en-IN" dirty="0">
              <a:solidFill>
                <a:srgbClr val="C00000"/>
              </a:solidFill>
              <a:latin typeface="Book Antiqua" panose="0204060205030503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4BE35661-AA68-0555-223A-1D63381FE3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40164" y="1236684"/>
            <a:ext cx="5183188" cy="456133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dirty="0" smtClean="0"/>
              <a:t>&lt;div class="visible-box"&gt;</a:t>
            </a:r>
          </a:p>
          <a:p>
            <a:pPr marL="0" indent="0">
              <a:buNone/>
            </a:pPr>
            <a:r>
              <a:rPr lang="en-IN" sz="2000" dirty="0" smtClean="0"/>
              <a:t>  This content is too large and will overflow outside the box</a:t>
            </a:r>
            <a:r>
              <a:rPr lang="en-IN" sz="2000" dirty="0" smtClean="0"/>
              <a:t>. </a:t>
            </a:r>
            <a:r>
              <a:rPr lang="en-IN" sz="2000" dirty="0" smtClean="0"/>
              <a:t>This content is too large and will overflow outside the box.</a:t>
            </a:r>
          </a:p>
          <a:p>
            <a:pPr marL="0" indent="0">
              <a:buNone/>
            </a:pPr>
            <a:r>
              <a:rPr lang="en-IN" sz="2000" dirty="0" smtClean="0"/>
              <a:t>&lt;/div</a:t>
            </a:r>
            <a:r>
              <a:rPr lang="en-IN" sz="2000" dirty="0" smtClean="0"/>
              <a:t>&gt;</a:t>
            </a:r>
            <a:endParaRPr lang="en-IN" sz="2000" dirty="0" smtClean="0"/>
          </a:p>
          <a:p>
            <a:pPr marL="0" indent="0">
              <a:buNone/>
            </a:pPr>
            <a:r>
              <a:rPr lang="en-IN" sz="2000" dirty="0" smtClean="0"/>
              <a:t>&lt;style&gt;</a:t>
            </a:r>
          </a:p>
          <a:p>
            <a:pPr marL="0" indent="0">
              <a:buNone/>
            </a:pPr>
            <a:r>
              <a:rPr lang="en-IN" sz="2000" dirty="0" smtClean="0"/>
              <a:t>.visible-box {</a:t>
            </a:r>
          </a:p>
          <a:p>
            <a:pPr marL="0" indent="0">
              <a:buNone/>
            </a:pPr>
            <a:r>
              <a:rPr lang="en-IN" sz="2000" dirty="0" smtClean="0"/>
              <a:t>  width: 150px;</a:t>
            </a:r>
          </a:p>
          <a:p>
            <a:pPr marL="0" indent="0">
              <a:buNone/>
            </a:pPr>
            <a:r>
              <a:rPr lang="en-IN" sz="2000" dirty="0" smtClean="0"/>
              <a:t>  height: 80px;</a:t>
            </a:r>
          </a:p>
          <a:p>
            <a:pPr marL="0" indent="0">
              <a:buNone/>
            </a:pPr>
            <a:r>
              <a:rPr lang="en-IN" sz="2000" dirty="0" smtClean="0"/>
              <a:t>  border: 2px solid black;</a:t>
            </a:r>
          </a:p>
          <a:p>
            <a:pPr marL="0" indent="0">
              <a:buNone/>
            </a:pPr>
            <a:r>
              <a:rPr lang="en-IN" sz="2000" dirty="0" smtClean="0"/>
              <a:t>  overflow: visible;</a:t>
            </a:r>
          </a:p>
          <a:p>
            <a:pPr marL="0" indent="0">
              <a:buNone/>
            </a:pPr>
            <a:r>
              <a:rPr lang="en-IN" sz="2000" dirty="0" smtClean="0"/>
              <a:t>}</a:t>
            </a:r>
          </a:p>
          <a:p>
            <a:pPr marL="0" indent="0">
              <a:buNone/>
            </a:pPr>
            <a:r>
              <a:rPr lang="en-IN" sz="2000" dirty="0" smtClean="0"/>
              <a:t>&lt;/style&gt;</a:t>
            </a:r>
            <a:endParaRPr lang="en-IN" sz="20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D827D-3A5E-4197-8547-878A82F055BA}" type="slidenum">
              <a:rPr lang="en-IN" smtClean="0"/>
              <a:pPr/>
              <a:t>11</a:t>
            </a:fld>
            <a:endParaRPr lang="en-IN"/>
          </a:p>
        </p:txBody>
      </p:sp>
      <p:sp>
        <p:nvSpPr>
          <p:cNvPr id="9" name="Rectangle 1"/>
          <p:cNvSpPr>
            <a:spLocks noGrp="1" noChangeArrowheads="1"/>
          </p:cNvSpPr>
          <p:nvPr>
            <p:ph sz="half" idx="2"/>
          </p:nvPr>
        </p:nvSpPr>
        <p:spPr bwMode="auto">
          <a:xfrm>
            <a:off x="739775" y="1766322"/>
            <a:ext cx="4879910" cy="1421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Content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overflows outside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the container.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Container size does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not change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This is the default behavior.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73301" y="4638675"/>
            <a:ext cx="1666875" cy="1123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19021870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6C95516-77AD-B3E0-3A4C-8D00BED3F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775" y="-24923"/>
            <a:ext cx="10515600" cy="821651"/>
          </a:xfrm>
        </p:spPr>
        <p:txBody>
          <a:bodyPr/>
          <a:lstStyle/>
          <a:p>
            <a:r>
              <a:rPr lang="en-US" sz="4000" b="1" dirty="0" smtClean="0"/>
              <a:t>overflow: </a:t>
            </a:r>
            <a:r>
              <a:rPr lang="en-US" sz="4000" b="1" dirty="0" smtClean="0"/>
              <a:t>hidden</a:t>
            </a:r>
            <a:endParaRPr lang="en-IN" b="1" dirty="0">
              <a:solidFill>
                <a:srgbClr val="C00000"/>
              </a:solidFill>
              <a:latin typeface="Book Antiqua" panose="0204060205030503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8E660F1-2683-5AD6-2AB3-95DADECF46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665859"/>
            <a:ext cx="5157787" cy="823912"/>
          </a:xfrm>
        </p:spPr>
        <p:txBody>
          <a:bodyPr/>
          <a:lstStyle/>
          <a:p>
            <a:r>
              <a:rPr lang="en-GB" dirty="0">
                <a:solidFill>
                  <a:srgbClr val="C00000"/>
                </a:solidFill>
                <a:latin typeface="Book Antiqua" panose="02040602050305030304" pitchFamily="18" charset="0"/>
              </a:rPr>
              <a:t>Description</a:t>
            </a:r>
            <a:endParaRPr lang="en-IN" dirty="0">
              <a:solidFill>
                <a:srgbClr val="C00000"/>
              </a:solidFill>
              <a:latin typeface="Book Antiqua" panose="0204060205030503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652F0CE1-EB65-7722-A9E1-9D39B0E892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415033"/>
            <a:ext cx="5183188" cy="823912"/>
          </a:xfrm>
        </p:spPr>
        <p:txBody>
          <a:bodyPr/>
          <a:lstStyle/>
          <a:p>
            <a:r>
              <a:rPr lang="en-GB" dirty="0">
                <a:solidFill>
                  <a:srgbClr val="C00000"/>
                </a:solidFill>
                <a:latin typeface="Book Antiqua" panose="02040602050305030304" pitchFamily="18" charset="0"/>
              </a:rPr>
              <a:t>Example</a:t>
            </a:r>
            <a:endParaRPr lang="en-IN" dirty="0">
              <a:solidFill>
                <a:srgbClr val="C00000"/>
              </a:solidFill>
              <a:latin typeface="Book Antiqua" panose="0204060205030503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4BE35661-AA68-0555-223A-1D63381FE3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40164" y="1236684"/>
            <a:ext cx="5183188" cy="456133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 smtClean="0"/>
              <a:t>&lt;div class="hidden-box"&gt;</a:t>
            </a:r>
          </a:p>
          <a:p>
            <a:pPr marL="0" indent="0">
              <a:buNone/>
            </a:pPr>
            <a:r>
              <a:rPr lang="en-US" sz="2000" dirty="0" smtClean="0"/>
              <a:t>  This content will be hidden if it exceeds the box size.</a:t>
            </a:r>
          </a:p>
          <a:p>
            <a:pPr marL="0" indent="0">
              <a:buNone/>
            </a:pPr>
            <a:r>
              <a:rPr lang="en-US" sz="2000" dirty="0" smtClean="0"/>
              <a:t>&lt;/div&gt;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&lt;style&gt;</a:t>
            </a:r>
          </a:p>
          <a:p>
            <a:pPr marL="0" indent="0">
              <a:buNone/>
            </a:pPr>
            <a:r>
              <a:rPr lang="en-US" sz="2000" dirty="0" smtClean="0"/>
              <a:t>.hidden-box {</a:t>
            </a:r>
          </a:p>
          <a:p>
            <a:pPr marL="0" indent="0">
              <a:buNone/>
            </a:pPr>
            <a:r>
              <a:rPr lang="en-US" sz="2000" dirty="0" smtClean="0"/>
              <a:t>  width: 150px;</a:t>
            </a:r>
          </a:p>
          <a:p>
            <a:pPr marL="0" indent="0">
              <a:buNone/>
            </a:pPr>
            <a:r>
              <a:rPr lang="en-US" sz="2000" dirty="0" smtClean="0"/>
              <a:t>  height: 80px;</a:t>
            </a:r>
          </a:p>
          <a:p>
            <a:pPr marL="0" indent="0">
              <a:buNone/>
            </a:pPr>
            <a:r>
              <a:rPr lang="en-US" sz="2000" dirty="0" smtClean="0"/>
              <a:t>  border: 2px solid black;</a:t>
            </a:r>
          </a:p>
          <a:p>
            <a:pPr marL="0" indent="0">
              <a:buNone/>
            </a:pPr>
            <a:r>
              <a:rPr lang="en-US" sz="2000" dirty="0" smtClean="0"/>
              <a:t>  overflow: hidden;</a:t>
            </a:r>
          </a:p>
          <a:p>
            <a:pPr marL="0" indent="0">
              <a:buNone/>
            </a:pPr>
            <a:r>
              <a:rPr lang="en-US" sz="2000" dirty="0" smtClean="0"/>
              <a:t>}</a:t>
            </a:r>
          </a:p>
          <a:p>
            <a:pPr marL="0" indent="0">
              <a:buNone/>
            </a:pPr>
            <a:r>
              <a:rPr lang="en-US" sz="2000" dirty="0" smtClean="0"/>
              <a:t>&lt;/style&gt;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D827D-3A5E-4197-8547-878A82F055BA}" type="slidenum">
              <a:rPr lang="en-IN" smtClean="0"/>
              <a:pPr/>
              <a:t>12</a:t>
            </a:fld>
            <a:endParaRPr lang="en-IN"/>
          </a:p>
        </p:txBody>
      </p:sp>
      <p:sp>
        <p:nvSpPr>
          <p:cNvPr id="9" name="Rectangle 1"/>
          <p:cNvSpPr>
            <a:spLocks noGrp="1" noChangeArrowheads="1"/>
          </p:cNvSpPr>
          <p:nvPr>
            <p:ph sz="half" idx="2"/>
          </p:nvPr>
        </p:nvSpPr>
        <p:spPr bwMode="auto">
          <a:xfrm>
            <a:off x="739775" y="1766322"/>
            <a:ext cx="4879910" cy="175432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Extra content is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clipped and hidden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No scrollbars are shown.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Overflowed content cannot be accessed.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82813" y="4230099"/>
            <a:ext cx="2160587" cy="1242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19021870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6C95516-77AD-B3E0-3A4C-8D00BED3F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775" y="-24923"/>
            <a:ext cx="10515600" cy="821651"/>
          </a:xfrm>
        </p:spPr>
        <p:txBody>
          <a:bodyPr/>
          <a:lstStyle/>
          <a:p>
            <a:r>
              <a:rPr lang="en-US" sz="4000" b="1" dirty="0" smtClean="0"/>
              <a:t>overflow: </a:t>
            </a:r>
            <a:r>
              <a:rPr lang="en-US" sz="4000" b="1" dirty="0" smtClean="0"/>
              <a:t>scroll</a:t>
            </a:r>
            <a:endParaRPr lang="en-IN" b="1" dirty="0">
              <a:solidFill>
                <a:srgbClr val="C00000"/>
              </a:solidFill>
              <a:latin typeface="Book Antiqua" panose="0204060205030503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8E660F1-2683-5AD6-2AB3-95DADECF46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665859"/>
            <a:ext cx="5157787" cy="823912"/>
          </a:xfrm>
        </p:spPr>
        <p:txBody>
          <a:bodyPr/>
          <a:lstStyle/>
          <a:p>
            <a:r>
              <a:rPr lang="en-GB" dirty="0">
                <a:solidFill>
                  <a:srgbClr val="C00000"/>
                </a:solidFill>
                <a:latin typeface="Book Antiqua" panose="02040602050305030304" pitchFamily="18" charset="0"/>
              </a:rPr>
              <a:t>Description</a:t>
            </a:r>
            <a:endParaRPr lang="en-IN" dirty="0">
              <a:solidFill>
                <a:srgbClr val="C00000"/>
              </a:solidFill>
              <a:latin typeface="Book Antiqua" panose="0204060205030503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652F0CE1-EB65-7722-A9E1-9D39B0E892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415033"/>
            <a:ext cx="5183188" cy="823912"/>
          </a:xfrm>
        </p:spPr>
        <p:txBody>
          <a:bodyPr/>
          <a:lstStyle/>
          <a:p>
            <a:r>
              <a:rPr lang="en-GB" dirty="0">
                <a:solidFill>
                  <a:srgbClr val="C00000"/>
                </a:solidFill>
                <a:latin typeface="Book Antiqua" panose="02040602050305030304" pitchFamily="18" charset="0"/>
              </a:rPr>
              <a:t>Example</a:t>
            </a:r>
            <a:endParaRPr lang="en-IN" dirty="0">
              <a:solidFill>
                <a:srgbClr val="C00000"/>
              </a:solidFill>
              <a:latin typeface="Book Antiqua" panose="0204060205030503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4BE35661-AA68-0555-223A-1D63381FE3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40164" y="1236684"/>
            <a:ext cx="5183188" cy="456133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 smtClean="0"/>
              <a:t>&lt;div class="scroll-box"&gt;</a:t>
            </a:r>
          </a:p>
          <a:p>
            <a:pPr marL="0" indent="0">
              <a:buNone/>
            </a:pPr>
            <a:r>
              <a:rPr lang="en-US" sz="2000" dirty="0" smtClean="0"/>
              <a:t>  This content is scrollable even if it fits.</a:t>
            </a:r>
          </a:p>
          <a:p>
            <a:pPr marL="0" indent="0">
              <a:buNone/>
            </a:pPr>
            <a:r>
              <a:rPr lang="en-US" sz="2000" dirty="0" smtClean="0"/>
              <a:t>&lt;/div&gt;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&lt;style&gt;</a:t>
            </a:r>
          </a:p>
          <a:p>
            <a:pPr marL="0" indent="0">
              <a:buNone/>
            </a:pPr>
            <a:r>
              <a:rPr lang="en-US" sz="2000" dirty="0" smtClean="0"/>
              <a:t>.scroll-box {</a:t>
            </a:r>
          </a:p>
          <a:p>
            <a:pPr marL="0" indent="0">
              <a:buNone/>
            </a:pPr>
            <a:r>
              <a:rPr lang="en-US" sz="2000" dirty="0" smtClean="0"/>
              <a:t>  width: 150px;</a:t>
            </a:r>
          </a:p>
          <a:p>
            <a:pPr marL="0" indent="0">
              <a:buNone/>
            </a:pPr>
            <a:r>
              <a:rPr lang="en-US" sz="2000" dirty="0" smtClean="0"/>
              <a:t>  height: 80px;</a:t>
            </a:r>
          </a:p>
          <a:p>
            <a:pPr marL="0" indent="0">
              <a:buNone/>
            </a:pPr>
            <a:r>
              <a:rPr lang="en-US" sz="2000" dirty="0" smtClean="0"/>
              <a:t>  border: 2px solid black;</a:t>
            </a:r>
          </a:p>
          <a:p>
            <a:pPr marL="0" indent="0">
              <a:buNone/>
            </a:pPr>
            <a:r>
              <a:rPr lang="en-US" sz="2000" dirty="0" smtClean="0"/>
              <a:t>  overflow: scroll;</a:t>
            </a:r>
          </a:p>
          <a:p>
            <a:pPr marL="0" indent="0">
              <a:buNone/>
            </a:pPr>
            <a:r>
              <a:rPr lang="en-US" sz="2000" dirty="0" smtClean="0"/>
              <a:t>}</a:t>
            </a:r>
          </a:p>
          <a:p>
            <a:pPr marL="0" indent="0">
              <a:buNone/>
            </a:pPr>
            <a:r>
              <a:rPr lang="en-US" sz="2000" dirty="0" smtClean="0"/>
              <a:t>&lt;/style&gt;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D827D-3A5E-4197-8547-878A82F055BA}" type="slidenum">
              <a:rPr lang="en-IN" smtClean="0"/>
              <a:pPr/>
              <a:t>13</a:t>
            </a:fld>
            <a:endParaRPr lang="en-IN"/>
          </a:p>
        </p:txBody>
      </p:sp>
      <p:sp>
        <p:nvSpPr>
          <p:cNvPr id="9" name="Rectangle 1"/>
          <p:cNvSpPr>
            <a:spLocks noGrp="1" noChangeArrowheads="1"/>
          </p:cNvSpPr>
          <p:nvPr>
            <p:ph sz="half" idx="2"/>
          </p:nvPr>
        </p:nvSpPr>
        <p:spPr bwMode="auto">
          <a:xfrm>
            <a:off x="739775" y="1766322"/>
            <a:ext cx="4879910" cy="7571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Scrollbars are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always shown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Allows scrolling even if content fits.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73797" y="3509962"/>
            <a:ext cx="2628280" cy="1519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19021870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6C95516-77AD-B3E0-3A4C-8D00BED3F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775" y="-24923"/>
            <a:ext cx="10515600" cy="821651"/>
          </a:xfrm>
        </p:spPr>
        <p:txBody>
          <a:bodyPr/>
          <a:lstStyle/>
          <a:p>
            <a:r>
              <a:rPr lang="en-US" sz="4000" b="1" dirty="0" smtClean="0"/>
              <a:t>overflow: </a:t>
            </a:r>
            <a:r>
              <a:rPr lang="en-US" sz="4000" b="1" dirty="0" smtClean="0"/>
              <a:t>auto</a:t>
            </a:r>
            <a:endParaRPr lang="en-IN" b="1" dirty="0">
              <a:solidFill>
                <a:srgbClr val="C00000"/>
              </a:solidFill>
              <a:latin typeface="Book Antiqua" panose="0204060205030503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8E660F1-2683-5AD6-2AB3-95DADECF46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665859"/>
            <a:ext cx="5157787" cy="823912"/>
          </a:xfrm>
        </p:spPr>
        <p:txBody>
          <a:bodyPr/>
          <a:lstStyle/>
          <a:p>
            <a:r>
              <a:rPr lang="en-GB" dirty="0">
                <a:solidFill>
                  <a:srgbClr val="C00000"/>
                </a:solidFill>
                <a:latin typeface="Book Antiqua" panose="02040602050305030304" pitchFamily="18" charset="0"/>
              </a:rPr>
              <a:t>Description</a:t>
            </a:r>
            <a:endParaRPr lang="en-IN" dirty="0">
              <a:solidFill>
                <a:srgbClr val="C00000"/>
              </a:solidFill>
              <a:latin typeface="Book Antiqua" panose="0204060205030503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652F0CE1-EB65-7722-A9E1-9D39B0E892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415033"/>
            <a:ext cx="5183188" cy="823912"/>
          </a:xfrm>
        </p:spPr>
        <p:txBody>
          <a:bodyPr/>
          <a:lstStyle/>
          <a:p>
            <a:r>
              <a:rPr lang="en-GB" dirty="0">
                <a:solidFill>
                  <a:srgbClr val="C00000"/>
                </a:solidFill>
                <a:latin typeface="Book Antiqua" panose="02040602050305030304" pitchFamily="18" charset="0"/>
              </a:rPr>
              <a:t>Example</a:t>
            </a:r>
            <a:endParaRPr lang="en-IN" dirty="0">
              <a:solidFill>
                <a:srgbClr val="C00000"/>
              </a:solidFill>
              <a:latin typeface="Book Antiqua" panose="0204060205030503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4BE35661-AA68-0555-223A-1D63381FE3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40164" y="1236684"/>
            <a:ext cx="5183188" cy="456133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 smtClean="0"/>
              <a:t>&lt;div class="auto-box"&gt;</a:t>
            </a:r>
          </a:p>
          <a:p>
            <a:pPr marL="0" indent="0">
              <a:buNone/>
            </a:pPr>
            <a:r>
              <a:rPr lang="en-US" sz="2000" dirty="0" smtClean="0"/>
              <a:t>  This content will show scrollbars only if required.</a:t>
            </a:r>
          </a:p>
          <a:p>
            <a:pPr marL="0" indent="0">
              <a:buNone/>
            </a:pPr>
            <a:r>
              <a:rPr lang="en-US" sz="2000" dirty="0" smtClean="0"/>
              <a:t>&lt;/div&gt;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&lt;style&gt;</a:t>
            </a:r>
          </a:p>
          <a:p>
            <a:pPr marL="0" indent="0">
              <a:buNone/>
            </a:pPr>
            <a:r>
              <a:rPr lang="en-US" sz="2000" dirty="0" smtClean="0"/>
              <a:t>.auto-box {</a:t>
            </a:r>
          </a:p>
          <a:p>
            <a:pPr marL="0" indent="0">
              <a:buNone/>
            </a:pPr>
            <a:r>
              <a:rPr lang="en-US" sz="2000" dirty="0" smtClean="0"/>
              <a:t>  width: 150px;</a:t>
            </a:r>
          </a:p>
          <a:p>
            <a:pPr marL="0" indent="0">
              <a:buNone/>
            </a:pPr>
            <a:r>
              <a:rPr lang="en-US" sz="2000" dirty="0" smtClean="0"/>
              <a:t>  height: 80px;</a:t>
            </a:r>
          </a:p>
          <a:p>
            <a:pPr marL="0" indent="0">
              <a:buNone/>
            </a:pPr>
            <a:r>
              <a:rPr lang="en-US" sz="2000" dirty="0" smtClean="0"/>
              <a:t>  border: 2px solid black;</a:t>
            </a:r>
          </a:p>
          <a:p>
            <a:pPr marL="0" indent="0">
              <a:buNone/>
            </a:pPr>
            <a:r>
              <a:rPr lang="en-US" sz="2000" dirty="0" smtClean="0"/>
              <a:t>  overflow: auto;</a:t>
            </a:r>
          </a:p>
          <a:p>
            <a:pPr marL="0" indent="0">
              <a:buNone/>
            </a:pPr>
            <a:r>
              <a:rPr lang="en-US" sz="2000" dirty="0" smtClean="0"/>
              <a:t>}</a:t>
            </a:r>
          </a:p>
          <a:p>
            <a:pPr marL="0" indent="0">
              <a:buNone/>
            </a:pPr>
            <a:r>
              <a:rPr lang="en-US" sz="2000" dirty="0" smtClean="0"/>
              <a:t>&lt;/style&gt;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D827D-3A5E-4197-8547-878A82F055BA}" type="slidenum">
              <a:rPr lang="en-IN" smtClean="0"/>
              <a:pPr/>
              <a:t>14</a:t>
            </a:fld>
            <a:endParaRPr lang="en-IN"/>
          </a:p>
        </p:txBody>
      </p:sp>
      <p:sp>
        <p:nvSpPr>
          <p:cNvPr id="9" name="Rectangle 1"/>
          <p:cNvSpPr>
            <a:spLocks noGrp="1" noChangeArrowheads="1"/>
          </p:cNvSpPr>
          <p:nvPr>
            <p:ph sz="half" idx="2"/>
          </p:nvPr>
        </p:nvSpPr>
        <p:spPr bwMode="auto">
          <a:xfrm>
            <a:off x="739775" y="1766322"/>
            <a:ext cx="4879910" cy="108952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Scrollbars appear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only when needed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Most commonly used value.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28838" y="3638549"/>
            <a:ext cx="2535238" cy="14825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19021870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6C95516-77AD-B3E0-3A4C-8D00BED3F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775" y="-24923"/>
            <a:ext cx="10515600" cy="821651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Direction-Specific Overflow</a:t>
            </a:r>
            <a:endParaRPr lang="en-IN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652F0CE1-EB65-7722-A9E1-9D39B0E892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143144" y="1186585"/>
            <a:ext cx="5183188" cy="823912"/>
          </a:xfrm>
        </p:spPr>
        <p:txBody>
          <a:bodyPr/>
          <a:lstStyle/>
          <a:p>
            <a:r>
              <a:rPr lang="en-GB" dirty="0">
                <a:solidFill>
                  <a:srgbClr val="C00000"/>
                </a:solidFill>
                <a:latin typeface="Book Antiqua" panose="02040602050305030304" pitchFamily="18" charset="0"/>
              </a:rPr>
              <a:t>Example</a:t>
            </a:r>
            <a:endParaRPr lang="en-IN" dirty="0">
              <a:solidFill>
                <a:srgbClr val="C00000"/>
              </a:solidFill>
              <a:latin typeface="Book Antiqua" panose="0204060205030503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4BE35661-AA68-0555-223A-1D63381FE3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411108" y="2008236"/>
            <a:ext cx="5183188" cy="136364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 smtClean="0"/>
              <a:t>.box {</a:t>
            </a:r>
          </a:p>
          <a:p>
            <a:pPr marL="0" indent="0">
              <a:buNone/>
            </a:pPr>
            <a:r>
              <a:rPr lang="en-US" sz="2000" dirty="0" smtClean="0"/>
              <a:t>  overflow-x: hidden; /* horizontal */</a:t>
            </a:r>
          </a:p>
          <a:p>
            <a:pPr marL="0" indent="0">
              <a:buNone/>
            </a:pPr>
            <a:r>
              <a:rPr lang="en-US" sz="2000" dirty="0" smtClean="0"/>
              <a:t>  overflow-y: scroll; /* vertical */</a:t>
            </a:r>
          </a:p>
          <a:p>
            <a:pPr marL="0" indent="0">
              <a:buNone/>
            </a:pPr>
            <a:r>
              <a:rPr lang="en-US" sz="2000" dirty="0" smtClean="0"/>
              <a:t>}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D827D-3A5E-4197-8547-878A82F055BA}" type="slidenum">
              <a:rPr lang="en-IN" smtClean="0"/>
              <a:pPr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9021870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4D4E64D-D5E4-5B1A-59B6-828158821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5592" y="365125"/>
            <a:ext cx="6319817" cy="1325563"/>
          </a:xfrm>
        </p:spPr>
        <p:txBody>
          <a:bodyPr/>
          <a:lstStyle/>
          <a:p>
            <a:r>
              <a:rPr lang="en-IN" b="1" dirty="0">
                <a:latin typeface="Book Antiqua" panose="02040602050305030304" pitchFamily="18" charset="0"/>
              </a:rPr>
              <a:t>Overflow-properties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6F3C1F1D-A3CF-9EDB-FF18-6103E859E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D827D-3A5E-4197-8547-878A82F055BA}" type="slidenum">
              <a:rPr lang="en-IN" smtClean="0"/>
              <a:pPr/>
              <a:t>16</a:t>
            </a:fld>
            <a:endParaRPr lang="en-IN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xmlns="" id="{B928A0F2-DC8B-0375-7284-08C9E1FD83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2921007756"/>
              </p:ext>
            </p:extLst>
          </p:nvPr>
        </p:nvGraphicFramePr>
        <p:xfrm>
          <a:off x="2300288" y="1825626"/>
          <a:ext cx="8472487" cy="4351336"/>
        </p:xfrm>
        <a:graphic>
          <a:graphicData uri="http://schemas.openxmlformats.org/drawingml/2006/table">
            <a:tbl>
              <a:tblPr/>
              <a:tblGrid>
                <a:gridCol w="2116050">
                  <a:extLst>
                    <a:ext uri="{9D8B030D-6E8A-4147-A177-3AD203B41FA5}">
                      <a16:colId xmlns:a16="http://schemas.microsoft.com/office/drawing/2014/main" xmlns="" val="2743529363"/>
                    </a:ext>
                  </a:extLst>
                </a:gridCol>
                <a:gridCol w="6356437">
                  <a:extLst>
                    <a:ext uri="{9D8B030D-6E8A-4147-A177-3AD203B41FA5}">
                      <a16:colId xmlns:a16="http://schemas.microsoft.com/office/drawing/2014/main" xmlns="" val="2491722870"/>
                    </a:ext>
                  </a:extLst>
                </a:gridCol>
              </a:tblGrid>
              <a:tr h="377116">
                <a:tc>
                  <a:txBody>
                    <a:bodyPr/>
                    <a:lstStyle/>
                    <a:p>
                      <a:pPr algn="ctr" fontAlgn="t"/>
                      <a:r>
                        <a:rPr lang="en-IN" sz="1700" b="1" dirty="0">
                          <a:effectLst/>
                          <a:latin typeface="Book Antiqua" panose="02040602050305030304" pitchFamily="18" charset="0"/>
                        </a:rPr>
                        <a:t>Property</a:t>
                      </a:r>
                    </a:p>
                  </a:txBody>
                  <a:tcPr marL="116036" marR="58018" marT="58018" marB="58018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700" b="1" dirty="0">
                          <a:effectLst/>
                          <a:latin typeface="Book Antiqua" panose="02040602050305030304" pitchFamily="18" charset="0"/>
                        </a:rPr>
                        <a:t>Description</a:t>
                      </a:r>
                    </a:p>
                  </a:txBody>
                  <a:tcPr marL="58018" marR="58018" marT="58018" marB="58018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304821382"/>
                  </a:ext>
                </a:extLst>
              </a:tr>
              <a:tr h="638196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1" dirty="0">
                          <a:effectLst/>
                          <a:latin typeface="Book Antiqua" panose="02040602050305030304" pitchFamily="18" charset="0"/>
                        </a:rPr>
                        <a:t>overflow</a:t>
                      </a:r>
                    </a:p>
                  </a:txBody>
                  <a:tcPr marL="116036" marR="58018" marT="58018" marB="58018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  <a:latin typeface="Book Antiqua" panose="02040602050305030304" pitchFamily="18" charset="0"/>
                        </a:rPr>
                        <a:t>Specifies what happens if content overflows an element's box</a:t>
                      </a:r>
                    </a:p>
                  </a:txBody>
                  <a:tcPr marL="58018" marR="58018" marT="58018" marB="58018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149134307"/>
                  </a:ext>
                </a:extLst>
              </a:tr>
              <a:tr h="638196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1" dirty="0">
                          <a:effectLst/>
                          <a:latin typeface="Book Antiqua" panose="02040602050305030304" pitchFamily="18" charset="0"/>
                        </a:rPr>
                        <a:t>overflow-anchor</a:t>
                      </a:r>
                    </a:p>
                  </a:txBody>
                  <a:tcPr marL="116036" marR="58018" marT="58018" marB="58018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  <a:latin typeface="Book Antiqua" panose="02040602050305030304" pitchFamily="18" charset="0"/>
                        </a:rPr>
                        <a:t>Makes it possible to turn off scroll anchoring</a:t>
                      </a:r>
                    </a:p>
                  </a:txBody>
                  <a:tcPr marL="58018" marR="58018" marT="58018" marB="58018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210024693"/>
                  </a:ext>
                </a:extLst>
              </a:tr>
              <a:tr h="899276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1" dirty="0">
                          <a:effectLst/>
                          <a:latin typeface="Book Antiqua" panose="02040602050305030304" pitchFamily="18" charset="0"/>
                        </a:rPr>
                        <a:t>overflow-x</a:t>
                      </a:r>
                    </a:p>
                  </a:txBody>
                  <a:tcPr marL="116036" marR="58018" marT="58018" marB="58018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  <a:latin typeface="Book Antiqua" panose="02040602050305030304" pitchFamily="18" charset="0"/>
                        </a:rPr>
                        <a:t>Specifies what to do with the left/right edges of the content if it overflows the element's content area</a:t>
                      </a:r>
                    </a:p>
                  </a:txBody>
                  <a:tcPr marL="58018" marR="58018" marT="58018" marB="58018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131461815"/>
                  </a:ext>
                </a:extLst>
              </a:tr>
              <a:tr h="899276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1" dirty="0">
                          <a:effectLst/>
                          <a:latin typeface="Book Antiqua" panose="02040602050305030304" pitchFamily="18" charset="0"/>
                        </a:rPr>
                        <a:t>overflow-y</a:t>
                      </a:r>
                    </a:p>
                  </a:txBody>
                  <a:tcPr marL="116036" marR="58018" marT="58018" marB="58018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  <a:latin typeface="Book Antiqua" panose="02040602050305030304" pitchFamily="18" charset="0"/>
                        </a:rPr>
                        <a:t>Specifies what to do with the top/bottom edges of the content if it overflows the element's content area</a:t>
                      </a:r>
                    </a:p>
                  </a:txBody>
                  <a:tcPr marL="58018" marR="58018" marT="58018" marB="58018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831917296"/>
                  </a:ext>
                </a:extLst>
              </a:tr>
              <a:tr h="899276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1" dirty="0">
                          <a:effectLst/>
                          <a:latin typeface="Book Antiqua" panose="02040602050305030304" pitchFamily="18" charset="0"/>
                        </a:rPr>
                        <a:t>overflow-wrap</a:t>
                      </a:r>
                    </a:p>
                  </a:txBody>
                  <a:tcPr marL="116036" marR="58018" marT="58018" marB="58018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  <a:latin typeface="Book Antiqua" panose="02040602050305030304" pitchFamily="18" charset="0"/>
                        </a:rPr>
                        <a:t>Specifies whether or not the browser can break lines with long words, if they overflow its container</a:t>
                      </a:r>
                    </a:p>
                  </a:txBody>
                  <a:tcPr marL="58018" marR="58018" marT="58018" marB="58018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2146025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4123651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94B6C12-639D-C5E6-DEC3-915F566CD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C00000"/>
                </a:solidFill>
                <a:latin typeface="Book Antiqua" panose="02040602050305030304" pitchFamily="18" charset="0"/>
              </a:rPr>
              <a:t>CSS Float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25C5D199-EDB9-D251-9D09-5EB572EBB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D827D-3A5E-4197-8547-878A82F055BA}" type="slidenum">
              <a:rPr lang="en-IN" smtClean="0"/>
              <a:pPr/>
              <a:t>17</a:t>
            </a:fld>
            <a:endParaRPr lang="en-IN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xmlns="" id="{BF098062-E1F8-22FC-55F8-44B24467D85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22020" y="1736399"/>
            <a:ext cx="10515600" cy="440120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The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Book Antiqua" panose="02040602050305030304" pitchFamily="18" charset="0"/>
              </a:rPr>
              <a:t>float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 property is used for positioning and formatting content e.g. let an image float left to the text in a container.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 Antiqua" panose="02040602050305030304" pitchFamily="18" charset="0"/>
            </a:endParaRPr>
          </a:p>
          <a:p>
            <a:pPr>
              <a:lnSpc>
                <a:spcPct val="100000"/>
              </a:lnSpc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The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Book Antiqua" panose="02040602050305030304" pitchFamily="18" charset="0"/>
              </a:rPr>
              <a:t>float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 property can have one of the following values: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 Antiqua" panose="0204060205030503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Book Antiqua" panose="02040602050305030304" pitchFamily="18" charset="0"/>
              </a:rPr>
              <a:t>left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 - The element floats to the left of its container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Book Antiqua" panose="02040602050305030304" pitchFamily="18" charset="0"/>
              </a:rPr>
              <a:t>right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 - The element floats to the right of its container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Book Antiqua" panose="02040602050305030304" pitchFamily="18" charset="0"/>
              </a:rPr>
              <a:t>none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 - The element does not float (will be displayed just where it occurs in the text). This is default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Book Antiqua" panose="02040602050305030304" pitchFamily="18" charset="0"/>
              </a:rPr>
              <a:t>inherit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 - The element inherits the float value of its parent</a:t>
            </a:r>
          </a:p>
          <a:p>
            <a:pPr>
              <a:lnSpc>
                <a:spcPct val="100000"/>
              </a:lnSpc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In its simplest use, the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Book Antiqua" panose="02040602050305030304" pitchFamily="18" charset="0"/>
              </a:rPr>
              <a:t>float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 property can be used to wrap text around images.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8635509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94B6C12-639D-C5E6-DEC3-915F566CD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9966" y="0"/>
            <a:ext cx="3219450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Book Antiqua" panose="02040602050305030304" pitchFamily="18" charset="0"/>
              </a:rPr>
              <a:t>CSS </a:t>
            </a:r>
            <a:r>
              <a:rPr lang="en-IN" sz="3600" b="1" dirty="0" smtClean="0">
                <a:latin typeface="Book Antiqua" panose="02040602050305030304" pitchFamily="18" charset="0"/>
              </a:rPr>
              <a:t>Float-left</a:t>
            </a:r>
            <a:endParaRPr lang="en-IN" sz="3600" b="1" dirty="0">
              <a:latin typeface="Book Antiqua" panose="02040602050305030304" pitchFamily="18" charset="0"/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9741" y="1485901"/>
            <a:ext cx="3324225" cy="145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371457" y="1785932"/>
            <a:ext cx="715125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element moves to the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left side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of its container.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Text and inline content wrap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around the right side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of the element.</a:t>
            </a:r>
          </a:p>
          <a:p>
            <a:pPr>
              <a:buFont typeface="Arial" pitchFamily="34" charset="0"/>
              <a:buChar char="•"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805104" y="2882549"/>
            <a:ext cx="6096000" cy="378565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&lt;</a:t>
            </a:r>
            <a:r>
              <a:rPr lang="en-US" dirty="0" err="1" smtClean="0"/>
              <a:t>img</a:t>
            </a:r>
            <a:r>
              <a:rPr lang="en-US" dirty="0" smtClean="0"/>
              <a:t> </a:t>
            </a:r>
            <a:r>
              <a:rPr lang="en-US" dirty="0" err="1" smtClean="0"/>
              <a:t>src</a:t>
            </a:r>
            <a:r>
              <a:rPr lang="en-US" dirty="0" smtClean="0"/>
              <a:t>="image.jpg" class="left-</a:t>
            </a:r>
            <a:r>
              <a:rPr lang="en-US" dirty="0" err="1" smtClean="0"/>
              <a:t>img</a:t>
            </a:r>
            <a:r>
              <a:rPr lang="en-US" dirty="0" smtClean="0"/>
              <a:t>"&gt;</a:t>
            </a:r>
          </a:p>
          <a:p>
            <a:endParaRPr lang="en-US" dirty="0" smtClean="0"/>
          </a:p>
          <a:p>
            <a:r>
              <a:rPr lang="en-US" dirty="0" smtClean="0"/>
              <a:t>&lt;p&gt;</a:t>
            </a:r>
          </a:p>
          <a:p>
            <a:r>
              <a:rPr lang="en-US" dirty="0" smtClean="0"/>
              <a:t>  This text will wrap around the image placed on the left side.</a:t>
            </a:r>
          </a:p>
          <a:p>
            <a:r>
              <a:rPr lang="en-US" dirty="0" smtClean="0"/>
              <a:t>&lt;/p&gt;</a:t>
            </a:r>
          </a:p>
          <a:p>
            <a:endParaRPr lang="en-US" dirty="0" smtClean="0"/>
          </a:p>
          <a:p>
            <a:r>
              <a:rPr lang="en-US" dirty="0" smtClean="0"/>
              <a:t>&lt;style&gt;</a:t>
            </a:r>
          </a:p>
          <a:p>
            <a:r>
              <a:rPr lang="en-US" dirty="0" smtClean="0"/>
              <a:t>.left-</a:t>
            </a:r>
            <a:r>
              <a:rPr lang="en-US" dirty="0" err="1" smtClean="0"/>
              <a:t>img</a:t>
            </a:r>
            <a:r>
              <a:rPr lang="en-US" dirty="0" smtClean="0"/>
              <a:t> {</a:t>
            </a:r>
          </a:p>
          <a:p>
            <a:r>
              <a:rPr lang="en-US" dirty="0" smtClean="0"/>
              <a:t>  </a:t>
            </a:r>
            <a:r>
              <a:rPr lang="en-US" sz="2400" b="1" dirty="0" smtClean="0"/>
              <a:t>f</a:t>
            </a:r>
            <a:r>
              <a:rPr lang="en-US" sz="2000" b="1" dirty="0" smtClean="0"/>
              <a:t>loat: left;</a:t>
            </a:r>
            <a:endParaRPr lang="en-US" b="1" dirty="0" smtClean="0"/>
          </a:p>
          <a:p>
            <a:r>
              <a:rPr lang="en-US" dirty="0" smtClean="0"/>
              <a:t>  width: 120px;</a:t>
            </a:r>
          </a:p>
          <a:p>
            <a:r>
              <a:rPr lang="en-US" dirty="0" smtClean="0"/>
              <a:t>  margin-right: 10px;</a:t>
            </a:r>
          </a:p>
          <a:p>
            <a:r>
              <a:rPr lang="en-US" dirty="0" smtClean="0"/>
              <a:t>}</a:t>
            </a:r>
          </a:p>
          <a:p>
            <a:r>
              <a:rPr lang="en-US" dirty="0" smtClean="0"/>
              <a:t>&lt;/style&gt;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8635509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94B6C12-639D-C5E6-DEC3-915F566CD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9966" y="0"/>
            <a:ext cx="4148122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Book Antiqua" panose="02040602050305030304" pitchFamily="18" charset="0"/>
              </a:rPr>
              <a:t>CSS </a:t>
            </a:r>
            <a:r>
              <a:rPr lang="en-IN" sz="3600" b="1" dirty="0" smtClean="0">
                <a:latin typeface="Book Antiqua" panose="02040602050305030304" pitchFamily="18" charset="0"/>
              </a:rPr>
              <a:t>Float - right</a:t>
            </a:r>
            <a:endParaRPr lang="en-IN" sz="3600" b="1" dirty="0">
              <a:latin typeface="Book Antiqua" panose="0204060205030503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71457" y="1785932"/>
            <a:ext cx="572201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000" dirty="0" smtClean="0"/>
              <a:t>The element moves to the </a:t>
            </a:r>
            <a:r>
              <a:rPr lang="en-US" sz="2000" b="1" dirty="0" smtClean="0"/>
              <a:t>right side</a:t>
            </a:r>
            <a:r>
              <a:rPr lang="en-US" sz="2000" dirty="0" smtClean="0"/>
              <a:t> of its container.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/>
              <a:t>Text wraps around the </a:t>
            </a:r>
            <a:r>
              <a:rPr lang="en-US" sz="2000" b="1" dirty="0" smtClean="0"/>
              <a:t>left side</a:t>
            </a:r>
            <a:r>
              <a:rPr lang="en-US" sz="2000" dirty="0" smtClean="0"/>
              <a:t>.</a:t>
            </a:r>
            <a:endParaRPr lang="en-US" sz="2000" dirty="0"/>
          </a:p>
        </p:txBody>
      </p:sp>
      <p:sp>
        <p:nvSpPr>
          <p:cNvPr id="9" name="Rectangle 8"/>
          <p:cNvSpPr/>
          <p:nvPr/>
        </p:nvSpPr>
        <p:spPr>
          <a:xfrm>
            <a:off x="2805104" y="2882549"/>
            <a:ext cx="6096000" cy="378565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&lt;</a:t>
            </a:r>
            <a:r>
              <a:rPr lang="en-US" dirty="0" err="1" smtClean="0"/>
              <a:t>img</a:t>
            </a:r>
            <a:r>
              <a:rPr lang="en-US" dirty="0" smtClean="0"/>
              <a:t> </a:t>
            </a:r>
            <a:r>
              <a:rPr lang="en-US" dirty="0" err="1" smtClean="0"/>
              <a:t>src</a:t>
            </a:r>
            <a:r>
              <a:rPr lang="en-US" dirty="0" smtClean="0"/>
              <a:t>="image.jpg" class="right-</a:t>
            </a:r>
            <a:r>
              <a:rPr lang="en-US" dirty="0" err="1" smtClean="0"/>
              <a:t>img</a:t>
            </a:r>
            <a:r>
              <a:rPr lang="en-US" dirty="0" smtClean="0"/>
              <a:t>"&gt;</a:t>
            </a:r>
          </a:p>
          <a:p>
            <a:endParaRPr lang="en-US" dirty="0" smtClean="0"/>
          </a:p>
          <a:p>
            <a:r>
              <a:rPr lang="en-US" dirty="0" smtClean="0"/>
              <a:t>&lt;p&gt;</a:t>
            </a:r>
          </a:p>
          <a:p>
            <a:r>
              <a:rPr lang="en-US" dirty="0" smtClean="0"/>
              <a:t>  This text wraps around the image floated to the right.</a:t>
            </a:r>
          </a:p>
          <a:p>
            <a:r>
              <a:rPr lang="en-US" dirty="0" smtClean="0"/>
              <a:t>&lt;/p&gt;</a:t>
            </a:r>
          </a:p>
          <a:p>
            <a:endParaRPr lang="en-US" dirty="0" smtClean="0"/>
          </a:p>
          <a:p>
            <a:r>
              <a:rPr lang="en-US" dirty="0" smtClean="0"/>
              <a:t>&lt;style&gt;</a:t>
            </a:r>
          </a:p>
          <a:p>
            <a:r>
              <a:rPr lang="en-US" dirty="0" smtClean="0"/>
              <a:t>.right-</a:t>
            </a:r>
            <a:r>
              <a:rPr lang="en-US" dirty="0" err="1" smtClean="0"/>
              <a:t>img</a:t>
            </a:r>
            <a:r>
              <a:rPr lang="en-US" dirty="0" smtClean="0"/>
              <a:t> {</a:t>
            </a:r>
          </a:p>
          <a:p>
            <a:r>
              <a:rPr lang="en-US" dirty="0" smtClean="0"/>
              <a:t>  float: right;</a:t>
            </a:r>
          </a:p>
          <a:p>
            <a:r>
              <a:rPr lang="en-US" dirty="0" smtClean="0"/>
              <a:t>  width: 120px;</a:t>
            </a:r>
          </a:p>
          <a:p>
            <a:r>
              <a:rPr lang="en-US" dirty="0" smtClean="0"/>
              <a:t>  margin-left: 10px;</a:t>
            </a:r>
          </a:p>
          <a:p>
            <a:r>
              <a:rPr lang="en-US" dirty="0" smtClean="0"/>
              <a:t>}</a:t>
            </a:r>
          </a:p>
          <a:p>
            <a:r>
              <a:rPr lang="en-US" dirty="0" smtClean="0"/>
              <a:t>&lt;/style&gt;</a:t>
            </a:r>
          </a:p>
        </p:txBody>
      </p:sp>
      <p:pic>
        <p:nvPicPr>
          <p:cNvPr id="655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583488" y="1243013"/>
            <a:ext cx="3133725" cy="1400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8635509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94B6C12-639D-C5E6-DEC3-915F566CD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9966" y="0"/>
            <a:ext cx="4148122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Book Antiqua" panose="02040602050305030304" pitchFamily="18" charset="0"/>
              </a:rPr>
              <a:t>CSS </a:t>
            </a:r>
            <a:r>
              <a:rPr lang="en-IN" sz="3600" b="1" dirty="0" smtClean="0">
                <a:latin typeface="Book Antiqua" panose="02040602050305030304" pitchFamily="18" charset="0"/>
              </a:rPr>
              <a:t>none (default)</a:t>
            </a:r>
            <a:endParaRPr lang="en-IN" sz="3600" b="1" dirty="0">
              <a:latin typeface="Book Antiqua" panose="0204060205030503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71457" y="1328716"/>
            <a:ext cx="506529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000" dirty="0" smtClean="0"/>
              <a:t>Element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behaves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normally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Appears exactly where it is in the HTML flow.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805104" y="2882549"/>
            <a:ext cx="6096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dirty="0" smtClean="0"/>
          </a:p>
          <a:p>
            <a:r>
              <a:rPr lang="en-US" dirty="0" smtClean="0"/>
              <a:t>&lt;p&gt;</a:t>
            </a:r>
          </a:p>
          <a:p>
            <a:r>
              <a:rPr lang="en-US" dirty="0" smtClean="0"/>
              <a:t>  This text wraps around the image floated none.</a:t>
            </a:r>
          </a:p>
          <a:p>
            <a:r>
              <a:rPr lang="en-US" dirty="0" smtClean="0"/>
              <a:t>&lt;/p&gt;</a:t>
            </a:r>
          </a:p>
          <a:p>
            <a:endParaRPr lang="en-US" dirty="0" smtClean="0"/>
          </a:p>
          <a:p>
            <a:r>
              <a:rPr lang="en-US" dirty="0" smtClean="0"/>
              <a:t>&lt;style&gt;</a:t>
            </a:r>
          </a:p>
          <a:p>
            <a:r>
              <a:rPr lang="en-US" dirty="0" smtClean="0"/>
              <a:t>.right-</a:t>
            </a:r>
            <a:r>
              <a:rPr lang="en-US" dirty="0" err="1" smtClean="0"/>
              <a:t>img</a:t>
            </a:r>
            <a:r>
              <a:rPr lang="en-US" dirty="0" smtClean="0"/>
              <a:t> {</a:t>
            </a:r>
          </a:p>
          <a:p>
            <a:r>
              <a:rPr lang="en-US" dirty="0" smtClean="0"/>
              <a:t>  float: none;</a:t>
            </a:r>
          </a:p>
          <a:p>
            <a:r>
              <a:rPr lang="en-US" dirty="0" smtClean="0"/>
              <a:t>  width: 120px;</a:t>
            </a:r>
          </a:p>
          <a:p>
            <a:r>
              <a:rPr lang="en-US" dirty="0" smtClean="0"/>
              <a:t>  margin-left: 10px;</a:t>
            </a:r>
          </a:p>
          <a:p>
            <a:r>
              <a:rPr lang="en-US" dirty="0" smtClean="0"/>
              <a:t>}</a:t>
            </a:r>
          </a:p>
          <a:p>
            <a:r>
              <a:rPr lang="en-US" dirty="0" smtClean="0"/>
              <a:t>&lt;/style&gt;</a:t>
            </a:r>
          </a:p>
        </p:txBody>
      </p:sp>
      <p:pic>
        <p:nvPicPr>
          <p:cNvPr id="665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907338" y="952501"/>
            <a:ext cx="3057525" cy="172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8635509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94B6C12-639D-C5E6-DEC3-915F566CD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9966" y="0"/>
            <a:ext cx="4148122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Book Antiqua" panose="02040602050305030304" pitchFamily="18" charset="0"/>
              </a:rPr>
              <a:t>CSS </a:t>
            </a:r>
            <a:r>
              <a:rPr lang="en-IN" sz="3600" b="1" dirty="0" smtClean="0">
                <a:latin typeface="Book Antiqua" panose="02040602050305030304" pitchFamily="18" charset="0"/>
              </a:rPr>
              <a:t>inherit</a:t>
            </a:r>
            <a:endParaRPr lang="en-IN" sz="3600" b="1" dirty="0">
              <a:latin typeface="Book Antiqua" panose="0204060205030503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71457" y="1328716"/>
            <a:ext cx="58324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element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inherits the float value from its parent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462192" y="1910965"/>
            <a:ext cx="6096000" cy="480131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&lt;div class="parent"&gt;</a:t>
            </a:r>
          </a:p>
          <a:p>
            <a:r>
              <a:rPr lang="en-US" dirty="0" smtClean="0"/>
              <a:t>  Parent</a:t>
            </a:r>
          </a:p>
          <a:p>
            <a:r>
              <a:rPr lang="en-US" dirty="0" smtClean="0"/>
              <a:t>  &lt;div class="child"&gt;Child&lt;/div&gt;</a:t>
            </a:r>
          </a:p>
          <a:p>
            <a:r>
              <a:rPr lang="en-US" dirty="0" smtClean="0"/>
              <a:t>&lt;/div&gt;</a:t>
            </a:r>
          </a:p>
          <a:p>
            <a:endParaRPr lang="en-US" dirty="0" smtClean="0"/>
          </a:p>
          <a:p>
            <a:r>
              <a:rPr lang="en-US" dirty="0" smtClean="0"/>
              <a:t>&lt;style&gt;</a:t>
            </a:r>
          </a:p>
          <a:p>
            <a:r>
              <a:rPr lang="en-US" dirty="0" smtClean="0"/>
              <a:t>.parent {</a:t>
            </a:r>
          </a:p>
          <a:p>
            <a:r>
              <a:rPr lang="en-US" dirty="0" smtClean="0"/>
              <a:t>  float: left;</a:t>
            </a:r>
          </a:p>
          <a:p>
            <a:r>
              <a:rPr lang="en-US" dirty="0" smtClean="0"/>
              <a:t>  width: 200px;</a:t>
            </a:r>
          </a:p>
          <a:p>
            <a:r>
              <a:rPr lang="en-US" dirty="0" smtClean="0"/>
              <a:t>  background: </a:t>
            </a:r>
            <a:r>
              <a:rPr lang="en-US" dirty="0" err="1" smtClean="0"/>
              <a:t>lightblue</a:t>
            </a:r>
            <a:r>
              <a:rPr lang="en-US" dirty="0" smtClean="0"/>
              <a:t>;</a:t>
            </a:r>
          </a:p>
          <a:p>
            <a:r>
              <a:rPr lang="en-US" dirty="0" smtClean="0"/>
              <a:t>}</a:t>
            </a:r>
          </a:p>
          <a:p>
            <a:endParaRPr lang="en-US" dirty="0" smtClean="0"/>
          </a:p>
          <a:p>
            <a:r>
              <a:rPr lang="en-US" dirty="0" smtClean="0"/>
              <a:t>.child {</a:t>
            </a:r>
          </a:p>
          <a:p>
            <a:r>
              <a:rPr lang="en-US" dirty="0" smtClean="0"/>
              <a:t>  float: inherit;</a:t>
            </a:r>
          </a:p>
          <a:p>
            <a:r>
              <a:rPr lang="en-US" dirty="0" smtClean="0"/>
              <a:t>  background: </a:t>
            </a:r>
            <a:r>
              <a:rPr lang="en-US" dirty="0" err="1" smtClean="0"/>
              <a:t>lightgreen</a:t>
            </a:r>
            <a:r>
              <a:rPr lang="en-US" dirty="0" smtClean="0"/>
              <a:t>;</a:t>
            </a:r>
          </a:p>
          <a:p>
            <a:r>
              <a:rPr lang="en-US" dirty="0" smtClean="0"/>
              <a:t>}</a:t>
            </a:r>
          </a:p>
          <a:p>
            <a:r>
              <a:rPr lang="en-US" dirty="0" smtClean="0"/>
              <a:t>&lt;/style&gt;</a:t>
            </a:r>
          </a:p>
        </p:txBody>
      </p:sp>
      <p:pic>
        <p:nvPicPr>
          <p:cNvPr id="675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26138" y="4405358"/>
            <a:ext cx="5003800" cy="12679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758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445376" y="2528888"/>
            <a:ext cx="1570037" cy="10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8635509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271463" y="1300163"/>
            <a:ext cx="6257925" cy="4876800"/>
          </a:xfrm>
        </p:spPr>
        <p:txBody>
          <a:bodyPr>
            <a:normAutofit fontScale="92500" lnSpcReduction="10000"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Center Align Elements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To horizontally center a block element (like &lt;div&gt;), use 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Times New Roman" pitchFamily="18" charset="0"/>
                <a:cs typeface="Times New Roman" pitchFamily="18" charset="0"/>
              </a:rPr>
              <a:t>margin: auto;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Setting the width of the element will prevent it from stretching out to the edges of its container.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The element will then take up the specified width, and the remaining space will be split equally between the two margins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6700856" y="1825625"/>
            <a:ext cx="5181600" cy="2074863"/>
          </a:xfrm>
        </p:spPr>
        <p:txBody>
          <a:bodyPr>
            <a:normAutofit fontScale="92500" lnSpcReduction="10000"/>
          </a:bodyPr>
          <a:lstStyle/>
          <a:p>
            <a:r>
              <a:rPr lang="en-IN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en-IN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IN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1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margin</a:t>
            </a:r>
            <a:r>
              <a:rPr lang="en-IN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1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 auto</a:t>
            </a:r>
            <a:r>
              <a:rPr lang="en-IN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IN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IN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 width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 50%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IN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IN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 border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 3px solid green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IN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IN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 padding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 10px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IN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D827D-3A5E-4197-8547-878A82F055BA}" type="slidenum">
              <a:rPr lang="en-IN" smtClean="0"/>
              <a:pPr/>
              <a:t>22</a:t>
            </a:fld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905119DF-749B-4CA1-E06F-8B0763647F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88720" y="62250"/>
            <a:ext cx="10281920" cy="68540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5067" rIns="0" bIns="65067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effectLst/>
                <a:latin typeface="Book Antiqua" panose="02040602050305030304" pitchFamily="18" charset="0"/>
              </a:rPr>
              <a:t>Align</a:t>
            </a:r>
            <a:endParaRPr kumimoji="0" lang="en-US" altLang="en-US" sz="5400" b="1" i="0" u="none" strike="noStrike" cap="none" normalizeH="0" baseline="0" dirty="0">
              <a:ln>
                <a:noFill/>
              </a:ln>
              <a:effectLst/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3824236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7FB065B9-135A-C647-F0C9-E3195D7710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57856" y="150813"/>
            <a:ext cx="3328987" cy="604043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dirty="0"/>
              <a:t>Example:</a:t>
            </a:r>
          </a:p>
          <a:p>
            <a:pPr marL="0" indent="0">
              <a:buNone/>
            </a:pPr>
            <a:r>
              <a:rPr lang="en-IN" sz="1800" dirty="0"/>
              <a:t>&lt;!DOCTYPE html&gt;</a:t>
            </a:r>
          </a:p>
          <a:p>
            <a:pPr marL="0" indent="0">
              <a:buNone/>
            </a:pPr>
            <a:r>
              <a:rPr lang="en-IN" sz="1800" dirty="0"/>
              <a:t>&lt;html&gt;</a:t>
            </a:r>
          </a:p>
          <a:p>
            <a:pPr marL="0" indent="0">
              <a:buNone/>
            </a:pPr>
            <a:r>
              <a:rPr lang="en-IN" sz="1800" dirty="0"/>
              <a:t>&lt;head&gt;</a:t>
            </a:r>
          </a:p>
          <a:p>
            <a:pPr marL="0" indent="0">
              <a:buNone/>
            </a:pPr>
            <a:r>
              <a:rPr lang="en-IN" sz="1800" dirty="0"/>
              <a:t>&lt;style&gt;</a:t>
            </a:r>
          </a:p>
          <a:p>
            <a:pPr marL="0" indent="0">
              <a:buNone/>
            </a:pPr>
            <a:r>
              <a:rPr lang="en-IN" sz="1800" dirty="0"/>
              <a:t>.</a:t>
            </a:r>
            <a:r>
              <a:rPr lang="en-IN" sz="1800" dirty="0" err="1"/>
              <a:t>center</a:t>
            </a:r>
            <a:r>
              <a:rPr lang="en-IN" sz="1800" dirty="0"/>
              <a:t> {</a:t>
            </a:r>
          </a:p>
          <a:p>
            <a:pPr marL="0" indent="0">
              <a:buNone/>
            </a:pPr>
            <a:r>
              <a:rPr lang="en-IN" sz="1800" dirty="0"/>
              <a:t>  text-align: </a:t>
            </a:r>
            <a:r>
              <a:rPr lang="en-IN" sz="1800" dirty="0" err="1"/>
              <a:t>center</a:t>
            </a:r>
            <a:r>
              <a:rPr lang="en-IN" sz="1800" dirty="0"/>
              <a:t>;</a:t>
            </a:r>
          </a:p>
          <a:p>
            <a:pPr marL="0" indent="0">
              <a:buNone/>
            </a:pPr>
            <a:r>
              <a:rPr lang="en-IN" sz="1800" dirty="0"/>
              <a:t>  border: 3px solid green;</a:t>
            </a:r>
          </a:p>
          <a:p>
            <a:pPr marL="0" indent="0">
              <a:buNone/>
            </a:pPr>
            <a:r>
              <a:rPr lang="en-IN" sz="1800" dirty="0"/>
              <a:t>}</a:t>
            </a:r>
          </a:p>
          <a:p>
            <a:pPr marL="0" indent="0">
              <a:buNone/>
            </a:pPr>
            <a:r>
              <a:rPr lang="en-IN" sz="1800" dirty="0"/>
              <a:t>&lt;/style&gt;</a:t>
            </a:r>
          </a:p>
          <a:p>
            <a:pPr marL="0" indent="0">
              <a:buNone/>
            </a:pPr>
            <a:r>
              <a:rPr lang="en-IN" sz="1800" dirty="0"/>
              <a:t>&lt;/head&gt;</a:t>
            </a:r>
          </a:p>
          <a:p>
            <a:pPr marL="0" indent="0">
              <a:buNone/>
            </a:pPr>
            <a:r>
              <a:rPr lang="en-IN" sz="1800" dirty="0"/>
              <a:t>&lt;body</a:t>
            </a:r>
            <a:r>
              <a:rPr lang="en-IN" sz="1800" dirty="0" smtClean="0"/>
              <a:t>&gt;</a:t>
            </a:r>
            <a:endParaRPr lang="en-IN" sz="1800" dirty="0"/>
          </a:p>
          <a:p>
            <a:pPr marL="0" indent="0">
              <a:buNone/>
            </a:pPr>
            <a:r>
              <a:rPr lang="en-IN" sz="1800" dirty="0"/>
              <a:t>&lt;h2&gt;</a:t>
            </a:r>
            <a:r>
              <a:rPr lang="en-IN" sz="1800" dirty="0" err="1"/>
              <a:t>Center</a:t>
            </a:r>
            <a:r>
              <a:rPr lang="en-IN" sz="1800" dirty="0"/>
              <a:t> Text&lt;/h2</a:t>
            </a:r>
            <a:r>
              <a:rPr lang="en-IN" sz="1800" dirty="0" smtClean="0"/>
              <a:t>&gt;</a:t>
            </a:r>
            <a:endParaRPr lang="en-IN" sz="1800" dirty="0"/>
          </a:p>
          <a:p>
            <a:pPr marL="0" indent="0">
              <a:buNone/>
            </a:pPr>
            <a:r>
              <a:rPr lang="en-IN" sz="1800" dirty="0"/>
              <a:t>&lt;div class="</a:t>
            </a:r>
            <a:r>
              <a:rPr lang="en-IN" sz="1800" dirty="0" err="1"/>
              <a:t>center</a:t>
            </a:r>
            <a:r>
              <a:rPr lang="en-IN" sz="1800" dirty="0"/>
              <a:t>"&gt;</a:t>
            </a:r>
          </a:p>
          <a:p>
            <a:pPr marL="0" indent="0">
              <a:buNone/>
            </a:pPr>
            <a:r>
              <a:rPr lang="en-IN" sz="1800" dirty="0"/>
              <a:t>  &lt;p&gt;This text is </a:t>
            </a:r>
            <a:r>
              <a:rPr lang="en-IN" sz="1800" dirty="0" err="1"/>
              <a:t>centered</a:t>
            </a:r>
            <a:r>
              <a:rPr lang="en-IN" sz="1800" dirty="0"/>
              <a:t>.&lt;/p&gt;</a:t>
            </a:r>
          </a:p>
          <a:p>
            <a:pPr marL="0" indent="0">
              <a:buNone/>
            </a:pPr>
            <a:r>
              <a:rPr lang="en-IN" sz="1800" dirty="0"/>
              <a:t>&lt;/div</a:t>
            </a:r>
            <a:r>
              <a:rPr lang="en-IN" sz="1800" dirty="0" smtClean="0"/>
              <a:t>&gt;</a:t>
            </a:r>
            <a:endParaRPr lang="en-IN" sz="1800" dirty="0"/>
          </a:p>
          <a:p>
            <a:pPr marL="0" indent="0">
              <a:buNone/>
            </a:pPr>
            <a:r>
              <a:rPr lang="en-IN" sz="1800" dirty="0"/>
              <a:t>&lt;/body&gt;</a:t>
            </a:r>
          </a:p>
          <a:p>
            <a:pPr marL="0" indent="0">
              <a:buNone/>
            </a:pPr>
            <a:r>
              <a:rPr lang="en-IN" sz="1800" dirty="0"/>
              <a:t>&lt;/html&gt;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4F68874-DCEA-E70D-AF43-DFE3578F2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D827D-3A5E-4197-8547-878A82F055BA}" type="slidenum">
              <a:rPr lang="en-IN" smtClean="0"/>
              <a:pPr/>
              <a:t>23</a:t>
            </a:fld>
            <a:endParaRPr lang="en-IN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xmlns="" id="{0DC3B94C-DAC3-27FD-4EE8-C1A42B603BF9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395288" y="1350280"/>
            <a:ext cx="4607559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To just center the text inside an element, use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Times New Roman" pitchFamily="18" charset="0"/>
                <a:cs typeface="Times New Roman" pitchFamily="18" charset="0"/>
              </a:rPr>
              <a:t>text-align: center;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3009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7820" y="4005305"/>
            <a:ext cx="5165726" cy="1276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11228465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1F835C0-7DF3-47EE-AE78-CACE185C4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 b="1" dirty="0">
                <a:solidFill>
                  <a:srgbClr val="C00000"/>
                </a:solidFill>
                <a:latin typeface="Book Antiqua" panose="02040602050305030304" pitchFamily="18" charset="0"/>
              </a:rPr>
              <a:t>Opacity</a:t>
            </a:r>
            <a:endParaRPr lang="en-IN" b="1" dirty="0">
              <a:solidFill>
                <a:srgbClr val="C00000"/>
              </a:solidFill>
              <a:latin typeface="Book Antiqua" panose="0204060205030503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6B618B49-9E0F-006A-7E32-8ACA339E81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81600" y="0"/>
            <a:ext cx="6421120" cy="561848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450" dirty="0">
                <a:latin typeface="Book Antiqua" panose="02040602050305030304" pitchFamily="18" charset="0"/>
              </a:rPr>
              <a:t>&lt;!DOCTYPE html&gt;</a:t>
            </a:r>
          </a:p>
          <a:p>
            <a:pPr marL="0" indent="0">
              <a:buNone/>
            </a:pPr>
            <a:r>
              <a:rPr lang="en-IN" sz="1450" dirty="0">
                <a:latin typeface="Book Antiqua" panose="02040602050305030304" pitchFamily="18" charset="0"/>
              </a:rPr>
              <a:t>&lt;html&gt;</a:t>
            </a:r>
          </a:p>
          <a:p>
            <a:pPr marL="0" indent="0">
              <a:buNone/>
            </a:pPr>
            <a:r>
              <a:rPr lang="en-IN" sz="1450" dirty="0">
                <a:latin typeface="Book Antiqua" panose="02040602050305030304" pitchFamily="18" charset="0"/>
              </a:rPr>
              <a:t>&lt;head&gt;</a:t>
            </a:r>
          </a:p>
          <a:p>
            <a:pPr marL="0" indent="0">
              <a:buNone/>
            </a:pPr>
            <a:r>
              <a:rPr lang="en-IN" sz="1450" dirty="0">
                <a:latin typeface="Book Antiqua" panose="02040602050305030304" pitchFamily="18" charset="0"/>
              </a:rPr>
              <a:t>&lt;style&gt;</a:t>
            </a:r>
          </a:p>
          <a:p>
            <a:pPr marL="0" indent="0">
              <a:buNone/>
            </a:pPr>
            <a:r>
              <a:rPr lang="en-IN" sz="1450" dirty="0" err="1">
                <a:latin typeface="Book Antiqua" panose="02040602050305030304" pitchFamily="18" charset="0"/>
              </a:rPr>
              <a:t>img</a:t>
            </a:r>
            <a:r>
              <a:rPr lang="en-IN" sz="1450" dirty="0">
                <a:latin typeface="Book Antiqua" panose="02040602050305030304" pitchFamily="18" charset="0"/>
              </a:rPr>
              <a:t> {</a:t>
            </a:r>
          </a:p>
          <a:p>
            <a:pPr marL="0" indent="0">
              <a:buNone/>
            </a:pPr>
            <a:r>
              <a:rPr lang="en-IN" sz="1450" dirty="0">
                <a:latin typeface="Book Antiqua" panose="02040602050305030304" pitchFamily="18" charset="0"/>
              </a:rPr>
              <a:t>  opacity: 0.5;</a:t>
            </a:r>
          </a:p>
          <a:p>
            <a:pPr marL="0" indent="0">
              <a:buNone/>
            </a:pPr>
            <a:r>
              <a:rPr lang="en-IN" sz="1450" dirty="0">
                <a:latin typeface="Book Antiqua" panose="02040602050305030304" pitchFamily="18" charset="0"/>
              </a:rPr>
              <a:t>}</a:t>
            </a:r>
          </a:p>
          <a:p>
            <a:pPr marL="0" indent="0">
              <a:buNone/>
            </a:pPr>
            <a:r>
              <a:rPr lang="en-IN" sz="1450" dirty="0" err="1">
                <a:latin typeface="Book Antiqua" panose="02040602050305030304" pitchFamily="18" charset="0"/>
              </a:rPr>
              <a:t>img:hover</a:t>
            </a:r>
            <a:r>
              <a:rPr lang="en-IN" sz="1450" dirty="0">
                <a:latin typeface="Book Antiqua" panose="02040602050305030304" pitchFamily="18" charset="0"/>
              </a:rPr>
              <a:t> {</a:t>
            </a:r>
          </a:p>
          <a:p>
            <a:pPr marL="0" indent="0">
              <a:buNone/>
            </a:pPr>
            <a:r>
              <a:rPr lang="en-IN" sz="1450" dirty="0">
                <a:latin typeface="Book Antiqua" panose="02040602050305030304" pitchFamily="18" charset="0"/>
              </a:rPr>
              <a:t>  opacity: 1.0;}</a:t>
            </a:r>
          </a:p>
          <a:p>
            <a:pPr marL="0" indent="0">
              <a:buNone/>
            </a:pPr>
            <a:r>
              <a:rPr lang="en-IN" sz="1450" dirty="0">
                <a:latin typeface="Book Antiqua" panose="02040602050305030304" pitchFamily="18" charset="0"/>
              </a:rPr>
              <a:t>&lt;/style&gt;</a:t>
            </a:r>
          </a:p>
          <a:p>
            <a:pPr marL="0" indent="0">
              <a:buNone/>
            </a:pPr>
            <a:r>
              <a:rPr lang="en-IN" sz="1450" dirty="0">
                <a:latin typeface="Book Antiqua" panose="02040602050305030304" pitchFamily="18" charset="0"/>
              </a:rPr>
              <a:t>&lt;/head&gt;</a:t>
            </a:r>
          </a:p>
          <a:p>
            <a:pPr marL="0" indent="0">
              <a:buNone/>
            </a:pPr>
            <a:r>
              <a:rPr lang="en-IN" sz="1450" dirty="0">
                <a:latin typeface="Book Antiqua" panose="02040602050305030304" pitchFamily="18" charset="0"/>
              </a:rPr>
              <a:t>&lt;body&gt;</a:t>
            </a:r>
          </a:p>
          <a:p>
            <a:pPr marL="0" indent="0">
              <a:buNone/>
            </a:pPr>
            <a:r>
              <a:rPr lang="en-IN" sz="1450" dirty="0">
                <a:latin typeface="Book Antiqua" panose="02040602050305030304" pitchFamily="18" charset="0"/>
              </a:rPr>
              <a:t>&lt;h1&gt;Image Transparency&lt;/h1&gt;</a:t>
            </a:r>
          </a:p>
          <a:p>
            <a:pPr marL="0" indent="0">
              <a:buNone/>
            </a:pPr>
            <a:r>
              <a:rPr lang="en-IN" sz="1450" dirty="0">
                <a:latin typeface="Book Antiqua" panose="02040602050305030304" pitchFamily="18" charset="0"/>
              </a:rPr>
              <a:t>&lt;p&gt;The opacity property is often used together with the :hover selector to change the opacity on mouse-over:&lt;/p&gt;</a:t>
            </a:r>
          </a:p>
          <a:p>
            <a:pPr marL="0" indent="0">
              <a:buNone/>
            </a:pPr>
            <a:r>
              <a:rPr lang="en-IN" sz="1450" dirty="0">
                <a:latin typeface="Book Antiqua" panose="02040602050305030304" pitchFamily="18" charset="0"/>
              </a:rPr>
              <a:t>&lt;</a:t>
            </a:r>
            <a:r>
              <a:rPr lang="en-IN" sz="1450" dirty="0" err="1">
                <a:latin typeface="Book Antiqua" panose="02040602050305030304" pitchFamily="18" charset="0"/>
              </a:rPr>
              <a:t>img</a:t>
            </a:r>
            <a:r>
              <a:rPr lang="en-IN" sz="1450" dirty="0">
                <a:latin typeface="Book Antiqua" panose="02040602050305030304" pitchFamily="18" charset="0"/>
              </a:rPr>
              <a:t> </a:t>
            </a:r>
            <a:r>
              <a:rPr lang="en-IN" sz="1450" dirty="0" err="1">
                <a:latin typeface="Book Antiqua" panose="02040602050305030304" pitchFamily="18" charset="0"/>
              </a:rPr>
              <a:t>src</a:t>
            </a:r>
            <a:r>
              <a:rPr lang="en-IN" sz="1450" dirty="0">
                <a:latin typeface="Book Antiqua" panose="02040602050305030304" pitchFamily="18" charset="0"/>
              </a:rPr>
              <a:t>="img_forest.jpg" alt="Forest" width="170" height="100"&gt;</a:t>
            </a:r>
          </a:p>
          <a:p>
            <a:pPr marL="0" indent="0">
              <a:buNone/>
            </a:pPr>
            <a:r>
              <a:rPr lang="en-IN" sz="1450" dirty="0">
                <a:latin typeface="Book Antiqua" panose="02040602050305030304" pitchFamily="18" charset="0"/>
              </a:rPr>
              <a:t>&lt;</a:t>
            </a:r>
            <a:r>
              <a:rPr lang="en-IN" sz="1450" dirty="0" err="1">
                <a:latin typeface="Book Antiqua" panose="02040602050305030304" pitchFamily="18" charset="0"/>
              </a:rPr>
              <a:t>img</a:t>
            </a:r>
            <a:r>
              <a:rPr lang="en-IN" sz="1450" dirty="0">
                <a:latin typeface="Book Antiqua" panose="02040602050305030304" pitchFamily="18" charset="0"/>
              </a:rPr>
              <a:t> </a:t>
            </a:r>
            <a:r>
              <a:rPr lang="en-IN" sz="1450" dirty="0" err="1">
                <a:latin typeface="Book Antiqua" panose="02040602050305030304" pitchFamily="18" charset="0"/>
              </a:rPr>
              <a:t>src</a:t>
            </a:r>
            <a:r>
              <a:rPr lang="en-IN" sz="1450" dirty="0">
                <a:latin typeface="Book Antiqua" panose="02040602050305030304" pitchFamily="18" charset="0"/>
              </a:rPr>
              <a:t>="img_mountains.jpg" alt="Mountains" width="170" height="100"&gt;</a:t>
            </a:r>
          </a:p>
          <a:p>
            <a:pPr marL="0" indent="0">
              <a:buNone/>
            </a:pPr>
            <a:r>
              <a:rPr lang="en-IN" sz="1450" dirty="0">
                <a:latin typeface="Book Antiqua" panose="02040602050305030304" pitchFamily="18" charset="0"/>
              </a:rPr>
              <a:t>&lt;</a:t>
            </a:r>
            <a:r>
              <a:rPr lang="en-IN" sz="1450" dirty="0" err="1">
                <a:latin typeface="Book Antiqua" panose="02040602050305030304" pitchFamily="18" charset="0"/>
              </a:rPr>
              <a:t>img</a:t>
            </a:r>
            <a:r>
              <a:rPr lang="en-IN" sz="1450" dirty="0">
                <a:latin typeface="Book Antiqua" panose="02040602050305030304" pitchFamily="18" charset="0"/>
              </a:rPr>
              <a:t> </a:t>
            </a:r>
            <a:r>
              <a:rPr lang="en-IN" sz="1450" dirty="0" err="1">
                <a:latin typeface="Book Antiqua" panose="02040602050305030304" pitchFamily="18" charset="0"/>
              </a:rPr>
              <a:t>src</a:t>
            </a:r>
            <a:r>
              <a:rPr lang="en-IN" sz="1450" dirty="0">
                <a:latin typeface="Book Antiqua" panose="02040602050305030304" pitchFamily="18" charset="0"/>
              </a:rPr>
              <a:t>="img_5terre.jpg" alt="Italy" width="170" height="100"&gt;</a:t>
            </a:r>
          </a:p>
          <a:p>
            <a:pPr marL="0" indent="0">
              <a:buNone/>
            </a:pPr>
            <a:r>
              <a:rPr lang="en-IN" sz="1450" dirty="0">
                <a:latin typeface="Book Antiqua" panose="02040602050305030304" pitchFamily="18" charset="0"/>
              </a:rPr>
              <a:t>&lt;/body&gt;</a:t>
            </a:r>
          </a:p>
          <a:p>
            <a:pPr marL="0" indent="0">
              <a:buNone/>
            </a:pPr>
            <a:r>
              <a:rPr lang="en-IN" sz="1450" dirty="0">
                <a:latin typeface="Book Antiqua" panose="02040602050305030304" pitchFamily="18" charset="0"/>
              </a:rPr>
              <a:t>&lt;/html&gt;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0769A04-30AA-6E29-7123-D61B23A1D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D827D-3A5E-4197-8547-878A82F055BA}" type="slidenum">
              <a:rPr lang="en-IN" smtClean="0"/>
              <a:pPr/>
              <a:t>24</a:t>
            </a:fld>
            <a:endParaRPr lang="en-IN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xmlns="" id="{C1CC704F-F2F9-0081-BDC8-FCF3C19EA391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428625" y="1567249"/>
            <a:ext cx="4265295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100000"/>
              </a:lnSpc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The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Times New Roman" pitchFamily="18" charset="0"/>
                <a:cs typeface="Times New Roman" pitchFamily="18" charset="0"/>
              </a:rPr>
              <a:t>opacity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 property specifies the opacity/transparency of an element.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just">
              <a:lnSpc>
                <a:spcPct val="100000"/>
              </a:lnSpc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The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Times New Roman" pitchFamily="18" charset="0"/>
                <a:cs typeface="Times New Roman" pitchFamily="18" charset="0"/>
              </a:rPr>
              <a:t>opacity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 property can take a value from 0.0 - 1.0. </a:t>
            </a:r>
          </a:p>
          <a:p>
            <a:pPr algn="just">
              <a:lnSpc>
                <a:spcPct val="100000"/>
              </a:lnSpc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The lower the value, the more transparent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649673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9683" y="323850"/>
            <a:ext cx="11573921" cy="2233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861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88665" y="3105149"/>
            <a:ext cx="9545985" cy="178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10649673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C00000"/>
                </a:solidFill>
                <a:latin typeface="Book Antiqua" panose="02040602050305030304" pitchFamily="18" charset="0"/>
              </a:rPr>
              <a:t>Border-radius</a:t>
            </a:r>
            <a:endParaRPr lang="en-IN" b="1" dirty="0">
              <a:solidFill>
                <a:srgbClr val="C00000"/>
              </a:solidFill>
              <a:latin typeface="Book Antiqua" panose="02040602050305030304" pitchFamily="18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989263"/>
          </a:xfrm>
        </p:spPr>
        <p:txBody>
          <a:bodyPr/>
          <a:lstStyle/>
          <a:p>
            <a:pPr algn="just"/>
            <a:r>
              <a:rPr lang="en-GB" dirty="0">
                <a:latin typeface="Times New Roman" pitchFamily="18" charset="0"/>
                <a:cs typeface="Times New Roman" pitchFamily="18" charset="0"/>
              </a:rPr>
              <a:t>At its </a:t>
            </a:r>
            <a:r>
              <a:rPr lang="en-GB" dirty="0" err="1">
                <a:latin typeface="Times New Roman" pitchFamily="18" charset="0"/>
                <a:cs typeface="Times New Roman" pitchFamily="18" charset="0"/>
              </a:rPr>
              <a:t>center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, border-radius characterizes the shape of the sides of an element. </a:t>
            </a:r>
          </a:p>
          <a:p>
            <a:pPr algn="just"/>
            <a:r>
              <a:rPr lang="en-GB" dirty="0">
                <a:latin typeface="Times New Roman" pitchFamily="18" charset="0"/>
                <a:cs typeface="Times New Roman" pitchFamily="18" charset="0"/>
              </a:rPr>
              <a:t>It is shorthand for border-top-left-radius, border-top-right-radius, border-bottom-right-radius, and border-bottom-left-radius. </a:t>
            </a:r>
          </a:p>
          <a:p>
            <a:pPr algn="just"/>
            <a:r>
              <a:rPr lang="en-GB" dirty="0">
                <a:latin typeface="Times New Roman" pitchFamily="18" charset="0"/>
                <a:cs typeface="Times New Roman" pitchFamily="18" charset="0"/>
              </a:rPr>
              <a:t>These properties empower you to autonomously set the radius for each corner</a:t>
            </a: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D827D-3A5E-4197-8547-878A82F055BA}" type="slidenum">
              <a:rPr lang="en-IN" smtClean="0"/>
              <a:pPr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1711677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1249" y="326570"/>
            <a:ext cx="4809897" cy="579431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>
                <a:latin typeface="Book Antiqua" panose="02040602050305030304" pitchFamily="18" charset="0"/>
              </a:rPr>
              <a:t>#</a:t>
            </a:r>
            <a:r>
              <a:rPr lang="en-IN" dirty="0" err="1">
                <a:latin typeface="Book Antiqua" panose="02040602050305030304" pitchFamily="18" charset="0"/>
              </a:rPr>
              <a:t>roundedBox</a:t>
            </a:r>
            <a:r>
              <a:rPr lang="en-IN" dirty="0">
                <a:latin typeface="Book Antiqua" panose="02040602050305030304" pitchFamily="18" charset="0"/>
              </a:rPr>
              <a:t> {  </a:t>
            </a:r>
          </a:p>
          <a:p>
            <a:pPr marL="0" indent="0">
              <a:buNone/>
            </a:pPr>
            <a:r>
              <a:rPr lang="en-IN" b="1" dirty="0">
                <a:latin typeface="Book Antiqua" panose="02040602050305030304" pitchFamily="18" charset="0"/>
              </a:rPr>
              <a:t>  border-radius: 20px; </a:t>
            </a:r>
            <a:r>
              <a:rPr lang="en-IN" dirty="0">
                <a:latin typeface="Book Antiqua" panose="02040602050305030304" pitchFamily="18" charset="0"/>
              </a:rPr>
              <a:t> </a:t>
            </a:r>
          </a:p>
          <a:p>
            <a:pPr marL="0" indent="0">
              <a:buNone/>
            </a:pPr>
            <a:r>
              <a:rPr lang="en-IN" dirty="0">
                <a:latin typeface="Book Antiqua" panose="02040602050305030304" pitchFamily="18" charset="0"/>
              </a:rPr>
              <a:t>  background-</a:t>
            </a:r>
            <a:r>
              <a:rPr lang="en-IN" dirty="0" err="1">
                <a:latin typeface="Book Antiqua" panose="02040602050305030304" pitchFamily="18" charset="0"/>
              </a:rPr>
              <a:t>color</a:t>
            </a:r>
            <a:r>
              <a:rPr lang="en-IN" dirty="0">
                <a:latin typeface="Book Antiqua" panose="02040602050305030304" pitchFamily="18" charset="0"/>
              </a:rPr>
              <a:t>: #7fd7e7;  </a:t>
            </a:r>
          </a:p>
          <a:p>
            <a:pPr marL="0" indent="0">
              <a:buNone/>
            </a:pPr>
            <a:r>
              <a:rPr lang="en-IN" dirty="0">
                <a:latin typeface="Book Antiqua" panose="02040602050305030304" pitchFamily="18" charset="0"/>
              </a:rPr>
              <a:t>}  </a:t>
            </a:r>
          </a:p>
          <a:p>
            <a:pPr marL="0" indent="0">
              <a:buNone/>
            </a:pPr>
            <a:r>
              <a:rPr lang="en-IN" dirty="0">
                <a:latin typeface="Book Antiqua" panose="02040602050305030304" pitchFamily="18" charset="0"/>
              </a:rPr>
              <a:t>  </a:t>
            </a:r>
          </a:p>
          <a:p>
            <a:pPr marL="0" indent="0">
              <a:buNone/>
            </a:pPr>
            <a:r>
              <a:rPr lang="en-IN" dirty="0">
                <a:latin typeface="Book Antiqua" panose="02040602050305030304" pitchFamily="18" charset="0"/>
              </a:rPr>
              <a:t>#</a:t>
            </a:r>
            <a:r>
              <a:rPr lang="en-IN" dirty="0" err="1">
                <a:latin typeface="Book Antiqua" panose="02040602050305030304" pitchFamily="18" charset="0"/>
              </a:rPr>
              <a:t>fancyBox</a:t>
            </a:r>
            <a:r>
              <a:rPr lang="en-IN" dirty="0">
                <a:latin typeface="Book Antiqua" panose="02040602050305030304" pitchFamily="18" charset="0"/>
              </a:rPr>
              <a:t> {  </a:t>
            </a:r>
          </a:p>
          <a:p>
            <a:pPr marL="0" indent="0">
              <a:buNone/>
            </a:pPr>
            <a:r>
              <a:rPr lang="en-IN" b="1" dirty="0">
                <a:latin typeface="Book Antiqua" panose="02040602050305030304" pitchFamily="18" charset="0"/>
              </a:rPr>
              <a:t>  border-radius: 15% 10%;  </a:t>
            </a:r>
          </a:p>
          <a:p>
            <a:pPr marL="0" indent="0">
              <a:buNone/>
            </a:pPr>
            <a:r>
              <a:rPr lang="en-IN" dirty="0">
                <a:latin typeface="Book Antiqua" panose="02040602050305030304" pitchFamily="18" charset="0"/>
              </a:rPr>
              <a:t>  background-</a:t>
            </a:r>
            <a:r>
              <a:rPr lang="en-IN" dirty="0" err="1">
                <a:latin typeface="Book Antiqua" panose="02040602050305030304" pitchFamily="18" charset="0"/>
              </a:rPr>
              <a:t>color</a:t>
            </a:r>
            <a:r>
              <a:rPr lang="en-IN" dirty="0">
                <a:latin typeface="Book Antiqua" panose="02040602050305030304" pitchFamily="18" charset="0"/>
              </a:rPr>
              <a:t>: #ffa07a;  </a:t>
            </a:r>
          </a:p>
          <a:p>
            <a:pPr marL="0" indent="0">
              <a:buNone/>
            </a:pPr>
            <a:r>
              <a:rPr lang="en-IN" dirty="0">
                <a:latin typeface="Book Antiqua" panose="02040602050305030304" pitchFamily="18" charset="0"/>
              </a:rPr>
              <a:t>}  </a:t>
            </a:r>
          </a:p>
          <a:p>
            <a:pPr marL="0" indent="0">
              <a:buNone/>
            </a:pPr>
            <a:r>
              <a:rPr lang="en-IN" dirty="0">
                <a:latin typeface="Book Antiqua" panose="02040602050305030304" pitchFamily="18" charset="0"/>
              </a:rPr>
              <a:t>  </a:t>
            </a:r>
          </a:p>
          <a:p>
            <a:pPr marL="0" indent="0">
              <a:buNone/>
            </a:pPr>
            <a:r>
              <a:rPr lang="en-IN" dirty="0">
                <a:latin typeface="Book Antiqua" panose="02040602050305030304" pitchFamily="18" charset="0"/>
              </a:rPr>
              <a:t>#</a:t>
            </a:r>
            <a:r>
              <a:rPr lang="en-IN" dirty="0" err="1">
                <a:latin typeface="Book Antiqua" panose="02040602050305030304" pitchFamily="18" charset="0"/>
              </a:rPr>
              <a:t>customBox</a:t>
            </a:r>
            <a:r>
              <a:rPr lang="en-IN" dirty="0">
                <a:latin typeface="Book Antiqua" panose="02040602050305030304" pitchFamily="18" charset="0"/>
              </a:rPr>
              <a:t> {  </a:t>
            </a:r>
          </a:p>
          <a:p>
            <a:pPr marL="0" indent="0">
              <a:buNone/>
            </a:pPr>
            <a:r>
              <a:rPr lang="en-IN" b="1" dirty="0">
                <a:latin typeface="Book Antiqua" panose="02040602050305030304" pitchFamily="18" charset="0"/>
              </a:rPr>
              <a:t>  border-radius: 20px 30px 10px;  </a:t>
            </a:r>
          </a:p>
          <a:p>
            <a:pPr marL="0" indent="0">
              <a:buNone/>
            </a:pPr>
            <a:r>
              <a:rPr lang="en-IN" dirty="0">
                <a:latin typeface="Book Antiqua" panose="02040602050305030304" pitchFamily="18" charset="0"/>
              </a:rPr>
              <a:t>  background-</a:t>
            </a:r>
            <a:r>
              <a:rPr lang="en-IN" dirty="0" err="1">
                <a:latin typeface="Book Antiqua" panose="02040602050305030304" pitchFamily="18" charset="0"/>
              </a:rPr>
              <a:t>color</a:t>
            </a:r>
            <a:r>
              <a:rPr lang="en-IN" dirty="0">
                <a:latin typeface="Book Antiqua" panose="02040602050305030304" pitchFamily="18" charset="0"/>
              </a:rPr>
              <a:t>: #98fb98;  </a:t>
            </a:r>
          </a:p>
          <a:p>
            <a:pPr marL="0" indent="0">
              <a:buNone/>
            </a:pPr>
            <a:r>
              <a:rPr lang="en-IN" dirty="0">
                <a:latin typeface="Book Antiqua" panose="02040602050305030304" pitchFamily="18" charset="0"/>
              </a:rPr>
              <a:t>}  </a:t>
            </a:r>
          </a:p>
          <a:p>
            <a:endParaRPr lang="en-IN" dirty="0">
              <a:latin typeface="Book Antiqua" panose="02040602050305030304" pitchFamily="18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24534" y="407081"/>
            <a:ext cx="6610739" cy="6096356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en-GB" b="1" dirty="0">
                <a:latin typeface="Book Antiqua" panose="02040602050305030304" pitchFamily="18" charset="0"/>
              </a:rPr>
              <a:t>Single Value:</a:t>
            </a:r>
          </a:p>
          <a:p>
            <a:pPr algn="just"/>
            <a:r>
              <a:rPr lang="en-GB" dirty="0">
                <a:latin typeface="Book Antiqua" panose="02040602050305030304" pitchFamily="18" charset="0"/>
              </a:rPr>
              <a:t>At the point when you offer a single value, like border-radius: 30px;, it applies that radius to all corners, making consistently adjusted edges.</a:t>
            </a:r>
          </a:p>
          <a:p>
            <a:pPr algn="just"/>
            <a:r>
              <a:rPr lang="en-GB" b="1" dirty="0">
                <a:latin typeface="Book Antiqua" panose="02040602050305030304" pitchFamily="18" charset="0"/>
              </a:rPr>
              <a:t>Two Values:</a:t>
            </a:r>
          </a:p>
          <a:p>
            <a:pPr algn="just"/>
            <a:r>
              <a:rPr lang="en-GB" dirty="0">
                <a:latin typeface="Book Antiqua" panose="02040602050305030304" pitchFamily="18" charset="0"/>
              </a:rPr>
              <a:t>Presenting two values, similar to border-radius: 20% 10%;, empowers you to set various radii for even and vertical corners. The primary value addresses the top-left and bottom-right corners, while the subsequent value applies to the top-right and bottom-left corners.</a:t>
            </a:r>
          </a:p>
          <a:p>
            <a:pPr algn="just"/>
            <a:r>
              <a:rPr lang="en-GB" b="1" dirty="0">
                <a:latin typeface="Book Antiqua" panose="02040602050305030304" pitchFamily="18" charset="0"/>
              </a:rPr>
              <a:t>Three and Four Values:</a:t>
            </a:r>
          </a:p>
          <a:p>
            <a:pPr algn="just"/>
            <a:r>
              <a:rPr lang="en-GB" dirty="0">
                <a:latin typeface="Book Antiqua" panose="02040602050305030304" pitchFamily="18" charset="0"/>
              </a:rPr>
              <a:t>Things get much more intriguing with three and four values. </a:t>
            </a:r>
          </a:p>
          <a:p>
            <a:pPr algn="just"/>
            <a:r>
              <a:rPr lang="en-GB" dirty="0">
                <a:latin typeface="Book Antiqua" panose="02040602050305030304" pitchFamily="18" charset="0"/>
              </a:rPr>
              <a:t>With border-radius: 10% 30% 20%;, the values relate to top-left, top-right, and bottom-right/bottom-left corners, separately. </a:t>
            </a:r>
          </a:p>
          <a:p>
            <a:pPr algn="just"/>
            <a:r>
              <a:rPr lang="en-GB" dirty="0">
                <a:latin typeface="Book Antiqua" panose="02040602050305030304" pitchFamily="18" charset="0"/>
              </a:rPr>
              <a:t>For four values like border-radius: 10% 30% 20% 40%;, you take care of each corner independently.</a:t>
            </a:r>
          </a:p>
          <a:p>
            <a:pPr algn="just"/>
            <a:endParaRPr lang="en-IN" dirty="0">
              <a:latin typeface="Book Antiqua" panose="02040602050305030304" pitchFamily="18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D827D-3A5E-4197-8547-878A82F055BA}" type="slidenum">
              <a:rPr lang="en-IN" smtClean="0"/>
              <a:pPr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1335307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142958" y="885825"/>
            <a:ext cx="9577494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border-radius property is used to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round the corners of an element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en-US" sz="2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You can use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one value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→ all corners same</a:t>
            </a:r>
          </a:p>
          <a:p>
            <a:pPr>
              <a:buFont typeface="Arial" pitchFamily="34" charset="0"/>
              <a:buChar char="•"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two values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→ horizontal / vertical radii</a:t>
            </a:r>
          </a:p>
          <a:p>
            <a:pPr>
              <a:buFont typeface="Arial" pitchFamily="34" charset="0"/>
              <a:buChar char="•"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three values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→ top-left, top-right &amp; bottom-left/right (CSS shorthand rule)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371850" y="428625"/>
            <a:ext cx="48418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All </a:t>
            </a:r>
            <a:r>
              <a:rPr lang="en-US" sz="2400" b="1" dirty="0" smtClean="0"/>
              <a:t>four corners are equally rounded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sp>
        <p:nvSpPr>
          <p:cNvPr id="9" name="Rectangle 8"/>
          <p:cNvSpPr/>
          <p:nvPr/>
        </p:nvSpPr>
        <p:spPr>
          <a:xfrm>
            <a:off x="876224" y="58847"/>
            <a:ext cx="4238701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&lt;!DOCTYPE html&gt;</a:t>
            </a:r>
          </a:p>
          <a:p>
            <a:r>
              <a:rPr lang="en-US" dirty="0" smtClean="0"/>
              <a:t>&lt;html&gt;</a:t>
            </a:r>
          </a:p>
          <a:p>
            <a:r>
              <a:rPr lang="en-US" dirty="0" smtClean="0"/>
              <a:t>&lt;head&gt;</a:t>
            </a:r>
          </a:p>
          <a:p>
            <a:r>
              <a:rPr lang="en-US" dirty="0" smtClean="0"/>
              <a:t>  &lt;title&gt;Border Radius - 20px&lt;/title&gt;</a:t>
            </a:r>
          </a:p>
          <a:p>
            <a:r>
              <a:rPr lang="en-US" dirty="0" smtClean="0"/>
              <a:t>  &lt;style&gt;</a:t>
            </a:r>
          </a:p>
          <a:p>
            <a:r>
              <a:rPr lang="en-US" dirty="0" smtClean="0"/>
              <a:t>    #</a:t>
            </a:r>
            <a:r>
              <a:rPr lang="en-US" dirty="0" err="1" smtClean="0"/>
              <a:t>roundedBox</a:t>
            </a:r>
            <a:r>
              <a:rPr lang="en-US" dirty="0" smtClean="0"/>
              <a:t> {</a:t>
            </a:r>
          </a:p>
          <a:p>
            <a:r>
              <a:rPr lang="en-US" dirty="0" smtClean="0"/>
              <a:t>      width: 200px;</a:t>
            </a:r>
          </a:p>
          <a:p>
            <a:r>
              <a:rPr lang="en-US" dirty="0" smtClean="0"/>
              <a:t>      height: 120px;</a:t>
            </a:r>
          </a:p>
          <a:p>
            <a:r>
              <a:rPr lang="en-US" dirty="0" smtClean="0"/>
              <a:t>      background-color: #7fd7e7;</a:t>
            </a:r>
          </a:p>
          <a:p>
            <a:r>
              <a:rPr lang="en-US" dirty="0" smtClean="0"/>
              <a:t>      border-radius: 20px;</a:t>
            </a:r>
          </a:p>
          <a:p>
            <a:r>
              <a:rPr lang="en-US" dirty="0" smtClean="0"/>
              <a:t>      padding: 20px;</a:t>
            </a:r>
          </a:p>
          <a:p>
            <a:r>
              <a:rPr lang="en-US" dirty="0" smtClean="0"/>
              <a:t>      font-family: Arial;</a:t>
            </a:r>
          </a:p>
          <a:p>
            <a:r>
              <a:rPr lang="en-US" dirty="0" smtClean="0"/>
              <a:t>    }</a:t>
            </a:r>
          </a:p>
          <a:p>
            <a:r>
              <a:rPr lang="en-US" dirty="0" smtClean="0"/>
              <a:t>  &lt;/style&gt;</a:t>
            </a:r>
          </a:p>
          <a:p>
            <a:r>
              <a:rPr lang="en-US" dirty="0" smtClean="0"/>
              <a:t>&lt;/head&gt;</a:t>
            </a:r>
          </a:p>
          <a:p>
            <a:r>
              <a:rPr lang="en-US" dirty="0" smtClean="0"/>
              <a:t>&lt;body&gt;</a:t>
            </a:r>
          </a:p>
          <a:p>
            <a:endParaRPr lang="en-US" dirty="0" smtClean="0"/>
          </a:p>
          <a:p>
            <a:r>
              <a:rPr lang="en-US" dirty="0" smtClean="0"/>
              <a:t>  &lt;h2&gt;border-radius: 20px&lt;/h2&gt;</a:t>
            </a:r>
          </a:p>
          <a:p>
            <a:r>
              <a:rPr lang="en-US" dirty="0" smtClean="0"/>
              <a:t>  &lt;div id="</a:t>
            </a:r>
            <a:r>
              <a:rPr lang="en-US" dirty="0" err="1" smtClean="0"/>
              <a:t>roundedBox</a:t>
            </a:r>
            <a:r>
              <a:rPr lang="en-US" dirty="0" smtClean="0"/>
              <a:t>"&gt;</a:t>
            </a:r>
          </a:p>
          <a:p>
            <a:r>
              <a:rPr lang="en-US" dirty="0" smtClean="0"/>
              <a:t>    All corners are equally rounded</a:t>
            </a:r>
          </a:p>
          <a:p>
            <a:r>
              <a:rPr lang="en-US" dirty="0" smtClean="0"/>
              <a:t>  &lt;/div&gt;</a:t>
            </a:r>
          </a:p>
          <a:p>
            <a:endParaRPr lang="en-US" dirty="0" smtClean="0"/>
          </a:p>
          <a:p>
            <a:r>
              <a:rPr lang="en-US" dirty="0" smtClean="0"/>
              <a:t>&lt;/body&gt;</a:t>
            </a:r>
          </a:p>
          <a:p>
            <a:r>
              <a:rPr lang="en-US" dirty="0" smtClean="0"/>
              <a:t>&lt;/html&gt;</a:t>
            </a:r>
            <a:endParaRPr lang="en-US" dirty="0"/>
          </a:p>
        </p:txBody>
      </p:sp>
      <p:pic>
        <p:nvPicPr>
          <p:cNvPr id="706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97575" y="1585912"/>
            <a:ext cx="4146550" cy="35405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5186380" y="0"/>
            <a:ext cx="399532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border-radius: 15% 10</a:t>
            </a:r>
            <a:r>
              <a:rPr lang="en-US" sz="2400" b="1" dirty="0" smtClean="0"/>
              <a:t>%</a:t>
            </a:r>
          </a:p>
          <a:p>
            <a:r>
              <a:rPr lang="en-US" sz="2400" dirty="0" smtClean="0"/>
              <a:t>First value → horizontal radius</a:t>
            </a:r>
          </a:p>
          <a:p>
            <a:r>
              <a:rPr lang="en-US" sz="2400" dirty="0" smtClean="0"/>
              <a:t>Second value → vertical radius</a:t>
            </a:r>
          </a:p>
          <a:p>
            <a:endParaRPr lang="en-US" sz="2400" b="1" dirty="0"/>
          </a:p>
        </p:txBody>
      </p:sp>
      <p:sp>
        <p:nvSpPr>
          <p:cNvPr id="9" name="Rectangle 8"/>
          <p:cNvSpPr/>
          <p:nvPr/>
        </p:nvSpPr>
        <p:spPr>
          <a:xfrm>
            <a:off x="876224" y="58847"/>
            <a:ext cx="4238701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&lt;!DOCTYPE html&gt;</a:t>
            </a:r>
          </a:p>
          <a:p>
            <a:r>
              <a:rPr lang="en-US" dirty="0" smtClean="0"/>
              <a:t>&lt;html&gt;</a:t>
            </a:r>
          </a:p>
          <a:p>
            <a:r>
              <a:rPr lang="en-US" dirty="0" smtClean="0"/>
              <a:t>&lt;head&gt;</a:t>
            </a:r>
          </a:p>
          <a:p>
            <a:r>
              <a:rPr lang="en-US" dirty="0" smtClean="0"/>
              <a:t>  &lt;title&gt;Border Radius - Percentage&lt;/title&gt;</a:t>
            </a:r>
          </a:p>
          <a:p>
            <a:r>
              <a:rPr lang="en-US" dirty="0" smtClean="0"/>
              <a:t>  &lt;style&gt;</a:t>
            </a:r>
          </a:p>
          <a:p>
            <a:r>
              <a:rPr lang="en-US" dirty="0" smtClean="0"/>
              <a:t>    #</a:t>
            </a:r>
            <a:r>
              <a:rPr lang="en-US" dirty="0" err="1" smtClean="0"/>
              <a:t>fancyBox</a:t>
            </a:r>
            <a:r>
              <a:rPr lang="en-US" dirty="0" smtClean="0"/>
              <a:t> {</a:t>
            </a:r>
          </a:p>
          <a:p>
            <a:r>
              <a:rPr lang="en-US" dirty="0" smtClean="0"/>
              <a:t>      width: 200px;</a:t>
            </a:r>
          </a:p>
          <a:p>
            <a:r>
              <a:rPr lang="en-US" dirty="0" smtClean="0"/>
              <a:t>      height: 120px;</a:t>
            </a:r>
          </a:p>
          <a:p>
            <a:r>
              <a:rPr lang="en-US" dirty="0" smtClean="0"/>
              <a:t>      background-color: #ffa07a;</a:t>
            </a:r>
          </a:p>
          <a:p>
            <a:r>
              <a:rPr lang="en-US" dirty="0" smtClean="0"/>
              <a:t>      border-radius: 15% 10%;</a:t>
            </a:r>
          </a:p>
          <a:p>
            <a:r>
              <a:rPr lang="en-US" dirty="0" smtClean="0"/>
              <a:t>      padding: 20px;</a:t>
            </a:r>
          </a:p>
          <a:p>
            <a:r>
              <a:rPr lang="en-US" dirty="0" smtClean="0"/>
              <a:t>      font-family: Arial;</a:t>
            </a:r>
          </a:p>
          <a:p>
            <a:r>
              <a:rPr lang="en-US" dirty="0" smtClean="0"/>
              <a:t>    }</a:t>
            </a:r>
          </a:p>
          <a:p>
            <a:r>
              <a:rPr lang="en-US" dirty="0" smtClean="0"/>
              <a:t>  &lt;/style&gt;</a:t>
            </a:r>
          </a:p>
          <a:p>
            <a:r>
              <a:rPr lang="en-US" dirty="0" smtClean="0"/>
              <a:t>&lt;/head&gt;</a:t>
            </a:r>
          </a:p>
          <a:p>
            <a:r>
              <a:rPr lang="en-US" dirty="0" smtClean="0"/>
              <a:t>&lt;body&gt;</a:t>
            </a:r>
          </a:p>
          <a:p>
            <a:endParaRPr lang="en-US" dirty="0" smtClean="0"/>
          </a:p>
          <a:p>
            <a:r>
              <a:rPr lang="en-US" dirty="0" smtClean="0"/>
              <a:t>  &lt;h2&gt;border-radius: 15% 10%&lt;/h2&gt;</a:t>
            </a:r>
          </a:p>
          <a:p>
            <a:r>
              <a:rPr lang="en-US" dirty="0" smtClean="0"/>
              <a:t>  &lt;div id="</a:t>
            </a:r>
            <a:r>
              <a:rPr lang="en-US" dirty="0" err="1" smtClean="0"/>
              <a:t>fancyBox</a:t>
            </a:r>
            <a:r>
              <a:rPr lang="en-US" dirty="0" smtClean="0"/>
              <a:t>"&gt;</a:t>
            </a:r>
          </a:p>
          <a:p>
            <a:r>
              <a:rPr lang="en-US" dirty="0" smtClean="0"/>
              <a:t>    Percentage based corners</a:t>
            </a:r>
          </a:p>
          <a:p>
            <a:r>
              <a:rPr lang="en-US" dirty="0" smtClean="0"/>
              <a:t>  &lt;/div&gt;</a:t>
            </a:r>
          </a:p>
          <a:p>
            <a:endParaRPr lang="en-US" dirty="0" smtClean="0"/>
          </a:p>
          <a:p>
            <a:r>
              <a:rPr lang="en-US" dirty="0" smtClean="0"/>
              <a:t>&lt;/body&gt;</a:t>
            </a:r>
          </a:p>
          <a:p>
            <a:r>
              <a:rPr lang="en-US" dirty="0" smtClean="0"/>
              <a:t>&lt;/html&gt;</a:t>
            </a:r>
          </a:p>
        </p:txBody>
      </p:sp>
      <p:pic>
        <p:nvPicPr>
          <p:cNvPr id="716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81069" y="2428874"/>
            <a:ext cx="5106031" cy="41415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5643596" y="0"/>
            <a:ext cx="4093108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border-radius: 20px 30px </a:t>
            </a:r>
            <a:r>
              <a:rPr lang="en-US" sz="2400" b="1" dirty="0" smtClean="0"/>
              <a:t>10px</a:t>
            </a:r>
          </a:p>
          <a:p>
            <a:r>
              <a:rPr lang="en-US" sz="2400" dirty="0" smtClean="0"/>
              <a:t>20px → top-left</a:t>
            </a:r>
          </a:p>
          <a:p>
            <a:r>
              <a:rPr lang="en-US" sz="2400" dirty="0" smtClean="0"/>
              <a:t>30px → top-right &amp; bottom-left</a:t>
            </a:r>
          </a:p>
          <a:p>
            <a:r>
              <a:rPr lang="en-US" sz="2400" dirty="0" smtClean="0"/>
              <a:t>10px → bottom-right</a:t>
            </a:r>
          </a:p>
          <a:p>
            <a:endParaRPr lang="en-US" sz="2400" dirty="0"/>
          </a:p>
        </p:txBody>
      </p:sp>
      <p:sp>
        <p:nvSpPr>
          <p:cNvPr id="9" name="Rectangle 8"/>
          <p:cNvSpPr/>
          <p:nvPr/>
        </p:nvSpPr>
        <p:spPr>
          <a:xfrm>
            <a:off x="876224" y="58847"/>
            <a:ext cx="4238701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&lt;!DOCTYPE html&gt;</a:t>
            </a:r>
          </a:p>
          <a:p>
            <a:r>
              <a:rPr lang="en-US" dirty="0" smtClean="0"/>
              <a:t>&lt;html&gt;</a:t>
            </a:r>
          </a:p>
          <a:p>
            <a:r>
              <a:rPr lang="en-US" dirty="0" smtClean="0"/>
              <a:t>&lt;head&gt;</a:t>
            </a:r>
          </a:p>
          <a:p>
            <a:r>
              <a:rPr lang="en-US" dirty="0" smtClean="0"/>
              <a:t>  &lt;title&gt;Border Radius - Custom&lt;/title&gt;</a:t>
            </a:r>
          </a:p>
          <a:p>
            <a:r>
              <a:rPr lang="en-US" dirty="0" smtClean="0"/>
              <a:t>  &lt;style&gt;</a:t>
            </a:r>
          </a:p>
          <a:p>
            <a:r>
              <a:rPr lang="en-US" dirty="0" smtClean="0"/>
              <a:t>    #</a:t>
            </a:r>
            <a:r>
              <a:rPr lang="en-US" dirty="0" err="1" smtClean="0"/>
              <a:t>customBox</a:t>
            </a:r>
            <a:r>
              <a:rPr lang="en-US" dirty="0" smtClean="0"/>
              <a:t> {</a:t>
            </a:r>
          </a:p>
          <a:p>
            <a:r>
              <a:rPr lang="en-US" dirty="0" smtClean="0"/>
              <a:t>      width: 200px;</a:t>
            </a:r>
          </a:p>
          <a:p>
            <a:r>
              <a:rPr lang="en-US" dirty="0" smtClean="0"/>
              <a:t>      height: 120px;</a:t>
            </a:r>
          </a:p>
          <a:p>
            <a:r>
              <a:rPr lang="en-US" dirty="0" smtClean="0"/>
              <a:t>      background-color: #98fb98;</a:t>
            </a:r>
          </a:p>
          <a:p>
            <a:r>
              <a:rPr lang="en-US" dirty="0" smtClean="0"/>
              <a:t>      border-radius: 20px 30px 10px;</a:t>
            </a:r>
          </a:p>
          <a:p>
            <a:r>
              <a:rPr lang="en-US" dirty="0" smtClean="0"/>
              <a:t>      padding: 20px;</a:t>
            </a:r>
          </a:p>
          <a:p>
            <a:r>
              <a:rPr lang="en-US" dirty="0" smtClean="0"/>
              <a:t>      font-family: Arial;</a:t>
            </a:r>
          </a:p>
          <a:p>
            <a:r>
              <a:rPr lang="en-US" dirty="0" smtClean="0"/>
              <a:t>    }</a:t>
            </a:r>
          </a:p>
          <a:p>
            <a:r>
              <a:rPr lang="en-US" dirty="0" smtClean="0"/>
              <a:t>  &lt;/style&gt;</a:t>
            </a:r>
          </a:p>
          <a:p>
            <a:r>
              <a:rPr lang="en-US" dirty="0" smtClean="0"/>
              <a:t>&lt;/head&gt;</a:t>
            </a:r>
          </a:p>
          <a:p>
            <a:r>
              <a:rPr lang="en-US" dirty="0" smtClean="0"/>
              <a:t>&lt;body&gt;</a:t>
            </a:r>
          </a:p>
          <a:p>
            <a:endParaRPr lang="en-US" dirty="0" smtClean="0"/>
          </a:p>
          <a:p>
            <a:r>
              <a:rPr lang="en-US" dirty="0" smtClean="0"/>
              <a:t>  &lt;h2&gt;border-radius: 20px 30px 10px&lt;/h2&gt;</a:t>
            </a:r>
          </a:p>
          <a:p>
            <a:r>
              <a:rPr lang="en-US" dirty="0" smtClean="0"/>
              <a:t>  &lt;div id="</a:t>
            </a:r>
            <a:r>
              <a:rPr lang="en-US" dirty="0" err="1" smtClean="0"/>
              <a:t>customBox</a:t>
            </a:r>
            <a:r>
              <a:rPr lang="en-US" dirty="0" smtClean="0"/>
              <a:t>"&gt;</a:t>
            </a:r>
          </a:p>
          <a:p>
            <a:r>
              <a:rPr lang="en-US" dirty="0" smtClean="0"/>
              <a:t>    Custom rounded corners</a:t>
            </a:r>
          </a:p>
          <a:p>
            <a:r>
              <a:rPr lang="en-US" dirty="0" smtClean="0"/>
              <a:t>  &lt;/div&gt;</a:t>
            </a:r>
          </a:p>
          <a:p>
            <a:endParaRPr lang="en-US" dirty="0" smtClean="0"/>
          </a:p>
          <a:p>
            <a:r>
              <a:rPr lang="en-US" dirty="0" smtClean="0"/>
              <a:t>&lt;/body&gt;</a:t>
            </a:r>
          </a:p>
          <a:p>
            <a:r>
              <a:rPr lang="en-US" dirty="0" smtClean="0"/>
              <a:t>&lt;/html&gt;</a:t>
            </a:r>
          </a:p>
        </p:txBody>
      </p:sp>
      <p:pic>
        <p:nvPicPr>
          <p:cNvPr id="727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207126" y="2495550"/>
            <a:ext cx="5280025" cy="36134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C00000"/>
                </a:solidFill>
                <a:latin typeface="Book Antiqua" panose="02040602050305030304" pitchFamily="18" charset="0"/>
              </a:rPr>
              <a:t>Flex box</a:t>
            </a:r>
            <a:endParaRPr lang="en-IN" b="1" dirty="0">
              <a:solidFill>
                <a:srgbClr val="C00000"/>
              </a:solidFill>
              <a:latin typeface="Book Antiqua" panose="02040602050305030304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572" y="1776387"/>
            <a:ext cx="5157787" cy="3684588"/>
          </a:xfrm>
        </p:spPr>
        <p:txBody>
          <a:bodyPr>
            <a:normAutofit lnSpcReduction="10000"/>
          </a:bodyPr>
          <a:lstStyle/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Flexbox is short for the Flexible Box Layout module.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Flexbox is a layout method for arranging items in rows or columns.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Flexbox makes it easier to design a flexible </a:t>
            </a:r>
            <a:r>
              <a:rPr lang="en-US" b="0" i="0" u="sng" dirty="0"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responsive layout structure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, without using float or positioning.</a:t>
            </a: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400" b="0" i="0" dirty="0"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A flexbox always consists of: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a 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Flex Container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 - the parent (container) &lt;div&gt; element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Flex Items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 - the items </a:t>
            </a:r>
            <a:r>
              <a:rPr lang="en-US" sz="2400" b="0" i="0" u="sng" dirty="0"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inside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 the container &lt;div&gt;</a:t>
            </a:r>
          </a:p>
          <a:p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D827D-3A5E-4197-8547-878A82F055BA}" type="slidenum">
              <a:rPr lang="en-IN" smtClean="0"/>
              <a:pPr/>
              <a:t>32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5061646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xmlns="" id="{4F130EE3-F1FD-56B1-7303-01557B736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D827D-3A5E-4197-8547-878A82F055BA}" type="slidenum">
              <a:rPr lang="en-IN" smtClean="0"/>
              <a:pPr/>
              <a:t>33</a:t>
            </a:fld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F0EEAEB7-5287-CAB8-EF56-82417D8C0B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5376" y="5205229"/>
            <a:ext cx="6172735" cy="103641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37EBD2C6-02F3-FAC8-9732-85128F673C9A}"/>
              </a:ext>
            </a:extLst>
          </p:cNvPr>
          <p:cNvSpPr txBox="1"/>
          <p:nvPr/>
        </p:nvSpPr>
        <p:spPr>
          <a:xfrm>
            <a:off x="6319520" y="861060"/>
            <a:ext cx="4114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&lt;div class="flex-container"&gt;</a:t>
            </a:r>
          </a:p>
          <a:p>
            <a:r>
              <a:rPr lang="en-IN" dirty="0"/>
              <a:t>  &lt;div&gt;1&lt;/div&gt;</a:t>
            </a:r>
          </a:p>
          <a:p>
            <a:r>
              <a:rPr lang="en-IN" dirty="0"/>
              <a:t>  &lt;div&gt;2&lt;/div&gt;</a:t>
            </a:r>
          </a:p>
          <a:p>
            <a:r>
              <a:rPr lang="en-IN" dirty="0"/>
              <a:t>  &lt;div&gt;3&lt;/div&gt;  </a:t>
            </a:r>
          </a:p>
          <a:p>
            <a:r>
              <a:rPr lang="en-IN" dirty="0"/>
              <a:t>&lt;/div&gt;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8D934809-561C-8FBF-1FB1-34F925FD5500}"/>
              </a:ext>
            </a:extLst>
          </p:cNvPr>
          <p:cNvSpPr txBox="1"/>
          <p:nvPr/>
        </p:nvSpPr>
        <p:spPr>
          <a:xfrm>
            <a:off x="328115" y="977399"/>
            <a:ext cx="3222805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&lt;style&gt;</a:t>
            </a:r>
          </a:p>
          <a:p>
            <a:r>
              <a:rPr lang="en-IN" dirty="0"/>
              <a:t>.flex-container {</a:t>
            </a:r>
          </a:p>
          <a:p>
            <a:r>
              <a:rPr lang="en-IN" dirty="0"/>
              <a:t>  display: flex;</a:t>
            </a:r>
          </a:p>
          <a:p>
            <a:r>
              <a:rPr lang="en-IN" dirty="0"/>
              <a:t>  background-color: </a:t>
            </a:r>
            <a:r>
              <a:rPr lang="en-IN" dirty="0" err="1"/>
              <a:t>DodgerBlue</a:t>
            </a:r>
            <a:r>
              <a:rPr lang="en-IN" dirty="0"/>
              <a:t>;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.flex-container &gt; div {</a:t>
            </a:r>
          </a:p>
          <a:p>
            <a:r>
              <a:rPr lang="en-IN" dirty="0"/>
              <a:t>  background-color: #f1f1f1;</a:t>
            </a:r>
          </a:p>
          <a:p>
            <a:r>
              <a:rPr lang="en-IN" dirty="0"/>
              <a:t>  margin: 10px;</a:t>
            </a:r>
          </a:p>
          <a:p>
            <a:r>
              <a:rPr lang="en-IN" dirty="0"/>
              <a:t>  padding: 20px;</a:t>
            </a:r>
          </a:p>
          <a:p>
            <a:r>
              <a:rPr lang="en-IN" dirty="0"/>
              <a:t>  font-size: 30px;</a:t>
            </a:r>
          </a:p>
          <a:p>
            <a:r>
              <a:rPr lang="en-IN" dirty="0"/>
              <a:t>}</a:t>
            </a:r>
          </a:p>
          <a:p>
            <a:r>
              <a:rPr lang="en-IN" dirty="0"/>
              <a:t>&lt;/style&gt;</a:t>
            </a:r>
          </a:p>
        </p:txBody>
      </p:sp>
      <p:pic>
        <p:nvPicPr>
          <p:cNvPr id="37889" name="Picture 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090297" y="2852772"/>
            <a:ext cx="625078" cy="1905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38802148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b="1" dirty="0">
                <a:latin typeface="Book Antiqua" panose="02040602050305030304" pitchFamily="18" charset="0"/>
              </a:rPr>
              <a:t>Background-attachment</a:t>
            </a:r>
            <a:endParaRPr lang="en-IN" sz="3600" b="1" dirty="0">
              <a:latin typeface="Book Antiqua" panose="02040602050305030304" pitchFamily="18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US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body 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sz="24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sz="24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 background-image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400" b="0" i="0" dirty="0" err="1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US" sz="2400" b="0" i="0" dirty="0" smtClean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(“</a:t>
            </a:r>
            <a:r>
              <a:rPr lang="en-US" sz="2400" dirty="0" smtClean="0">
                <a:solidFill>
                  <a:srgbClr val="0000CD"/>
                </a:solidFill>
                <a:latin typeface="Consolas" panose="020B0609020204030204" pitchFamily="49" charset="0"/>
              </a:rPr>
              <a:t>dog</a:t>
            </a:r>
            <a:r>
              <a:rPr lang="en-US" sz="2400" b="0" i="0" dirty="0" smtClean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.png</a:t>
            </a:r>
            <a:r>
              <a:rPr lang="en-US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")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sz="24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sz="24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 background-repeat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400" b="0" i="0" dirty="0" smtClean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repeat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sz="24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sz="24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 background-position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 right top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sz="24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sz="24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 background-attachment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 fixed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sz="24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24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D827D-3A5E-4197-8547-878A82F055BA}" type="slidenum">
              <a:rPr lang="en-IN" smtClean="0"/>
              <a:pPr/>
              <a:t>34</a:t>
            </a:fld>
            <a:endParaRPr lang="en-IN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xmlns="" id="{BA2DE912-1753-C439-A99C-1672E7C0610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014413" y="1528585"/>
            <a:ext cx="4888547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The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Book Antiqua" panose="02040602050305030304" pitchFamily="18" charset="0"/>
              </a:rPr>
              <a:t>background-attachment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 property specifies whether the background image should scroll or be fixed (will not scroll with the rest of the page)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 Antiqua" panose="02040602050305030304" pitchFamily="18" charset="0"/>
            </a:endParaRPr>
          </a:p>
        </p:txBody>
      </p:sp>
      <p:pic>
        <p:nvPicPr>
          <p:cNvPr id="36865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1200" y="3292475"/>
            <a:ext cx="5029200" cy="3409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42552389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62A358D-4872-D944-4A7E-3124FA98A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C00000"/>
                </a:solidFill>
                <a:latin typeface="Book Antiqua" panose="02040602050305030304" pitchFamily="18" charset="0"/>
              </a:rPr>
              <a:t>Z-Index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xmlns="" id="{34257C22-96CF-958D-C03A-EB2882A4C6B5}"/>
              </a:ext>
            </a:extLst>
          </p:cNvPr>
          <p:cNvGraphicFramePr>
            <a:graphicFrameLocks noGrp="1"/>
          </p:cNvGraphicFramePr>
          <p:nvPr>
            <p:ph sz="quarter" idx="4"/>
          </p:nvPr>
        </p:nvGraphicFramePr>
        <p:xfrm>
          <a:off x="6172200" y="2612534"/>
          <a:ext cx="5481320" cy="3491154"/>
        </p:xfrm>
        <a:graphic>
          <a:graphicData uri="http://schemas.openxmlformats.org/drawingml/2006/table">
            <a:tbl>
              <a:tblPr/>
              <a:tblGrid>
                <a:gridCol w="1345147">
                  <a:extLst>
                    <a:ext uri="{9D8B030D-6E8A-4147-A177-3AD203B41FA5}">
                      <a16:colId xmlns:a16="http://schemas.microsoft.com/office/drawing/2014/main" xmlns="" val="2517429846"/>
                    </a:ext>
                  </a:extLst>
                </a:gridCol>
                <a:gridCol w="4136173">
                  <a:extLst>
                    <a:ext uri="{9D8B030D-6E8A-4147-A177-3AD203B41FA5}">
                      <a16:colId xmlns:a16="http://schemas.microsoft.com/office/drawing/2014/main" xmlns="" val="1850264069"/>
                    </a:ext>
                  </a:extLst>
                </a:gridCol>
              </a:tblGrid>
              <a:tr h="323614">
                <a:tc>
                  <a:txBody>
                    <a:bodyPr/>
                    <a:lstStyle/>
                    <a:p>
                      <a:pPr algn="l" fontAlgn="t"/>
                      <a:r>
                        <a:rPr lang="en-IN" sz="2000" b="1" dirty="0">
                          <a:effectLst/>
                          <a:latin typeface="Book Antiqua" panose="02040602050305030304" pitchFamily="18" charset="0"/>
                        </a:rPr>
                        <a:t>Value</a:t>
                      </a:r>
                    </a:p>
                  </a:txBody>
                  <a:tcPr marL="99574" marR="49787" marT="49787" marB="49787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000" b="1" dirty="0">
                          <a:effectLst/>
                          <a:latin typeface="Book Antiqua" panose="02040602050305030304" pitchFamily="18" charset="0"/>
                        </a:rPr>
                        <a:t>Description</a:t>
                      </a:r>
                    </a:p>
                  </a:txBody>
                  <a:tcPr marL="49787" marR="49787" marT="49787" marB="49787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23147391"/>
                  </a:ext>
                </a:extLst>
              </a:tr>
              <a:tr h="771695">
                <a:tc>
                  <a:txBody>
                    <a:bodyPr/>
                    <a:lstStyle/>
                    <a:p>
                      <a:pPr algn="l" fontAlgn="t"/>
                      <a:r>
                        <a:rPr lang="en-IN" sz="2000">
                          <a:effectLst/>
                          <a:latin typeface="Book Antiqua" panose="02040602050305030304" pitchFamily="18" charset="0"/>
                        </a:rPr>
                        <a:t>auto</a:t>
                      </a:r>
                    </a:p>
                  </a:txBody>
                  <a:tcPr marL="99574" marR="49787" marT="49787" marB="49787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dirty="0">
                          <a:effectLst/>
                          <a:latin typeface="Book Antiqua" panose="02040602050305030304" pitchFamily="18" charset="0"/>
                        </a:rPr>
                        <a:t>Sets the stack order equal to its parents. This is default</a:t>
                      </a:r>
                    </a:p>
                  </a:txBody>
                  <a:tcPr marL="49787" marR="49787" marT="49787" marB="49787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789370509"/>
                  </a:ext>
                </a:extLst>
              </a:tr>
              <a:tr h="771695">
                <a:tc>
                  <a:txBody>
                    <a:bodyPr/>
                    <a:lstStyle/>
                    <a:p>
                      <a:pPr algn="l" fontAlgn="t"/>
                      <a:r>
                        <a:rPr lang="en-IN" sz="2000" i="0" dirty="0">
                          <a:effectLst/>
                          <a:latin typeface="Book Antiqua" panose="02040602050305030304" pitchFamily="18" charset="0"/>
                        </a:rPr>
                        <a:t>number</a:t>
                      </a:r>
                    </a:p>
                  </a:txBody>
                  <a:tcPr marL="99574" marR="49787" marT="49787" marB="49787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dirty="0">
                          <a:effectLst/>
                          <a:latin typeface="Book Antiqua" panose="02040602050305030304" pitchFamily="18" charset="0"/>
                        </a:rPr>
                        <a:t>Sets the stack order of the element. Negative numbers are allowed</a:t>
                      </a:r>
                    </a:p>
                  </a:txBody>
                  <a:tcPr marL="49787" marR="49787" marT="49787" marB="49787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106357319"/>
                  </a:ext>
                </a:extLst>
              </a:tr>
              <a:tr h="771695">
                <a:tc>
                  <a:txBody>
                    <a:bodyPr/>
                    <a:lstStyle/>
                    <a:p>
                      <a:pPr algn="l" fontAlgn="t"/>
                      <a:r>
                        <a:rPr lang="en-IN" sz="2000">
                          <a:effectLst/>
                          <a:latin typeface="Book Antiqua" panose="02040602050305030304" pitchFamily="18" charset="0"/>
                        </a:rPr>
                        <a:t>initial</a:t>
                      </a:r>
                    </a:p>
                  </a:txBody>
                  <a:tcPr marL="99574" marR="49787" marT="49787" marB="49787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dirty="0">
                          <a:effectLst/>
                          <a:latin typeface="Book Antiqua" panose="02040602050305030304" pitchFamily="18" charset="0"/>
                        </a:rPr>
                        <a:t>Sets this property to its default value. </a:t>
                      </a:r>
                      <a:r>
                        <a:rPr lang="en-US" sz="2000" dirty="0">
                          <a:effectLst/>
                          <a:latin typeface="Book Antiqua" panose="02040602050305030304" pitchFamily="18" charset="0"/>
                          <a:hlinkClick r:id="rId2"/>
                        </a:rPr>
                        <a:t>Read about </a:t>
                      </a:r>
                      <a:r>
                        <a:rPr lang="en-US" sz="2000" i="1" dirty="0">
                          <a:effectLst/>
                          <a:latin typeface="Book Antiqua" panose="02040602050305030304" pitchFamily="18" charset="0"/>
                          <a:hlinkClick r:id="rId2"/>
                        </a:rPr>
                        <a:t>initial</a:t>
                      </a:r>
                      <a:endParaRPr lang="en-US" sz="2000" dirty="0"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49787" marR="49787" marT="49787" marB="49787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657382921"/>
                  </a:ext>
                </a:extLst>
              </a:tr>
              <a:tr h="771695">
                <a:tc>
                  <a:txBody>
                    <a:bodyPr/>
                    <a:lstStyle/>
                    <a:p>
                      <a:pPr algn="l" fontAlgn="t"/>
                      <a:r>
                        <a:rPr lang="en-IN" sz="2000">
                          <a:effectLst/>
                          <a:latin typeface="Book Antiqua" panose="02040602050305030304" pitchFamily="18" charset="0"/>
                        </a:rPr>
                        <a:t>inherit</a:t>
                      </a:r>
                    </a:p>
                  </a:txBody>
                  <a:tcPr marL="99574" marR="49787" marT="49787" marB="49787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dirty="0">
                          <a:effectLst/>
                          <a:latin typeface="Book Antiqua" panose="02040602050305030304" pitchFamily="18" charset="0"/>
                        </a:rPr>
                        <a:t>Inherits this property from its parent element. </a:t>
                      </a:r>
                      <a:r>
                        <a:rPr lang="en-US" sz="2000" dirty="0">
                          <a:effectLst/>
                          <a:latin typeface="Book Antiqua" panose="02040602050305030304" pitchFamily="18" charset="0"/>
                          <a:hlinkClick r:id="rId3"/>
                        </a:rPr>
                        <a:t>Read about </a:t>
                      </a:r>
                      <a:r>
                        <a:rPr lang="en-US" sz="2000" i="1" dirty="0">
                          <a:effectLst/>
                          <a:latin typeface="Book Antiqua" panose="02040602050305030304" pitchFamily="18" charset="0"/>
                          <a:hlinkClick r:id="rId3"/>
                        </a:rPr>
                        <a:t>inherit</a:t>
                      </a:r>
                      <a:endParaRPr lang="en-US" sz="2000" dirty="0"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49787" marR="49787" marT="49787" marB="49787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151703873"/>
                  </a:ext>
                </a:extLst>
              </a:tr>
            </a:tbl>
          </a:graphicData>
        </a:graphic>
      </p:graphicFrame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xmlns="" id="{45BA3827-B77F-5BB2-8090-DC8805517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D827D-3A5E-4197-8547-878A82F055BA}" type="slidenum">
              <a:rPr lang="en-IN" smtClean="0"/>
              <a:pPr/>
              <a:t>35</a:t>
            </a:fld>
            <a:endParaRPr lang="en-IN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xmlns="" id="{29E23B05-D38F-D351-A2BF-FFE49A26C22F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909162" y="1984375"/>
            <a:ext cx="4981892" cy="39703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100000"/>
              </a:lnSpc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The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Book Antiqua" panose="02040602050305030304" pitchFamily="18" charset="0"/>
              </a:rPr>
              <a:t>z-index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 property specifies the stack order of an element.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 Antiqua" panose="0204060205030503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An element with greater stack order is always in front of an element with a lower stack order.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 Antiqua" panose="0204060205030503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Note:</a:t>
            </a:r>
            <a:r>
              <a:rPr kumimoji="0" lang="en-US" altLang="en-US" sz="1800" b="0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 </a:t>
            </a:r>
            <a:r>
              <a:rPr kumimoji="0" lang="en-US" altLang="en-US" sz="1800" b="0" i="0" u="sng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Book Antiqua" panose="02040602050305030304" pitchFamily="18" charset="0"/>
              </a:rPr>
              <a:t>z-index</a:t>
            </a:r>
            <a:r>
              <a:rPr kumimoji="0" lang="en-US" altLang="en-US" sz="1800" b="0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 only works on positioned elements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 (position: absolute, position: relative, position: fixed, or position: sticky) and </a:t>
            </a:r>
            <a:r>
              <a:rPr kumimoji="0" lang="en-US" altLang="en-US" sz="1800" b="0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flex items (elements that are direct children of </a:t>
            </a:r>
            <a:r>
              <a:rPr kumimoji="0" lang="en-US" altLang="en-US" sz="1800" b="0" i="0" u="sng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  <a:hlinkClick r:id="rId4"/>
              </a:rPr>
              <a:t>display:flex</a:t>
            </a:r>
            <a:r>
              <a:rPr kumimoji="0" lang="en-US" altLang="en-US" sz="1800" b="0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 elements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).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 Antiqua" panose="0204060205030503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Note: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 If two positioned elements overlap without a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Book Antiqua" panose="02040602050305030304" pitchFamily="18" charset="0"/>
              </a:rPr>
              <a:t>z-index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 specified, the element positioned last in the HTML code will be shown on top. 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5891424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62A358D-4872-D944-4A7E-3124FA98A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2688" y="0"/>
            <a:ext cx="2843212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Book Antiqua" panose="02040602050305030304" pitchFamily="18" charset="0"/>
              </a:rPr>
              <a:t>Z-Index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xmlns="" id="{34257C22-96CF-958D-C03A-EB2882A4C6B5}"/>
              </a:ext>
            </a:extLst>
          </p:cNvPr>
          <p:cNvGraphicFramePr>
            <a:graphicFrameLocks noGrp="1"/>
          </p:cNvGraphicFramePr>
          <p:nvPr>
            <p:ph sz="quarter" idx="4"/>
          </p:nvPr>
        </p:nvGraphicFramePr>
        <p:xfrm>
          <a:off x="6172200" y="3095134"/>
          <a:ext cx="5481320" cy="3491154"/>
        </p:xfrm>
        <a:graphic>
          <a:graphicData uri="http://schemas.openxmlformats.org/drawingml/2006/table">
            <a:tbl>
              <a:tblPr/>
              <a:tblGrid>
                <a:gridCol w="1345147">
                  <a:extLst>
                    <a:ext uri="{9D8B030D-6E8A-4147-A177-3AD203B41FA5}">
                      <a16:colId xmlns:a16="http://schemas.microsoft.com/office/drawing/2014/main" xmlns="" val="2517429846"/>
                    </a:ext>
                  </a:extLst>
                </a:gridCol>
                <a:gridCol w="4136173">
                  <a:extLst>
                    <a:ext uri="{9D8B030D-6E8A-4147-A177-3AD203B41FA5}">
                      <a16:colId xmlns:a16="http://schemas.microsoft.com/office/drawing/2014/main" xmlns="" val="1850264069"/>
                    </a:ext>
                  </a:extLst>
                </a:gridCol>
              </a:tblGrid>
              <a:tr h="323614">
                <a:tc>
                  <a:txBody>
                    <a:bodyPr/>
                    <a:lstStyle/>
                    <a:p>
                      <a:pPr algn="l" fontAlgn="t"/>
                      <a:r>
                        <a:rPr lang="en-IN" sz="2000" b="1" dirty="0">
                          <a:effectLst/>
                          <a:latin typeface="Book Antiqua" panose="02040602050305030304" pitchFamily="18" charset="0"/>
                        </a:rPr>
                        <a:t>Value</a:t>
                      </a:r>
                    </a:p>
                  </a:txBody>
                  <a:tcPr marL="99574" marR="49787" marT="49787" marB="49787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000" b="1" dirty="0">
                          <a:effectLst/>
                          <a:latin typeface="Book Antiqua" panose="02040602050305030304" pitchFamily="18" charset="0"/>
                        </a:rPr>
                        <a:t>Description</a:t>
                      </a:r>
                    </a:p>
                  </a:txBody>
                  <a:tcPr marL="49787" marR="49787" marT="49787" marB="49787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23147391"/>
                  </a:ext>
                </a:extLst>
              </a:tr>
              <a:tr h="771695">
                <a:tc>
                  <a:txBody>
                    <a:bodyPr/>
                    <a:lstStyle/>
                    <a:p>
                      <a:pPr algn="l" fontAlgn="t"/>
                      <a:r>
                        <a:rPr lang="en-IN" sz="2000">
                          <a:effectLst/>
                          <a:latin typeface="Book Antiqua" panose="02040602050305030304" pitchFamily="18" charset="0"/>
                        </a:rPr>
                        <a:t>auto</a:t>
                      </a:r>
                    </a:p>
                  </a:txBody>
                  <a:tcPr marL="99574" marR="49787" marT="49787" marB="49787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dirty="0">
                          <a:effectLst/>
                          <a:latin typeface="Book Antiqua" panose="02040602050305030304" pitchFamily="18" charset="0"/>
                        </a:rPr>
                        <a:t>Sets the stack order equal to its parents. This is default</a:t>
                      </a:r>
                    </a:p>
                  </a:txBody>
                  <a:tcPr marL="49787" marR="49787" marT="49787" marB="49787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789370509"/>
                  </a:ext>
                </a:extLst>
              </a:tr>
              <a:tr h="771695">
                <a:tc>
                  <a:txBody>
                    <a:bodyPr/>
                    <a:lstStyle/>
                    <a:p>
                      <a:pPr algn="l" fontAlgn="t"/>
                      <a:r>
                        <a:rPr lang="en-IN" sz="2000" i="0" dirty="0">
                          <a:effectLst/>
                          <a:latin typeface="Book Antiqua" panose="02040602050305030304" pitchFamily="18" charset="0"/>
                        </a:rPr>
                        <a:t>number</a:t>
                      </a:r>
                    </a:p>
                  </a:txBody>
                  <a:tcPr marL="99574" marR="49787" marT="49787" marB="49787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dirty="0">
                          <a:effectLst/>
                          <a:latin typeface="Book Antiqua" panose="02040602050305030304" pitchFamily="18" charset="0"/>
                        </a:rPr>
                        <a:t>Sets the stack order of the element. Negative numbers are allowed</a:t>
                      </a:r>
                    </a:p>
                  </a:txBody>
                  <a:tcPr marL="49787" marR="49787" marT="49787" marB="49787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106357319"/>
                  </a:ext>
                </a:extLst>
              </a:tr>
              <a:tr h="771695">
                <a:tc>
                  <a:txBody>
                    <a:bodyPr/>
                    <a:lstStyle/>
                    <a:p>
                      <a:pPr algn="l" fontAlgn="t"/>
                      <a:r>
                        <a:rPr lang="en-IN" sz="2000">
                          <a:effectLst/>
                          <a:latin typeface="Book Antiqua" panose="02040602050305030304" pitchFamily="18" charset="0"/>
                        </a:rPr>
                        <a:t>initial</a:t>
                      </a:r>
                    </a:p>
                  </a:txBody>
                  <a:tcPr marL="99574" marR="49787" marT="49787" marB="49787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dirty="0">
                          <a:effectLst/>
                          <a:latin typeface="Book Antiqua" panose="02040602050305030304" pitchFamily="18" charset="0"/>
                        </a:rPr>
                        <a:t>Sets this property to its default value. </a:t>
                      </a:r>
                      <a:r>
                        <a:rPr lang="en-US" sz="2000" dirty="0">
                          <a:effectLst/>
                          <a:latin typeface="Book Antiqua" panose="02040602050305030304" pitchFamily="18" charset="0"/>
                          <a:hlinkClick r:id="rId2"/>
                        </a:rPr>
                        <a:t>Read about </a:t>
                      </a:r>
                      <a:r>
                        <a:rPr lang="en-US" sz="2000" i="1" dirty="0">
                          <a:effectLst/>
                          <a:latin typeface="Book Antiqua" panose="02040602050305030304" pitchFamily="18" charset="0"/>
                          <a:hlinkClick r:id="rId2"/>
                        </a:rPr>
                        <a:t>initial</a:t>
                      </a:r>
                      <a:endParaRPr lang="en-US" sz="2000" dirty="0"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49787" marR="49787" marT="49787" marB="49787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657382921"/>
                  </a:ext>
                </a:extLst>
              </a:tr>
              <a:tr h="771695">
                <a:tc>
                  <a:txBody>
                    <a:bodyPr/>
                    <a:lstStyle/>
                    <a:p>
                      <a:pPr algn="l" fontAlgn="t"/>
                      <a:r>
                        <a:rPr lang="en-IN" sz="2000">
                          <a:effectLst/>
                          <a:latin typeface="Book Antiqua" panose="02040602050305030304" pitchFamily="18" charset="0"/>
                        </a:rPr>
                        <a:t>inherit</a:t>
                      </a:r>
                    </a:p>
                  </a:txBody>
                  <a:tcPr marL="99574" marR="49787" marT="49787" marB="49787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dirty="0">
                          <a:effectLst/>
                          <a:latin typeface="Book Antiqua" panose="02040602050305030304" pitchFamily="18" charset="0"/>
                        </a:rPr>
                        <a:t>Inherits this property from its parent element. </a:t>
                      </a:r>
                      <a:r>
                        <a:rPr lang="en-US" sz="2000" dirty="0">
                          <a:effectLst/>
                          <a:latin typeface="Book Antiqua" panose="02040602050305030304" pitchFamily="18" charset="0"/>
                          <a:hlinkClick r:id="rId3"/>
                        </a:rPr>
                        <a:t>Read about </a:t>
                      </a:r>
                      <a:r>
                        <a:rPr lang="en-US" sz="2000" i="1" dirty="0">
                          <a:effectLst/>
                          <a:latin typeface="Book Antiqua" panose="02040602050305030304" pitchFamily="18" charset="0"/>
                          <a:hlinkClick r:id="rId3"/>
                        </a:rPr>
                        <a:t>inherit</a:t>
                      </a:r>
                      <a:endParaRPr lang="en-US" sz="2000" dirty="0"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49787" marR="49787" marT="49787" marB="49787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151703873"/>
                  </a:ext>
                </a:extLst>
              </a:tr>
            </a:tbl>
          </a:graphicData>
        </a:graphic>
      </p:graphicFrame>
      <p:sp>
        <p:nvSpPr>
          <p:cNvPr id="9" name="Rectangle 1">
            <a:extLst>
              <a:ext uri="{FF2B5EF4-FFF2-40B4-BE49-F238E27FC236}">
                <a16:creationId xmlns:a16="http://schemas.microsoft.com/office/drawing/2014/main" xmlns="" id="{29E23B05-D38F-D351-A2BF-FFE49A26C22F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39262" y="952500"/>
            <a:ext cx="4031138" cy="553997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100000"/>
              </a:lnSpc>
              <a:buNone/>
            </a:pPr>
            <a:r>
              <a:rPr lang="en-US" altLang="en-US" sz="600" dirty="0" smtClean="0">
                <a:latin typeface="Book Antiqua" panose="02040602050305030304" pitchFamily="18" charset="0"/>
              </a:rPr>
              <a:t>&lt;!DOCTYPE html&gt;</a:t>
            </a:r>
          </a:p>
          <a:p>
            <a:pPr algn="just">
              <a:lnSpc>
                <a:spcPct val="100000"/>
              </a:lnSpc>
              <a:buNone/>
            </a:pPr>
            <a:r>
              <a:rPr lang="en-US" altLang="en-US" sz="600" dirty="0" smtClean="0">
                <a:latin typeface="Book Antiqua" panose="02040602050305030304" pitchFamily="18" charset="0"/>
              </a:rPr>
              <a:t>&lt;html&gt;</a:t>
            </a:r>
          </a:p>
          <a:p>
            <a:pPr algn="just">
              <a:lnSpc>
                <a:spcPct val="100000"/>
              </a:lnSpc>
              <a:buNone/>
            </a:pPr>
            <a:r>
              <a:rPr lang="en-US" altLang="en-US" sz="600" dirty="0" smtClean="0">
                <a:latin typeface="Book Antiqua" panose="02040602050305030304" pitchFamily="18" charset="0"/>
              </a:rPr>
              <a:t>&lt;head&gt;</a:t>
            </a:r>
          </a:p>
          <a:p>
            <a:pPr algn="just">
              <a:lnSpc>
                <a:spcPct val="100000"/>
              </a:lnSpc>
              <a:buNone/>
            </a:pPr>
            <a:r>
              <a:rPr lang="en-US" altLang="en-US" sz="600" dirty="0" smtClean="0">
                <a:latin typeface="Book Antiqua" panose="02040602050305030304" pitchFamily="18" charset="0"/>
              </a:rPr>
              <a:t>  &lt;title&gt;Z-Index Example&lt;/title&gt;</a:t>
            </a:r>
          </a:p>
          <a:p>
            <a:pPr algn="just">
              <a:lnSpc>
                <a:spcPct val="100000"/>
              </a:lnSpc>
              <a:buNone/>
            </a:pPr>
            <a:r>
              <a:rPr lang="en-US" altLang="en-US" sz="600" dirty="0" smtClean="0">
                <a:latin typeface="Book Antiqua" panose="02040602050305030304" pitchFamily="18" charset="0"/>
              </a:rPr>
              <a:t>  &lt;style</a:t>
            </a:r>
            <a:r>
              <a:rPr lang="en-US" altLang="en-US" sz="600" dirty="0" smtClean="0">
                <a:latin typeface="Book Antiqua" panose="02040602050305030304" pitchFamily="18" charset="0"/>
              </a:rPr>
              <a:t>&gt;</a:t>
            </a:r>
            <a:endParaRPr lang="en-US" altLang="en-US" sz="600" dirty="0" smtClean="0">
              <a:latin typeface="Book Antiqua" panose="02040602050305030304" pitchFamily="18" charset="0"/>
            </a:endParaRPr>
          </a:p>
          <a:p>
            <a:pPr algn="just">
              <a:lnSpc>
                <a:spcPct val="100000"/>
              </a:lnSpc>
              <a:buNone/>
            </a:pPr>
            <a:r>
              <a:rPr lang="en-US" altLang="en-US" sz="600" dirty="0" smtClean="0">
                <a:latin typeface="Book Antiqua" panose="02040602050305030304" pitchFamily="18" charset="0"/>
              </a:rPr>
              <a:t>    .container {</a:t>
            </a:r>
          </a:p>
          <a:p>
            <a:pPr algn="just">
              <a:lnSpc>
                <a:spcPct val="100000"/>
              </a:lnSpc>
              <a:buNone/>
            </a:pPr>
            <a:r>
              <a:rPr lang="en-US" altLang="en-US" sz="600" dirty="0" smtClean="0">
                <a:latin typeface="Book Antiqua" panose="02040602050305030304" pitchFamily="18" charset="0"/>
              </a:rPr>
              <a:t>      position: relative;</a:t>
            </a:r>
          </a:p>
          <a:p>
            <a:pPr algn="just">
              <a:lnSpc>
                <a:spcPct val="100000"/>
              </a:lnSpc>
              <a:buNone/>
            </a:pPr>
            <a:r>
              <a:rPr lang="en-US" altLang="en-US" sz="600" dirty="0" smtClean="0">
                <a:latin typeface="Book Antiqua" panose="02040602050305030304" pitchFamily="18" charset="0"/>
              </a:rPr>
              <a:t>      height: 250px;</a:t>
            </a:r>
          </a:p>
          <a:p>
            <a:pPr algn="just">
              <a:lnSpc>
                <a:spcPct val="100000"/>
              </a:lnSpc>
              <a:buNone/>
            </a:pPr>
            <a:r>
              <a:rPr lang="en-US" altLang="en-US" sz="600" dirty="0" smtClean="0">
                <a:latin typeface="Book Antiqua" panose="02040602050305030304" pitchFamily="18" charset="0"/>
              </a:rPr>
              <a:t>      margin: 40px;</a:t>
            </a:r>
          </a:p>
          <a:p>
            <a:pPr algn="just">
              <a:lnSpc>
                <a:spcPct val="100000"/>
              </a:lnSpc>
              <a:buNone/>
            </a:pPr>
            <a:r>
              <a:rPr lang="en-US" altLang="en-US" sz="600" dirty="0" smtClean="0">
                <a:latin typeface="Book Antiqua" panose="02040602050305030304" pitchFamily="18" charset="0"/>
              </a:rPr>
              <a:t>      border: 2px solid black;</a:t>
            </a:r>
          </a:p>
          <a:p>
            <a:pPr algn="just">
              <a:lnSpc>
                <a:spcPct val="100000"/>
              </a:lnSpc>
              <a:buNone/>
            </a:pPr>
            <a:r>
              <a:rPr lang="en-US" altLang="en-US" sz="600" dirty="0" smtClean="0">
                <a:latin typeface="Book Antiqua" panose="02040602050305030304" pitchFamily="18" charset="0"/>
              </a:rPr>
              <a:t>    </a:t>
            </a:r>
            <a:r>
              <a:rPr lang="en-US" altLang="en-US" sz="600" dirty="0" smtClean="0">
                <a:latin typeface="Book Antiqua" panose="02040602050305030304" pitchFamily="18" charset="0"/>
              </a:rPr>
              <a:t>}</a:t>
            </a:r>
            <a:endParaRPr lang="en-US" altLang="en-US" sz="600" dirty="0" smtClean="0">
              <a:latin typeface="Book Antiqua" panose="02040602050305030304" pitchFamily="18" charset="0"/>
            </a:endParaRPr>
          </a:p>
          <a:p>
            <a:pPr algn="just">
              <a:lnSpc>
                <a:spcPct val="100000"/>
              </a:lnSpc>
              <a:buNone/>
            </a:pPr>
            <a:r>
              <a:rPr lang="en-US" altLang="en-US" sz="600" dirty="0" smtClean="0">
                <a:latin typeface="Book Antiqua" panose="02040602050305030304" pitchFamily="18" charset="0"/>
              </a:rPr>
              <a:t>    .box {</a:t>
            </a:r>
          </a:p>
          <a:p>
            <a:pPr algn="just">
              <a:lnSpc>
                <a:spcPct val="100000"/>
              </a:lnSpc>
              <a:buNone/>
            </a:pPr>
            <a:r>
              <a:rPr lang="en-US" altLang="en-US" sz="600" dirty="0" smtClean="0">
                <a:latin typeface="Book Antiqua" panose="02040602050305030304" pitchFamily="18" charset="0"/>
              </a:rPr>
              <a:t>      position: absolute;</a:t>
            </a:r>
          </a:p>
          <a:p>
            <a:pPr algn="just">
              <a:lnSpc>
                <a:spcPct val="100000"/>
              </a:lnSpc>
              <a:buNone/>
            </a:pPr>
            <a:r>
              <a:rPr lang="en-US" altLang="en-US" sz="600" dirty="0" smtClean="0">
                <a:latin typeface="Book Antiqua" panose="02040602050305030304" pitchFamily="18" charset="0"/>
              </a:rPr>
              <a:t>      width: 150px;</a:t>
            </a:r>
          </a:p>
          <a:p>
            <a:pPr algn="just">
              <a:lnSpc>
                <a:spcPct val="100000"/>
              </a:lnSpc>
              <a:buNone/>
            </a:pPr>
            <a:r>
              <a:rPr lang="en-US" altLang="en-US" sz="600" dirty="0" smtClean="0">
                <a:latin typeface="Book Antiqua" panose="02040602050305030304" pitchFamily="18" charset="0"/>
              </a:rPr>
              <a:t>      height: 150px;</a:t>
            </a:r>
          </a:p>
          <a:p>
            <a:pPr algn="just">
              <a:lnSpc>
                <a:spcPct val="100000"/>
              </a:lnSpc>
              <a:buNone/>
            </a:pPr>
            <a:r>
              <a:rPr lang="en-US" altLang="en-US" sz="600" dirty="0" smtClean="0">
                <a:latin typeface="Book Antiqua" panose="02040602050305030304" pitchFamily="18" charset="0"/>
              </a:rPr>
              <a:t>      color: white;</a:t>
            </a:r>
          </a:p>
          <a:p>
            <a:pPr algn="just">
              <a:lnSpc>
                <a:spcPct val="100000"/>
              </a:lnSpc>
              <a:buNone/>
            </a:pPr>
            <a:r>
              <a:rPr lang="en-US" altLang="en-US" sz="600" dirty="0" smtClean="0">
                <a:latin typeface="Book Antiqua" panose="02040602050305030304" pitchFamily="18" charset="0"/>
              </a:rPr>
              <a:t>      font-size: 20px;</a:t>
            </a:r>
          </a:p>
          <a:p>
            <a:pPr algn="just">
              <a:lnSpc>
                <a:spcPct val="100000"/>
              </a:lnSpc>
              <a:buNone/>
            </a:pPr>
            <a:r>
              <a:rPr lang="en-US" altLang="en-US" sz="600" dirty="0" smtClean="0">
                <a:latin typeface="Book Antiqua" panose="02040602050305030304" pitchFamily="18" charset="0"/>
              </a:rPr>
              <a:t>      text-align: center;</a:t>
            </a:r>
          </a:p>
          <a:p>
            <a:pPr algn="just">
              <a:lnSpc>
                <a:spcPct val="100000"/>
              </a:lnSpc>
              <a:buNone/>
            </a:pPr>
            <a:r>
              <a:rPr lang="en-US" altLang="en-US" sz="600" dirty="0" smtClean="0">
                <a:latin typeface="Book Antiqua" panose="02040602050305030304" pitchFamily="18" charset="0"/>
              </a:rPr>
              <a:t>      line-height: 150px;</a:t>
            </a:r>
          </a:p>
          <a:p>
            <a:pPr algn="just">
              <a:lnSpc>
                <a:spcPct val="100000"/>
              </a:lnSpc>
              <a:buNone/>
            </a:pPr>
            <a:r>
              <a:rPr lang="en-US" altLang="en-US" sz="600" dirty="0" smtClean="0">
                <a:latin typeface="Book Antiqua" panose="02040602050305030304" pitchFamily="18" charset="0"/>
              </a:rPr>
              <a:t>    }</a:t>
            </a:r>
          </a:p>
          <a:p>
            <a:pPr algn="just">
              <a:lnSpc>
                <a:spcPct val="100000"/>
              </a:lnSpc>
              <a:buNone/>
            </a:pPr>
            <a:endParaRPr lang="en-US" altLang="en-US" sz="600" dirty="0" smtClean="0">
              <a:latin typeface="Book Antiqua" panose="02040602050305030304" pitchFamily="18" charset="0"/>
            </a:endParaRPr>
          </a:p>
          <a:p>
            <a:pPr algn="just">
              <a:lnSpc>
                <a:spcPct val="100000"/>
              </a:lnSpc>
              <a:buNone/>
            </a:pPr>
            <a:r>
              <a:rPr lang="en-US" altLang="en-US" sz="600" dirty="0" smtClean="0">
                <a:latin typeface="Book Antiqua" panose="02040602050305030304" pitchFamily="18" charset="0"/>
              </a:rPr>
              <a:t>    .box1 {</a:t>
            </a:r>
          </a:p>
          <a:p>
            <a:pPr algn="just">
              <a:lnSpc>
                <a:spcPct val="100000"/>
              </a:lnSpc>
              <a:buNone/>
            </a:pPr>
            <a:r>
              <a:rPr lang="en-US" altLang="en-US" sz="600" dirty="0" smtClean="0">
                <a:latin typeface="Book Antiqua" panose="02040602050305030304" pitchFamily="18" charset="0"/>
              </a:rPr>
              <a:t>      background-color: red;</a:t>
            </a:r>
          </a:p>
          <a:p>
            <a:pPr algn="just">
              <a:lnSpc>
                <a:spcPct val="100000"/>
              </a:lnSpc>
              <a:buNone/>
            </a:pPr>
            <a:r>
              <a:rPr lang="en-US" altLang="en-US" sz="600" dirty="0" smtClean="0">
                <a:latin typeface="Book Antiqua" panose="02040602050305030304" pitchFamily="18" charset="0"/>
              </a:rPr>
              <a:t>      top: 20px;</a:t>
            </a:r>
          </a:p>
          <a:p>
            <a:pPr algn="just">
              <a:lnSpc>
                <a:spcPct val="100000"/>
              </a:lnSpc>
              <a:buNone/>
            </a:pPr>
            <a:r>
              <a:rPr lang="en-US" altLang="en-US" sz="600" dirty="0" smtClean="0">
                <a:latin typeface="Book Antiqua" panose="02040602050305030304" pitchFamily="18" charset="0"/>
              </a:rPr>
              <a:t>      left: 20px;</a:t>
            </a:r>
          </a:p>
          <a:p>
            <a:pPr algn="just">
              <a:lnSpc>
                <a:spcPct val="100000"/>
              </a:lnSpc>
              <a:buNone/>
            </a:pPr>
            <a:r>
              <a:rPr lang="en-US" altLang="en-US" sz="600" dirty="0" smtClean="0">
                <a:latin typeface="Book Antiqua" panose="02040602050305030304" pitchFamily="18" charset="0"/>
              </a:rPr>
              <a:t>      z-index: 1;</a:t>
            </a:r>
          </a:p>
          <a:p>
            <a:pPr algn="just">
              <a:lnSpc>
                <a:spcPct val="100000"/>
              </a:lnSpc>
              <a:buNone/>
            </a:pPr>
            <a:r>
              <a:rPr lang="en-US" altLang="en-US" sz="600" dirty="0" smtClean="0">
                <a:latin typeface="Book Antiqua" panose="02040602050305030304" pitchFamily="18" charset="0"/>
              </a:rPr>
              <a:t>    }</a:t>
            </a:r>
          </a:p>
          <a:p>
            <a:pPr algn="just">
              <a:lnSpc>
                <a:spcPct val="100000"/>
              </a:lnSpc>
              <a:buNone/>
            </a:pPr>
            <a:endParaRPr lang="en-US" altLang="en-US" sz="600" dirty="0" smtClean="0">
              <a:latin typeface="Book Antiqua" panose="02040602050305030304" pitchFamily="18" charset="0"/>
            </a:endParaRPr>
          </a:p>
          <a:p>
            <a:pPr algn="just">
              <a:lnSpc>
                <a:spcPct val="100000"/>
              </a:lnSpc>
              <a:buNone/>
            </a:pPr>
            <a:r>
              <a:rPr lang="en-US" altLang="en-US" sz="600" dirty="0" smtClean="0">
                <a:latin typeface="Book Antiqua" panose="02040602050305030304" pitchFamily="18" charset="0"/>
              </a:rPr>
              <a:t>    .box2 {</a:t>
            </a:r>
          </a:p>
          <a:p>
            <a:pPr algn="just">
              <a:lnSpc>
                <a:spcPct val="100000"/>
              </a:lnSpc>
              <a:buNone/>
            </a:pPr>
            <a:r>
              <a:rPr lang="en-US" altLang="en-US" sz="600" dirty="0" smtClean="0">
                <a:latin typeface="Book Antiqua" panose="02040602050305030304" pitchFamily="18" charset="0"/>
              </a:rPr>
              <a:t>      background-color: blue;</a:t>
            </a:r>
          </a:p>
          <a:p>
            <a:pPr algn="just">
              <a:lnSpc>
                <a:spcPct val="100000"/>
              </a:lnSpc>
              <a:buNone/>
            </a:pPr>
            <a:r>
              <a:rPr lang="en-US" altLang="en-US" sz="600" dirty="0" smtClean="0">
                <a:latin typeface="Book Antiqua" panose="02040602050305030304" pitchFamily="18" charset="0"/>
              </a:rPr>
              <a:t>      top: 60px;</a:t>
            </a:r>
          </a:p>
          <a:p>
            <a:pPr algn="just">
              <a:lnSpc>
                <a:spcPct val="100000"/>
              </a:lnSpc>
              <a:buNone/>
            </a:pPr>
            <a:r>
              <a:rPr lang="en-US" altLang="en-US" sz="600" dirty="0" smtClean="0">
                <a:latin typeface="Book Antiqua" panose="02040602050305030304" pitchFamily="18" charset="0"/>
              </a:rPr>
              <a:t>      left: 60px;</a:t>
            </a:r>
          </a:p>
          <a:p>
            <a:pPr algn="just">
              <a:lnSpc>
                <a:spcPct val="100000"/>
              </a:lnSpc>
              <a:buNone/>
            </a:pPr>
            <a:r>
              <a:rPr lang="en-US" altLang="en-US" sz="600" dirty="0" smtClean="0">
                <a:latin typeface="Book Antiqua" panose="02040602050305030304" pitchFamily="18" charset="0"/>
              </a:rPr>
              <a:t>      z-index: 2;</a:t>
            </a:r>
          </a:p>
          <a:p>
            <a:pPr algn="just">
              <a:lnSpc>
                <a:spcPct val="100000"/>
              </a:lnSpc>
              <a:buNone/>
            </a:pPr>
            <a:r>
              <a:rPr lang="en-US" altLang="en-US" sz="600" dirty="0" smtClean="0">
                <a:latin typeface="Book Antiqua" panose="02040602050305030304" pitchFamily="18" charset="0"/>
              </a:rPr>
              <a:t>    }</a:t>
            </a:r>
          </a:p>
          <a:p>
            <a:pPr algn="just">
              <a:lnSpc>
                <a:spcPct val="100000"/>
              </a:lnSpc>
              <a:buNone/>
            </a:pPr>
            <a:endParaRPr lang="en-US" altLang="en-US" sz="600" dirty="0" smtClean="0">
              <a:latin typeface="Book Antiqua" panose="02040602050305030304" pitchFamily="18" charset="0"/>
            </a:endParaRPr>
          </a:p>
          <a:p>
            <a:pPr algn="just">
              <a:lnSpc>
                <a:spcPct val="100000"/>
              </a:lnSpc>
              <a:buNone/>
            </a:pPr>
            <a:r>
              <a:rPr lang="en-US" altLang="en-US" sz="600" dirty="0" smtClean="0">
                <a:latin typeface="Book Antiqua" panose="02040602050305030304" pitchFamily="18" charset="0"/>
              </a:rPr>
              <a:t>    .box3 {</a:t>
            </a:r>
          </a:p>
          <a:p>
            <a:pPr algn="just">
              <a:lnSpc>
                <a:spcPct val="100000"/>
              </a:lnSpc>
              <a:buNone/>
            </a:pPr>
            <a:r>
              <a:rPr lang="en-US" altLang="en-US" sz="600" dirty="0" smtClean="0">
                <a:latin typeface="Book Antiqua" panose="02040602050305030304" pitchFamily="18" charset="0"/>
              </a:rPr>
              <a:t>      background-color: green;</a:t>
            </a:r>
          </a:p>
          <a:p>
            <a:pPr algn="just">
              <a:lnSpc>
                <a:spcPct val="100000"/>
              </a:lnSpc>
              <a:buNone/>
            </a:pPr>
            <a:r>
              <a:rPr lang="en-US" altLang="en-US" sz="600" dirty="0" smtClean="0">
                <a:latin typeface="Book Antiqua" panose="02040602050305030304" pitchFamily="18" charset="0"/>
              </a:rPr>
              <a:t>      top: 100px;</a:t>
            </a:r>
          </a:p>
          <a:p>
            <a:pPr algn="just">
              <a:lnSpc>
                <a:spcPct val="100000"/>
              </a:lnSpc>
              <a:buNone/>
            </a:pPr>
            <a:r>
              <a:rPr lang="en-US" altLang="en-US" sz="600" dirty="0" smtClean="0">
                <a:latin typeface="Book Antiqua" panose="02040602050305030304" pitchFamily="18" charset="0"/>
              </a:rPr>
              <a:t>      left: 100px;</a:t>
            </a:r>
          </a:p>
          <a:p>
            <a:pPr algn="just">
              <a:lnSpc>
                <a:spcPct val="100000"/>
              </a:lnSpc>
              <a:buNone/>
            </a:pPr>
            <a:r>
              <a:rPr lang="en-US" altLang="en-US" sz="600" dirty="0" smtClean="0">
                <a:latin typeface="Book Antiqua" panose="02040602050305030304" pitchFamily="18" charset="0"/>
              </a:rPr>
              <a:t>      z-index: 3;</a:t>
            </a:r>
          </a:p>
          <a:p>
            <a:pPr algn="just">
              <a:lnSpc>
                <a:spcPct val="100000"/>
              </a:lnSpc>
              <a:buNone/>
            </a:pPr>
            <a:r>
              <a:rPr lang="en-US" altLang="en-US" sz="600" dirty="0" smtClean="0">
                <a:latin typeface="Book Antiqua" panose="02040602050305030304" pitchFamily="18" charset="0"/>
              </a:rPr>
              <a:t>    }</a:t>
            </a:r>
          </a:p>
          <a:p>
            <a:pPr algn="just">
              <a:lnSpc>
                <a:spcPct val="100000"/>
              </a:lnSpc>
              <a:buNone/>
            </a:pPr>
            <a:endParaRPr lang="en-US" altLang="en-US" sz="600" dirty="0" smtClean="0">
              <a:latin typeface="Book Antiqua" panose="02040602050305030304" pitchFamily="18" charset="0"/>
            </a:endParaRPr>
          </a:p>
          <a:p>
            <a:pPr algn="just">
              <a:lnSpc>
                <a:spcPct val="100000"/>
              </a:lnSpc>
              <a:buNone/>
            </a:pPr>
            <a:r>
              <a:rPr lang="en-US" altLang="en-US" sz="600" dirty="0" smtClean="0">
                <a:latin typeface="Book Antiqua" panose="02040602050305030304" pitchFamily="18" charset="0"/>
              </a:rPr>
              <a:t>  &lt;/style&gt;</a:t>
            </a:r>
          </a:p>
          <a:p>
            <a:pPr algn="just">
              <a:lnSpc>
                <a:spcPct val="100000"/>
              </a:lnSpc>
              <a:buNone/>
            </a:pPr>
            <a:r>
              <a:rPr lang="en-US" altLang="en-US" sz="600" dirty="0" smtClean="0">
                <a:latin typeface="Book Antiqua" panose="02040602050305030304" pitchFamily="18" charset="0"/>
              </a:rPr>
              <a:t>&lt;/head&gt;</a:t>
            </a:r>
          </a:p>
          <a:p>
            <a:pPr algn="just">
              <a:lnSpc>
                <a:spcPct val="100000"/>
              </a:lnSpc>
              <a:buNone/>
            </a:pPr>
            <a:endParaRPr lang="en-US" altLang="en-US" sz="600" dirty="0" smtClean="0">
              <a:latin typeface="Book Antiqua" panose="02040602050305030304" pitchFamily="18" charset="0"/>
            </a:endParaRPr>
          </a:p>
          <a:p>
            <a:pPr algn="just">
              <a:lnSpc>
                <a:spcPct val="100000"/>
              </a:lnSpc>
              <a:buNone/>
            </a:pPr>
            <a:r>
              <a:rPr lang="en-US" altLang="en-US" sz="600" dirty="0" smtClean="0">
                <a:latin typeface="Book Antiqua" panose="02040602050305030304" pitchFamily="18" charset="0"/>
              </a:rPr>
              <a:t>&lt;body&gt;</a:t>
            </a:r>
          </a:p>
          <a:p>
            <a:pPr algn="just">
              <a:lnSpc>
                <a:spcPct val="100000"/>
              </a:lnSpc>
              <a:buNone/>
            </a:pPr>
            <a:endParaRPr lang="en-US" altLang="en-US" sz="600" dirty="0" smtClean="0">
              <a:latin typeface="Book Antiqua" panose="02040602050305030304" pitchFamily="18" charset="0"/>
            </a:endParaRPr>
          </a:p>
          <a:p>
            <a:pPr algn="just">
              <a:lnSpc>
                <a:spcPct val="100000"/>
              </a:lnSpc>
              <a:buNone/>
            </a:pPr>
            <a:r>
              <a:rPr lang="en-US" altLang="en-US" sz="600" dirty="0" smtClean="0">
                <a:latin typeface="Book Antiqua" panose="02040602050305030304" pitchFamily="18" charset="0"/>
              </a:rPr>
              <a:t>&lt;h2&gt;Z-Index Demo&lt;/h2&gt;</a:t>
            </a:r>
          </a:p>
          <a:p>
            <a:pPr algn="just">
              <a:lnSpc>
                <a:spcPct val="100000"/>
              </a:lnSpc>
              <a:buNone/>
            </a:pPr>
            <a:endParaRPr lang="en-US" altLang="en-US" sz="600" dirty="0" smtClean="0">
              <a:latin typeface="Book Antiqua" panose="02040602050305030304" pitchFamily="18" charset="0"/>
            </a:endParaRPr>
          </a:p>
          <a:p>
            <a:pPr algn="just">
              <a:lnSpc>
                <a:spcPct val="100000"/>
              </a:lnSpc>
              <a:buNone/>
            </a:pPr>
            <a:r>
              <a:rPr lang="en-US" altLang="en-US" sz="600" dirty="0" smtClean="0">
                <a:latin typeface="Book Antiqua" panose="02040602050305030304" pitchFamily="18" charset="0"/>
              </a:rPr>
              <a:t>&lt;div class="container"&gt;</a:t>
            </a:r>
          </a:p>
          <a:p>
            <a:pPr algn="just">
              <a:lnSpc>
                <a:spcPct val="100000"/>
              </a:lnSpc>
              <a:buNone/>
            </a:pPr>
            <a:r>
              <a:rPr lang="en-US" altLang="en-US" sz="600" dirty="0" smtClean="0">
                <a:latin typeface="Book Antiqua" panose="02040602050305030304" pitchFamily="18" charset="0"/>
              </a:rPr>
              <a:t>  &lt;div class="box box1"&gt;z-index: 1&lt;/div&gt;</a:t>
            </a:r>
          </a:p>
          <a:p>
            <a:pPr algn="just">
              <a:lnSpc>
                <a:spcPct val="100000"/>
              </a:lnSpc>
              <a:buNone/>
            </a:pPr>
            <a:r>
              <a:rPr lang="en-US" altLang="en-US" sz="600" dirty="0" smtClean="0">
                <a:latin typeface="Book Antiqua" panose="02040602050305030304" pitchFamily="18" charset="0"/>
              </a:rPr>
              <a:t>  &lt;div class="box box2"&gt;z-index: 2&lt;/div&gt;</a:t>
            </a:r>
          </a:p>
          <a:p>
            <a:pPr algn="just">
              <a:lnSpc>
                <a:spcPct val="100000"/>
              </a:lnSpc>
              <a:buNone/>
            </a:pPr>
            <a:r>
              <a:rPr lang="en-US" altLang="en-US" sz="600" dirty="0" smtClean="0">
                <a:latin typeface="Book Antiqua" panose="02040602050305030304" pitchFamily="18" charset="0"/>
              </a:rPr>
              <a:t>  &lt;div class="box box3"&gt;z-index: 3&lt;/div&gt;</a:t>
            </a:r>
          </a:p>
          <a:p>
            <a:pPr algn="just">
              <a:lnSpc>
                <a:spcPct val="100000"/>
              </a:lnSpc>
              <a:buNone/>
            </a:pPr>
            <a:r>
              <a:rPr lang="en-US" altLang="en-US" sz="600" dirty="0" smtClean="0">
                <a:latin typeface="Book Antiqua" panose="02040602050305030304" pitchFamily="18" charset="0"/>
              </a:rPr>
              <a:t>&lt;/div&gt;</a:t>
            </a:r>
          </a:p>
          <a:p>
            <a:pPr algn="just">
              <a:lnSpc>
                <a:spcPct val="100000"/>
              </a:lnSpc>
              <a:buNone/>
            </a:pPr>
            <a:endParaRPr lang="en-US" altLang="en-US" sz="600" dirty="0" smtClean="0">
              <a:latin typeface="Book Antiqua" panose="02040602050305030304" pitchFamily="18" charset="0"/>
            </a:endParaRPr>
          </a:p>
          <a:p>
            <a:pPr algn="just">
              <a:lnSpc>
                <a:spcPct val="100000"/>
              </a:lnSpc>
              <a:buNone/>
            </a:pPr>
            <a:r>
              <a:rPr lang="en-US" altLang="en-US" sz="600" dirty="0" smtClean="0">
                <a:latin typeface="Book Antiqua" panose="02040602050305030304" pitchFamily="18" charset="0"/>
              </a:rPr>
              <a:t>&lt;/body&gt;</a:t>
            </a:r>
          </a:p>
          <a:p>
            <a:pPr algn="just">
              <a:lnSpc>
                <a:spcPct val="100000"/>
              </a:lnSpc>
              <a:buNone/>
            </a:pPr>
            <a:r>
              <a:rPr lang="en-US" altLang="en-US" sz="600" dirty="0" smtClean="0">
                <a:latin typeface="Book Antiqua" panose="02040602050305030304" pitchFamily="18" charset="0"/>
              </a:rPr>
              <a:t>&lt;/html&gt;</a:t>
            </a:r>
          </a:p>
          <a:p>
            <a:pPr algn="just">
              <a:lnSpc>
                <a:spcPct val="100000"/>
              </a:lnSpc>
              <a:buNone/>
            </a:pPr>
            <a:endParaRPr lang="en-US" altLang="en-US" sz="600" dirty="0" smtClean="0">
              <a:latin typeface="Book Antiqua" panose="02040602050305030304" pitchFamily="18" charset="0"/>
            </a:endParaRPr>
          </a:p>
          <a:p>
            <a:pPr algn="just">
              <a:lnSpc>
                <a:spcPct val="100000"/>
              </a:lnSpc>
              <a:buNone/>
            </a:pP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 Antiqua" panose="02040602050305030304" pitchFamily="18" charset="0"/>
            </a:endParaRPr>
          </a:p>
        </p:txBody>
      </p:sp>
      <p:pic>
        <p:nvPicPr>
          <p:cNvPr id="73730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79650" y="3286125"/>
            <a:ext cx="3314700" cy="3571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3731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201863" y="893763"/>
            <a:ext cx="2733675" cy="212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3732" name="Picture 4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080000" y="941388"/>
            <a:ext cx="2743200" cy="195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3733" name="Picture 5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8096250" y="858838"/>
            <a:ext cx="2933700" cy="199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15891424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4D770BB-F9C9-A468-C8B1-1ABDB712B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4988" y="365125"/>
            <a:ext cx="4595812" cy="1325563"/>
          </a:xfrm>
        </p:spPr>
        <p:txBody>
          <a:bodyPr>
            <a:normAutofit/>
          </a:bodyPr>
          <a:lstStyle/>
          <a:p>
            <a:r>
              <a:rPr lang="en-US" sz="3600" b="1" i="0" dirty="0">
                <a:effectLst/>
                <a:latin typeface="Book Antiqua" panose="02040602050305030304" pitchFamily="18" charset="0"/>
              </a:rPr>
              <a:t>Pseudo-classes</a:t>
            </a:r>
            <a:endParaRPr lang="en-IN" sz="3600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5AD409B5-979C-C1E6-1607-0E0702038B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8000" y="2505075"/>
            <a:ext cx="5489575" cy="3684588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A pseudo-class is used to define a special state of an element.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For example, it can be used to: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Style an element when a user moves the mouse over it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Style visited and unvisited links differently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Style an element when it gets focus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Style valid/invalid/required/optional form elements</a:t>
            </a: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FB1F933A-E49B-C9D1-16F0-A373660FCE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67500" y="2505075"/>
            <a:ext cx="5183188" cy="2905125"/>
          </a:xfrm>
        </p:spPr>
        <p:txBody>
          <a:bodyPr>
            <a:normAutofit/>
          </a:bodyPr>
          <a:lstStyle/>
          <a:p>
            <a:pPr marL="0" indent="0"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b="1" i="0" dirty="0"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Syntax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The syntax of pseudo-classes:</a:t>
            </a:r>
          </a:p>
          <a:p>
            <a:pPr marL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0" i="0" dirty="0" err="1">
                <a:solidFill>
                  <a:srgbClr val="A52A2A"/>
                </a:solidFill>
                <a:effectLst/>
                <a:latin typeface="Times New Roman" pitchFamily="18" charset="0"/>
                <a:cs typeface="Times New Roman" pitchFamily="18" charset="0"/>
              </a:rPr>
              <a:t>selector:pseudo-class</a:t>
            </a:r>
            <a:r>
              <a:rPr lang="en-US" b="0" i="0" dirty="0">
                <a:solidFill>
                  <a:srgbClr val="A52A2A"/>
                </a:solidFill>
                <a:effectLst/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{</a:t>
            </a:r>
            <a:r>
              <a:rPr lang="en-US" b="0" i="0" dirty="0"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b="0" i="0" dirty="0"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  <a:t>  property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b="0" i="0" dirty="0">
                <a:solidFill>
                  <a:srgbClr val="0000CD"/>
                </a:solidFill>
                <a:effectLst/>
                <a:latin typeface="Times New Roman" pitchFamily="18" charset="0"/>
                <a:cs typeface="Times New Roman" pitchFamily="18" charset="0"/>
              </a:rPr>
              <a:t> value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;</a:t>
            </a:r>
            <a:r>
              <a:rPr lang="en-US" b="0" i="0" dirty="0"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b="0" i="0" dirty="0"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xmlns="" id="{12CF3E85-D67A-0871-E83A-7780AD448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D827D-3A5E-4197-8547-878A82F055BA}" type="slidenum">
              <a:rPr lang="en-IN" smtClean="0"/>
              <a:pPr/>
              <a:t>37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8110291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4CB236A-2DEA-4C13-A489-056DCFC9D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488315"/>
          </a:xfrm>
        </p:spPr>
        <p:txBody>
          <a:bodyPr>
            <a:noAutofit/>
          </a:bodyPr>
          <a:lstStyle/>
          <a:p>
            <a:r>
              <a:rPr lang="en-IN" sz="3600" b="1" dirty="0" err="1">
                <a:latin typeface="Book Antiqua" panose="02040602050305030304" pitchFamily="18" charset="0"/>
              </a:rPr>
              <a:t>Pseudoclass</a:t>
            </a:r>
            <a:r>
              <a:rPr lang="en-IN" sz="3600" b="1" dirty="0">
                <a:latin typeface="Book Antiqua" panose="02040602050305030304" pitchFamily="18" charset="0"/>
              </a:rPr>
              <a:t> example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E2DDFE7F-78AE-DBDE-D760-8EBF8FBC48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020127"/>
            <a:ext cx="5157787" cy="5169536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>
                <a:latin typeface="Book Antiqua" panose="02040602050305030304" pitchFamily="18" charset="0"/>
              </a:rPr>
              <a:t>&lt;style&gt;</a:t>
            </a:r>
          </a:p>
          <a:p>
            <a:pPr marL="0" indent="0">
              <a:buNone/>
            </a:pPr>
            <a:r>
              <a:rPr lang="en-IN" dirty="0">
                <a:latin typeface="Book Antiqua" panose="02040602050305030304" pitchFamily="18" charset="0"/>
              </a:rPr>
              <a:t>/* unvisited link */</a:t>
            </a:r>
          </a:p>
          <a:p>
            <a:pPr marL="0" indent="0">
              <a:buNone/>
            </a:pPr>
            <a:r>
              <a:rPr lang="en-IN" dirty="0">
                <a:latin typeface="Book Antiqua" panose="02040602050305030304" pitchFamily="18" charset="0"/>
              </a:rPr>
              <a:t>a:link {</a:t>
            </a:r>
          </a:p>
          <a:p>
            <a:pPr marL="0" indent="0">
              <a:buNone/>
            </a:pPr>
            <a:r>
              <a:rPr lang="en-IN" dirty="0">
                <a:latin typeface="Book Antiqua" panose="02040602050305030304" pitchFamily="18" charset="0"/>
              </a:rPr>
              <a:t>  color: red;</a:t>
            </a:r>
          </a:p>
          <a:p>
            <a:pPr marL="0" indent="0">
              <a:buNone/>
            </a:pPr>
            <a:r>
              <a:rPr lang="en-IN" dirty="0">
                <a:latin typeface="Book Antiqua" panose="02040602050305030304" pitchFamily="18" charset="0"/>
              </a:rPr>
              <a:t>}</a:t>
            </a:r>
          </a:p>
          <a:p>
            <a:pPr marL="0" indent="0">
              <a:buNone/>
            </a:pPr>
            <a:r>
              <a:rPr lang="en-IN" dirty="0">
                <a:latin typeface="Book Antiqua" panose="02040602050305030304" pitchFamily="18" charset="0"/>
              </a:rPr>
              <a:t>/* visited link */</a:t>
            </a:r>
          </a:p>
          <a:p>
            <a:pPr marL="0" indent="0">
              <a:buNone/>
            </a:pPr>
            <a:r>
              <a:rPr lang="en-IN" dirty="0">
                <a:latin typeface="Book Antiqua" panose="02040602050305030304" pitchFamily="18" charset="0"/>
              </a:rPr>
              <a:t>a:visited {</a:t>
            </a:r>
          </a:p>
          <a:p>
            <a:pPr marL="0" indent="0">
              <a:buNone/>
            </a:pPr>
            <a:r>
              <a:rPr lang="en-IN" dirty="0">
                <a:latin typeface="Book Antiqua" panose="02040602050305030304" pitchFamily="18" charset="0"/>
              </a:rPr>
              <a:t>  color: green;</a:t>
            </a:r>
          </a:p>
          <a:p>
            <a:pPr marL="0" indent="0">
              <a:buNone/>
            </a:pPr>
            <a:r>
              <a:rPr lang="en-IN" dirty="0">
                <a:latin typeface="Book Antiqua" panose="02040602050305030304" pitchFamily="18" charset="0"/>
              </a:rPr>
              <a:t>}</a:t>
            </a:r>
          </a:p>
          <a:p>
            <a:pPr marL="0" indent="0">
              <a:buNone/>
            </a:pPr>
            <a:r>
              <a:rPr lang="en-IN" dirty="0">
                <a:latin typeface="Book Antiqua" panose="02040602050305030304" pitchFamily="18" charset="0"/>
              </a:rPr>
              <a:t>/* mouse over link */</a:t>
            </a:r>
          </a:p>
          <a:p>
            <a:pPr marL="0" indent="0">
              <a:buNone/>
            </a:pPr>
            <a:r>
              <a:rPr lang="en-IN" dirty="0">
                <a:latin typeface="Book Antiqua" panose="02040602050305030304" pitchFamily="18" charset="0"/>
              </a:rPr>
              <a:t>a:hover {</a:t>
            </a:r>
          </a:p>
          <a:p>
            <a:pPr marL="0" indent="0">
              <a:buNone/>
            </a:pPr>
            <a:r>
              <a:rPr lang="en-IN" dirty="0">
                <a:latin typeface="Book Antiqua" panose="02040602050305030304" pitchFamily="18" charset="0"/>
              </a:rPr>
              <a:t>  color: </a:t>
            </a:r>
            <a:r>
              <a:rPr lang="en-IN" dirty="0" err="1">
                <a:latin typeface="Book Antiqua" panose="02040602050305030304" pitchFamily="18" charset="0"/>
              </a:rPr>
              <a:t>hotpink</a:t>
            </a:r>
            <a:r>
              <a:rPr lang="en-IN" dirty="0">
                <a:latin typeface="Book Antiqua" panose="02040602050305030304" pitchFamily="18" charset="0"/>
              </a:rPr>
              <a:t>;</a:t>
            </a:r>
          </a:p>
          <a:p>
            <a:pPr marL="0" indent="0">
              <a:buNone/>
            </a:pPr>
            <a:r>
              <a:rPr lang="en-IN" dirty="0">
                <a:latin typeface="Book Antiqua" panose="02040602050305030304" pitchFamily="18" charset="0"/>
              </a:rPr>
              <a:t>}</a:t>
            </a:r>
          </a:p>
          <a:p>
            <a:pPr marL="0" indent="0">
              <a:buNone/>
            </a:pPr>
            <a:r>
              <a:rPr lang="en-IN" dirty="0">
                <a:latin typeface="Book Antiqua" panose="02040602050305030304" pitchFamily="18" charset="0"/>
              </a:rPr>
              <a:t>/* selected link */</a:t>
            </a:r>
          </a:p>
          <a:p>
            <a:pPr marL="0" indent="0">
              <a:buNone/>
            </a:pPr>
            <a:r>
              <a:rPr lang="en-IN" dirty="0">
                <a:latin typeface="Book Antiqua" panose="02040602050305030304" pitchFamily="18" charset="0"/>
              </a:rPr>
              <a:t>a:active {</a:t>
            </a:r>
          </a:p>
          <a:p>
            <a:pPr marL="0" indent="0">
              <a:buNone/>
            </a:pPr>
            <a:r>
              <a:rPr lang="en-IN" dirty="0">
                <a:latin typeface="Book Antiqua" panose="02040602050305030304" pitchFamily="18" charset="0"/>
              </a:rPr>
              <a:t>  color: blue;</a:t>
            </a:r>
          </a:p>
          <a:p>
            <a:pPr marL="0" indent="0">
              <a:buNone/>
            </a:pPr>
            <a:r>
              <a:rPr lang="en-IN" dirty="0">
                <a:latin typeface="Book Antiqua" panose="02040602050305030304" pitchFamily="18" charset="0"/>
              </a:rPr>
              <a:t>}</a:t>
            </a:r>
          </a:p>
          <a:p>
            <a:pPr marL="0" indent="0">
              <a:buNone/>
            </a:pPr>
            <a:r>
              <a:rPr lang="en-IN" dirty="0">
                <a:latin typeface="Book Antiqua" panose="02040602050305030304" pitchFamily="18" charset="0"/>
              </a:rPr>
              <a:t>&lt;/style&gt;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xmlns="" id="{E01364D7-5800-9B16-207C-82C0A6644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D827D-3A5E-4197-8547-878A82F055BA}" type="slidenum">
              <a:rPr lang="en-IN" smtClean="0"/>
              <a:pPr/>
              <a:t>38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10966123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81AABC3-773D-A266-852C-F2B88EA05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775" y="136525"/>
            <a:ext cx="10515600" cy="716915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Book Antiqua" panose="02040602050305030304" pitchFamily="18" charset="0"/>
              </a:rPr>
              <a:t>Hovering on div element-</a:t>
            </a:r>
            <a:r>
              <a:rPr lang="en-IN" sz="4000" b="1" dirty="0" err="1">
                <a:latin typeface="Book Antiqua" panose="02040602050305030304" pitchFamily="18" charset="0"/>
              </a:rPr>
              <a:t>pseudoclass</a:t>
            </a:r>
            <a:endParaRPr lang="en-IN" sz="4000" b="1" dirty="0">
              <a:latin typeface="Book Antiqua" panose="0204060205030503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1881B8E4-C6CB-4163-6D21-D7E1471F4E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7520" y="1341120"/>
            <a:ext cx="5520055" cy="538035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2000" dirty="0"/>
              <a:t>&lt;!DOCTYPE html&gt;</a:t>
            </a:r>
          </a:p>
          <a:p>
            <a:pPr marL="0" indent="0">
              <a:buNone/>
            </a:pPr>
            <a:r>
              <a:rPr lang="en-IN" sz="2000" dirty="0"/>
              <a:t>&lt;html&gt;</a:t>
            </a:r>
          </a:p>
          <a:p>
            <a:pPr marL="0" indent="0">
              <a:buNone/>
            </a:pPr>
            <a:r>
              <a:rPr lang="en-IN" sz="2000" dirty="0"/>
              <a:t>&lt;head&gt;</a:t>
            </a:r>
          </a:p>
          <a:p>
            <a:pPr marL="0" indent="0">
              <a:buNone/>
            </a:pPr>
            <a:r>
              <a:rPr lang="en-IN" sz="2000" dirty="0"/>
              <a:t>&lt;style&gt;</a:t>
            </a:r>
          </a:p>
          <a:p>
            <a:pPr marL="0" indent="0">
              <a:buNone/>
            </a:pPr>
            <a:r>
              <a:rPr lang="en-IN" sz="2000" dirty="0"/>
              <a:t>div {</a:t>
            </a:r>
          </a:p>
          <a:p>
            <a:pPr marL="0" indent="0">
              <a:buNone/>
            </a:pPr>
            <a:r>
              <a:rPr lang="en-IN" sz="2000" dirty="0"/>
              <a:t>  background-color: green;</a:t>
            </a:r>
          </a:p>
          <a:p>
            <a:pPr marL="0" indent="0">
              <a:buNone/>
            </a:pPr>
            <a:r>
              <a:rPr lang="en-IN" sz="2000" dirty="0"/>
              <a:t>  color: white;</a:t>
            </a:r>
          </a:p>
          <a:p>
            <a:pPr marL="0" indent="0">
              <a:buNone/>
            </a:pPr>
            <a:r>
              <a:rPr lang="en-IN" sz="2000" dirty="0"/>
              <a:t>  padding: 25px;</a:t>
            </a:r>
          </a:p>
          <a:p>
            <a:pPr marL="0" indent="0">
              <a:buNone/>
            </a:pPr>
            <a:r>
              <a:rPr lang="en-IN" sz="2000" dirty="0"/>
              <a:t>  text-align: </a:t>
            </a:r>
            <a:r>
              <a:rPr lang="en-IN" sz="2000" dirty="0" err="1"/>
              <a:t>center</a:t>
            </a:r>
            <a:r>
              <a:rPr lang="en-IN" sz="2000" dirty="0"/>
              <a:t>;</a:t>
            </a:r>
          </a:p>
          <a:p>
            <a:pPr marL="0" indent="0">
              <a:buNone/>
            </a:pPr>
            <a:r>
              <a:rPr lang="en-IN" sz="2000" dirty="0"/>
              <a:t>}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r>
              <a:rPr lang="en-IN" sz="2000" dirty="0" err="1"/>
              <a:t>div:hover</a:t>
            </a:r>
            <a:r>
              <a:rPr lang="en-IN" sz="2000" dirty="0"/>
              <a:t> {</a:t>
            </a:r>
          </a:p>
          <a:p>
            <a:pPr marL="0" indent="0">
              <a:buNone/>
            </a:pPr>
            <a:r>
              <a:rPr lang="en-IN" sz="2000" dirty="0"/>
              <a:t>  background-color: blue;</a:t>
            </a:r>
          </a:p>
          <a:p>
            <a:pPr marL="0" indent="0">
              <a:buNone/>
            </a:pPr>
            <a:r>
              <a:rPr lang="en-IN" sz="2000" dirty="0"/>
              <a:t>}</a:t>
            </a:r>
          </a:p>
          <a:p>
            <a:pPr marL="0" indent="0">
              <a:buNone/>
            </a:pPr>
            <a:r>
              <a:rPr lang="en-IN" sz="2000" dirty="0"/>
              <a:t>&lt;/style&gt;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0D010004-95C7-2697-8D27-3A2C90408D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690688"/>
            <a:ext cx="5183188" cy="449897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&lt;/head&gt;</a:t>
            </a:r>
          </a:p>
          <a:p>
            <a:pPr marL="0" indent="0">
              <a:buNone/>
            </a:pPr>
            <a:r>
              <a:rPr lang="en-IN" dirty="0"/>
              <a:t>&lt;body&gt;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&lt;p&gt;Mouse over the div element below to change its background color:&lt;/p&gt;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&lt;div&gt;Mouse Over Me&lt;/div&gt;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&lt;/body&gt;</a:t>
            </a:r>
          </a:p>
          <a:p>
            <a:pPr marL="0" indent="0">
              <a:buNone/>
            </a:pPr>
            <a:r>
              <a:rPr lang="en-IN" dirty="0"/>
              <a:t>&lt;/html&gt;</a:t>
            </a:r>
          </a:p>
          <a:p>
            <a:endParaRPr lang="en-IN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xmlns="" id="{AA3A571A-5649-ADEA-FCD0-7FB5346F3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D827D-3A5E-4197-8547-878A82F055BA}" type="slidenum">
              <a:rPr lang="en-IN" smtClean="0"/>
              <a:pPr/>
              <a:t>39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78472968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3122555-1C35-D9DD-9EC3-0D7A6954B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Book Antiqua" panose="02040602050305030304" pitchFamily="18" charset="0"/>
              </a:rPr>
              <a:t>Multi-Column Properties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2BF7DBA6-D288-B829-613E-185491E93F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65040" y="2505075"/>
            <a:ext cx="6590348" cy="3684588"/>
          </a:xfrm>
        </p:spPr>
        <p:txBody>
          <a:bodyPr>
            <a:normAutofit/>
          </a:bodyPr>
          <a:lstStyle/>
          <a:p>
            <a:r>
              <a:rPr lang="en-US" sz="20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 CSS multi-column layout allows easy definition of multiple columns of text - just like in newspapers</a:t>
            </a:r>
            <a:endParaRPr lang="en-IN" sz="200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xmlns="" id="{6F6D1F40-55FC-6B0D-15EC-C215A669A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D827D-3A5E-4197-8547-878A82F055BA}" type="slidenum">
              <a:rPr lang="en-IN" smtClean="0"/>
              <a:pPr/>
              <a:t>40</a:t>
            </a:fld>
            <a:endParaRPr lang="en-IN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xmlns="" id="{C46D296E-882C-9F53-B25A-ACBCF392CF0B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751840" y="2877062"/>
            <a:ext cx="4206240" cy="2554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Book Antiqua" panose="02040602050305030304" pitchFamily="18" charset="0"/>
              </a:rPr>
              <a:t>column-count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Book Antiqua" panose="0204060205030503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Book Antiqua" panose="02040602050305030304" pitchFamily="18" charset="0"/>
              </a:rPr>
              <a:t>column-gap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Book Antiqua" panose="0204060205030503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Book Antiqua" panose="02040602050305030304" pitchFamily="18" charset="0"/>
              </a:rPr>
              <a:t>column-rule-style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Book Antiqua" panose="0204060205030503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Book Antiqua" panose="02040602050305030304" pitchFamily="18" charset="0"/>
              </a:rPr>
              <a:t>column-rule-width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Book Antiqua" panose="0204060205030503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Book Antiqua" panose="02040602050305030304" pitchFamily="18" charset="0"/>
              </a:rPr>
              <a:t>column-rule-color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Book Antiqua" panose="0204060205030503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Book Antiqua" panose="02040602050305030304" pitchFamily="18" charset="0"/>
              </a:rPr>
              <a:t>column-rule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Book Antiqua" panose="0204060205030503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Book Antiqua" panose="02040602050305030304" pitchFamily="18" charset="0"/>
              </a:rPr>
              <a:t>column-span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Book Antiqua" panose="0204060205030503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Book Antiqua" panose="02040602050305030304" pitchFamily="18" charset="0"/>
              </a:rPr>
              <a:t>column-width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Book Antiqua" panose="0204060205030503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8FE98875-456A-4DBF-400A-17D2D2D2EB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1983" y="3465886"/>
            <a:ext cx="6382097" cy="289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43763149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0B57357-C57F-89FC-BC1D-4763BF321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9988" y="-168275"/>
            <a:ext cx="4252912" cy="1325563"/>
          </a:xfrm>
        </p:spPr>
        <p:txBody>
          <a:bodyPr>
            <a:normAutofit/>
          </a:bodyPr>
          <a:lstStyle/>
          <a:p>
            <a:r>
              <a:rPr lang="en-US" sz="3200" b="1" i="0" dirty="0">
                <a:effectLst/>
                <a:latin typeface="Book Antiqua" panose="02040602050305030304" pitchFamily="18" charset="0"/>
              </a:rPr>
              <a:t>CSS </a:t>
            </a:r>
            <a:r>
              <a:rPr lang="en-US" sz="3200" b="1" i="0" dirty="0" smtClean="0">
                <a:effectLst/>
                <a:latin typeface="Book Antiqua" panose="02040602050305030304" pitchFamily="18" charset="0"/>
              </a:rPr>
              <a:t>Grid/Flex </a:t>
            </a:r>
            <a:r>
              <a:rPr lang="en-US" sz="3200" b="1" i="0" dirty="0">
                <a:effectLst/>
                <a:latin typeface="Book Antiqua" panose="02040602050305030304" pitchFamily="18" charset="0"/>
              </a:rPr>
              <a:t>Layout</a:t>
            </a:r>
            <a:endParaRPr lang="en-IN" sz="3200" b="1" dirty="0">
              <a:latin typeface="Book Antiqua" panose="02040602050305030304" pitchFamily="18" charset="0"/>
            </a:endParaRPr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1886" y="2563813"/>
            <a:ext cx="10002289" cy="2516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145289663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2FD8D1E-5C66-A128-1521-992E0D1A0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0044AC3-61E1-CC8F-24CB-7A6344482F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xmlns="" id="{6A919DAC-8971-2806-265A-300E57B037C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xmlns="" val="1205871169"/>
              </p:ext>
            </p:extLst>
          </p:nvPr>
        </p:nvGraphicFramePr>
        <p:xfrm>
          <a:off x="215520" y="0"/>
          <a:ext cx="5514720" cy="6427782"/>
        </p:xfrm>
        <a:graphic>
          <a:graphicData uri="http://schemas.openxmlformats.org/drawingml/2006/table">
            <a:tbl>
              <a:tblPr/>
              <a:tblGrid>
                <a:gridCol w="1652790">
                  <a:extLst>
                    <a:ext uri="{9D8B030D-6E8A-4147-A177-3AD203B41FA5}">
                      <a16:colId xmlns:a16="http://schemas.microsoft.com/office/drawing/2014/main" xmlns="" val="3621509127"/>
                    </a:ext>
                  </a:extLst>
                </a:gridCol>
                <a:gridCol w="3861930">
                  <a:extLst>
                    <a:ext uri="{9D8B030D-6E8A-4147-A177-3AD203B41FA5}">
                      <a16:colId xmlns:a16="http://schemas.microsoft.com/office/drawing/2014/main" xmlns="" val="2335662482"/>
                    </a:ext>
                  </a:extLst>
                </a:gridCol>
              </a:tblGrid>
              <a:tr h="324806">
                <a:tc>
                  <a:txBody>
                    <a:bodyPr/>
                    <a:lstStyle/>
                    <a:p>
                      <a:pPr algn="l" fontAlgn="t"/>
                      <a:r>
                        <a:rPr lang="en-IN" b="1">
                          <a:effectLst/>
                        </a:rPr>
                        <a:t>Property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b="1" dirty="0">
                          <a:effectLst/>
                        </a:rPr>
                        <a:t>Description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827825507"/>
                  </a:ext>
                </a:extLst>
              </a:tr>
              <a:tr h="842854">
                <a:tc>
                  <a:txBody>
                    <a:bodyPr/>
                    <a:lstStyle/>
                    <a:p>
                      <a:pPr algn="l" fontAlgn="t"/>
                      <a:r>
                        <a:rPr lang="en-IN" sz="1600">
                          <a:effectLst/>
                          <a:hlinkClick r:id="rId2"/>
                        </a:rPr>
                        <a:t>align-content</a:t>
                      </a:r>
                      <a:endParaRPr lang="en-IN" sz="1600">
                        <a:effectLst/>
                      </a:endParaRPr>
                    </a:p>
                  </a:txBody>
                  <a:tcPr marL="61926" marR="30963" marT="30963" marB="30963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effectLst/>
                        </a:rPr>
                        <a:t>Vertically aligns the whole grid inside the container (when total grid size is smaller than container)</a:t>
                      </a:r>
                    </a:p>
                  </a:txBody>
                  <a:tcPr marL="30963" marR="30963" marT="30963" marB="30963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75101510"/>
                  </a:ext>
                </a:extLst>
              </a:tr>
              <a:tr h="583830">
                <a:tc>
                  <a:txBody>
                    <a:bodyPr/>
                    <a:lstStyle/>
                    <a:p>
                      <a:pPr algn="l" fontAlgn="t"/>
                      <a:r>
                        <a:rPr lang="en-IN" sz="1600">
                          <a:effectLst/>
                          <a:hlinkClick r:id="rId3"/>
                        </a:rPr>
                        <a:t>align-items</a:t>
                      </a:r>
                      <a:endParaRPr lang="en-IN" sz="1600">
                        <a:effectLst/>
                      </a:endParaRPr>
                    </a:p>
                  </a:txBody>
                  <a:tcPr marL="61926" marR="30963" marT="30963" marB="30963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effectLst/>
                        </a:rPr>
                        <a:t>Aligns content in a grid item along the column axis</a:t>
                      </a:r>
                    </a:p>
                  </a:txBody>
                  <a:tcPr marL="30963" marR="30963" marT="30963" marB="30963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118123659"/>
                  </a:ext>
                </a:extLst>
              </a:tr>
              <a:tr h="583830">
                <a:tc>
                  <a:txBody>
                    <a:bodyPr/>
                    <a:lstStyle/>
                    <a:p>
                      <a:pPr algn="l" fontAlgn="t"/>
                      <a:r>
                        <a:rPr lang="en-IN" sz="1600">
                          <a:effectLst/>
                          <a:hlinkClick r:id="rId4"/>
                        </a:rPr>
                        <a:t>align-self</a:t>
                      </a:r>
                      <a:endParaRPr lang="en-IN" sz="1600">
                        <a:effectLst/>
                      </a:endParaRPr>
                    </a:p>
                  </a:txBody>
                  <a:tcPr marL="61926" marR="30963" marT="30963" marB="30963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effectLst/>
                        </a:rPr>
                        <a:t>Aligns the content for a specific grid item along the column axis</a:t>
                      </a:r>
                    </a:p>
                  </a:txBody>
                  <a:tcPr marL="30963" marR="30963" marT="30963" marB="30963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738027070"/>
                  </a:ext>
                </a:extLst>
              </a:tr>
              <a:tr h="583830">
                <a:tc>
                  <a:txBody>
                    <a:bodyPr/>
                    <a:lstStyle/>
                    <a:p>
                      <a:pPr algn="l" fontAlgn="t"/>
                      <a:r>
                        <a:rPr lang="en-IN" sz="1600">
                          <a:effectLst/>
                          <a:hlinkClick r:id="rId5"/>
                        </a:rPr>
                        <a:t>display</a:t>
                      </a:r>
                      <a:endParaRPr lang="en-IN" sz="1600">
                        <a:effectLst/>
                      </a:endParaRPr>
                    </a:p>
                  </a:txBody>
                  <a:tcPr marL="61926" marR="30963" marT="30963" marB="30963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effectLst/>
                        </a:rPr>
                        <a:t>Specifies the display behavior (the type of rendering box) of an element</a:t>
                      </a:r>
                    </a:p>
                  </a:txBody>
                  <a:tcPr marL="30963" marR="30963" marT="30963" marB="30963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430683288"/>
                  </a:ext>
                </a:extLst>
              </a:tr>
              <a:tr h="324806">
                <a:tc>
                  <a:txBody>
                    <a:bodyPr/>
                    <a:lstStyle/>
                    <a:p>
                      <a:pPr algn="l" fontAlgn="t"/>
                      <a:r>
                        <a:rPr lang="en-IN" sz="1600">
                          <a:effectLst/>
                          <a:hlinkClick r:id="rId6"/>
                        </a:rPr>
                        <a:t>column-gap</a:t>
                      </a:r>
                      <a:endParaRPr lang="en-IN" sz="1600">
                        <a:effectLst/>
                      </a:endParaRPr>
                    </a:p>
                  </a:txBody>
                  <a:tcPr marL="61926" marR="30963" marT="30963" marB="30963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effectLst/>
                        </a:rPr>
                        <a:t>Specifies the gap between the columns</a:t>
                      </a:r>
                    </a:p>
                  </a:txBody>
                  <a:tcPr marL="30963" marR="30963" marT="30963" marB="30963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700876596"/>
                  </a:ext>
                </a:extLst>
              </a:tr>
              <a:tr h="583830">
                <a:tc>
                  <a:txBody>
                    <a:bodyPr/>
                    <a:lstStyle/>
                    <a:p>
                      <a:pPr algn="l" fontAlgn="t"/>
                      <a:r>
                        <a:rPr lang="en-IN" sz="1600">
                          <a:effectLst/>
                          <a:hlinkClick r:id="rId7"/>
                        </a:rPr>
                        <a:t>gap</a:t>
                      </a:r>
                      <a:endParaRPr lang="en-IN" sz="1600">
                        <a:effectLst/>
                      </a:endParaRPr>
                    </a:p>
                  </a:txBody>
                  <a:tcPr marL="61926" marR="30963" marT="30963" marB="30963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effectLst/>
                        </a:rPr>
                        <a:t>A shorthand property for the </a:t>
                      </a:r>
                      <a:r>
                        <a:rPr lang="en-US" sz="1600" i="1">
                          <a:effectLst/>
                        </a:rPr>
                        <a:t>row-gap</a:t>
                      </a:r>
                      <a:r>
                        <a:rPr lang="en-US" sz="1600">
                          <a:effectLst/>
                        </a:rPr>
                        <a:t> and the </a:t>
                      </a:r>
                      <a:r>
                        <a:rPr lang="en-US" sz="1600" i="1">
                          <a:effectLst/>
                        </a:rPr>
                        <a:t>column-gap</a:t>
                      </a:r>
                      <a:r>
                        <a:rPr lang="en-US" sz="1600">
                          <a:effectLst/>
                        </a:rPr>
                        <a:t> properties</a:t>
                      </a:r>
                    </a:p>
                  </a:txBody>
                  <a:tcPr marL="30963" marR="30963" marT="30963" marB="30963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599421312"/>
                  </a:ext>
                </a:extLst>
              </a:tr>
              <a:tr h="1101878">
                <a:tc>
                  <a:txBody>
                    <a:bodyPr/>
                    <a:lstStyle/>
                    <a:p>
                      <a:pPr algn="l" fontAlgn="t"/>
                      <a:r>
                        <a:rPr lang="en-IN" sz="1600">
                          <a:effectLst/>
                          <a:hlinkClick r:id="rId8"/>
                        </a:rPr>
                        <a:t>grid</a:t>
                      </a:r>
                      <a:endParaRPr lang="en-IN" sz="1600">
                        <a:effectLst/>
                      </a:endParaRPr>
                    </a:p>
                  </a:txBody>
                  <a:tcPr marL="61926" marR="30963" marT="30963" marB="30963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effectLst/>
                        </a:rPr>
                        <a:t>A shorthand property for the </a:t>
                      </a:r>
                      <a:r>
                        <a:rPr lang="en-US" sz="1600" i="1">
                          <a:effectLst/>
                        </a:rPr>
                        <a:t>grid-template-rows, grid-template-columns, grid-template-areas, grid-auto-rows, grid-auto-columns</a:t>
                      </a:r>
                      <a:r>
                        <a:rPr lang="en-US" sz="1600">
                          <a:effectLst/>
                        </a:rPr>
                        <a:t>, and the </a:t>
                      </a:r>
                      <a:r>
                        <a:rPr lang="en-US" sz="1600" i="1">
                          <a:effectLst/>
                        </a:rPr>
                        <a:t>grid-auto-flow</a:t>
                      </a:r>
                      <a:r>
                        <a:rPr lang="en-US" sz="1600">
                          <a:effectLst/>
                        </a:rPr>
                        <a:t> properties</a:t>
                      </a:r>
                    </a:p>
                  </a:txBody>
                  <a:tcPr marL="30963" marR="30963" marT="30963" marB="30963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949486626"/>
                  </a:ext>
                </a:extLst>
              </a:tr>
              <a:tr h="1101878">
                <a:tc>
                  <a:txBody>
                    <a:bodyPr/>
                    <a:lstStyle/>
                    <a:p>
                      <a:pPr algn="l" fontAlgn="t"/>
                      <a:r>
                        <a:rPr lang="en-IN" sz="1600">
                          <a:effectLst/>
                          <a:hlinkClick r:id="rId9"/>
                        </a:rPr>
                        <a:t>grid-area</a:t>
                      </a:r>
                      <a:endParaRPr lang="en-IN" sz="1600">
                        <a:effectLst/>
                      </a:endParaRPr>
                    </a:p>
                  </a:txBody>
                  <a:tcPr marL="61926" marR="30963" marT="30963" marB="30963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effectLst/>
                        </a:rPr>
                        <a:t>Either specifies a name for the grid item, or this property is a shorthand property for the </a:t>
                      </a:r>
                      <a:r>
                        <a:rPr lang="en-US" sz="1600" i="1">
                          <a:effectLst/>
                        </a:rPr>
                        <a:t>grid-row-start</a:t>
                      </a:r>
                      <a:r>
                        <a:rPr lang="en-US" sz="1600">
                          <a:effectLst/>
                        </a:rPr>
                        <a:t>, </a:t>
                      </a:r>
                      <a:r>
                        <a:rPr lang="en-US" sz="1600" i="1">
                          <a:effectLst/>
                        </a:rPr>
                        <a:t>grid-column-start</a:t>
                      </a:r>
                      <a:r>
                        <a:rPr lang="en-US" sz="1600">
                          <a:effectLst/>
                        </a:rPr>
                        <a:t>, </a:t>
                      </a:r>
                      <a:r>
                        <a:rPr lang="en-US" sz="1600" i="1">
                          <a:effectLst/>
                        </a:rPr>
                        <a:t>grid-row-end</a:t>
                      </a:r>
                      <a:r>
                        <a:rPr lang="en-US" sz="1600">
                          <a:effectLst/>
                        </a:rPr>
                        <a:t>, and </a:t>
                      </a:r>
                      <a:r>
                        <a:rPr lang="en-US" sz="1600" i="1">
                          <a:effectLst/>
                        </a:rPr>
                        <a:t>grid-column-end</a:t>
                      </a:r>
                      <a:r>
                        <a:rPr lang="en-US" sz="1600">
                          <a:effectLst/>
                        </a:rPr>
                        <a:t> properties</a:t>
                      </a:r>
                    </a:p>
                  </a:txBody>
                  <a:tcPr marL="30963" marR="30963" marT="30963" marB="30963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618265971"/>
                  </a:ext>
                </a:extLst>
              </a:tr>
              <a:tr h="324806">
                <a:tc>
                  <a:txBody>
                    <a:bodyPr/>
                    <a:lstStyle/>
                    <a:p>
                      <a:pPr algn="l" fontAlgn="t"/>
                      <a:r>
                        <a:rPr lang="en-IN" sz="1600">
                          <a:effectLst/>
                          <a:hlinkClick r:id="rId10"/>
                        </a:rPr>
                        <a:t>grid-auto-columns</a:t>
                      </a:r>
                      <a:endParaRPr lang="en-IN" sz="1600">
                        <a:effectLst/>
                      </a:endParaRPr>
                    </a:p>
                  </a:txBody>
                  <a:tcPr marL="61926" marR="30963" marT="30963" marB="30963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dirty="0">
                          <a:effectLst/>
                        </a:rPr>
                        <a:t>Specifies a default column size</a:t>
                      </a:r>
                    </a:p>
                  </a:txBody>
                  <a:tcPr marL="30963" marR="30963" marT="30963" marB="30963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140226701"/>
                  </a:ext>
                </a:extLst>
              </a:tr>
            </a:tbl>
          </a:graphicData>
        </a:graphic>
      </p:graphicFrame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0F97FBE0-C92B-4485-8553-B9F4F64D35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IN" dirty="0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xmlns="" id="{364FD47E-7F0D-75A6-32AA-202996907D37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xmlns="" val="3984109744"/>
              </p:ext>
            </p:extLst>
          </p:nvPr>
        </p:nvGraphicFramePr>
        <p:xfrm>
          <a:off x="5875654" y="0"/>
          <a:ext cx="5978906" cy="6761634"/>
        </p:xfrm>
        <a:graphic>
          <a:graphicData uri="http://schemas.openxmlformats.org/drawingml/2006/table">
            <a:tbl>
              <a:tblPr/>
              <a:tblGrid>
                <a:gridCol w="1307466">
                  <a:extLst>
                    <a:ext uri="{9D8B030D-6E8A-4147-A177-3AD203B41FA5}">
                      <a16:colId xmlns:a16="http://schemas.microsoft.com/office/drawing/2014/main" xmlns="" val="2503189101"/>
                    </a:ext>
                  </a:extLst>
                </a:gridCol>
                <a:gridCol w="4671440">
                  <a:extLst>
                    <a:ext uri="{9D8B030D-6E8A-4147-A177-3AD203B41FA5}">
                      <a16:colId xmlns:a16="http://schemas.microsoft.com/office/drawing/2014/main" xmlns="" val="492064697"/>
                    </a:ext>
                  </a:extLst>
                </a:gridCol>
              </a:tblGrid>
              <a:tr h="295027"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 dirty="0">
                          <a:effectLst/>
                          <a:hlinkClick r:id="rId11"/>
                        </a:rPr>
                        <a:t>grid-auto-flow</a:t>
                      </a:r>
                      <a:endParaRPr lang="en-IN" sz="1400" dirty="0">
                        <a:effectLst/>
                      </a:endParaRPr>
                    </a:p>
                  </a:txBody>
                  <a:tcPr marL="32392" marR="16196" marT="16196" marB="16196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Specifies how auto-placed items are inserted in the grid</a:t>
                      </a:r>
                    </a:p>
                  </a:txBody>
                  <a:tcPr marL="16196" marR="16196" marT="16196" marB="16196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013552457"/>
                  </a:ext>
                </a:extLst>
              </a:tr>
              <a:tr h="179829"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>
                          <a:effectLst/>
                          <a:hlinkClick r:id="rId12"/>
                        </a:rPr>
                        <a:t>grid-auto-rows</a:t>
                      </a:r>
                      <a:endParaRPr lang="en-IN" sz="1400">
                        <a:effectLst/>
                      </a:endParaRPr>
                    </a:p>
                  </a:txBody>
                  <a:tcPr marL="32392" marR="16196" marT="16196" marB="16196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Specifies a default row size</a:t>
                      </a:r>
                    </a:p>
                  </a:txBody>
                  <a:tcPr marL="16196" marR="16196" marT="16196" marB="16196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195170319"/>
                  </a:ext>
                </a:extLst>
              </a:tr>
              <a:tr h="415720"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>
                          <a:effectLst/>
                          <a:hlinkClick r:id="rId13"/>
                        </a:rPr>
                        <a:t>grid-column</a:t>
                      </a:r>
                      <a:endParaRPr lang="en-IN" sz="1400">
                        <a:effectLst/>
                      </a:endParaRPr>
                    </a:p>
                  </a:txBody>
                  <a:tcPr marL="32392" marR="16196" marT="16196" marB="16196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A shorthand property for the </a:t>
                      </a:r>
                      <a:r>
                        <a:rPr lang="en-US" sz="1400" i="1">
                          <a:effectLst/>
                        </a:rPr>
                        <a:t>grid-column-start</a:t>
                      </a:r>
                      <a:r>
                        <a:rPr lang="en-US" sz="1400">
                          <a:effectLst/>
                        </a:rPr>
                        <a:t> and the </a:t>
                      </a:r>
                      <a:r>
                        <a:rPr lang="en-US" sz="1400" i="1">
                          <a:effectLst/>
                        </a:rPr>
                        <a:t>grid-column-end</a:t>
                      </a:r>
                      <a:r>
                        <a:rPr lang="en-US" sz="1400">
                          <a:effectLst/>
                        </a:rPr>
                        <a:t> properties</a:t>
                      </a:r>
                    </a:p>
                  </a:txBody>
                  <a:tcPr marL="16196" marR="16196" marT="16196" marB="16196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287022606"/>
                  </a:ext>
                </a:extLst>
              </a:tr>
              <a:tr h="295027"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>
                          <a:effectLst/>
                          <a:hlinkClick r:id="rId14"/>
                        </a:rPr>
                        <a:t>grid-column-end</a:t>
                      </a:r>
                      <a:endParaRPr lang="en-IN" sz="1400">
                        <a:effectLst/>
                      </a:endParaRPr>
                    </a:p>
                  </a:txBody>
                  <a:tcPr marL="32392" marR="16196" marT="16196" marB="16196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Specifies where to end the grid item</a:t>
                      </a:r>
                    </a:p>
                  </a:txBody>
                  <a:tcPr marL="16196" marR="16196" marT="16196" marB="16196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804813204"/>
                  </a:ext>
                </a:extLst>
              </a:tr>
              <a:tr h="295027"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>
                          <a:effectLst/>
                          <a:hlinkClick r:id="rId15"/>
                        </a:rPr>
                        <a:t>grid-column-start</a:t>
                      </a:r>
                      <a:endParaRPr lang="en-IN" sz="1400">
                        <a:effectLst/>
                      </a:endParaRPr>
                    </a:p>
                  </a:txBody>
                  <a:tcPr marL="32392" marR="16196" marT="16196" marB="16196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Specifies where to start the grid item</a:t>
                      </a:r>
                    </a:p>
                  </a:txBody>
                  <a:tcPr marL="16196" marR="16196" marT="16196" marB="16196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744778612"/>
                  </a:ext>
                </a:extLst>
              </a:tr>
              <a:tr h="415720"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 dirty="0">
                          <a:effectLst/>
                          <a:hlinkClick r:id="rId16"/>
                        </a:rPr>
                        <a:t>grid-row</a:t>
                      </a:r>
                      <a:endParaRPr lang="en-IN" sz="1400" dirty="0">
                        <a:effectLst/>
                      </a:endParaRPr>
                    </a:p>
                  </a:txBody>
                  <a:tcPr marL="32392" marR="16196" marT="16196" marB="16196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A shorthand property for the </a:t>
                      </a:r>
                      <a:r>
                        <a:rPr lang="en-US" sz="1400" i="1">
                          <a:effectLst/>
                        </a:rPr>
                        <a:t>grid-row-start</a:t>
                      </a:r>
                      <a:r>
                        <a:rPr lang="en-US" sz="1400">
                          <a:effectLst/>
                        </a:rPr>
                        <a:t> and the </a:t>
                      </a:r>
                      <a:r>
                        <a:rPr lang="en-US" sz="1400" i="1">
                          <a:effectLst/>
                        </a:rPr>
                        <a:t>grid-row-end</a:t>
                      </a:r>
                      <a:r>
                        <a:rPr lang="en-US" sz="1400">
                          <a:effectLst/>
                        </a:rPr>
                        <a:t> properties</a:t>
                      </a:r>
                    </a:p>
                  </a:txBody>
                  <a:tcPr marL="16196" marR="16196" marT="16196" marB="16196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13789319"/>
                  </a:ext>
                </a:extLst>
              </a:tr>
              <a:tr h="295027"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>
                          <a:effectLst/>
                          <a:hlinkClick r:id="rId17"/>
                        </a:rPr>
                        <a:t>grid-row-end</a:t>
                      </a:r>
                      <a:endParaRPr lang="en-IN" sz="1400">
                        <a:effectLst/>
                      </a:endParaRPr>
                    </a:p>
                  </a:txBody>
                  <a:tcPr marL="32392" marR="16196" marT="16196" marB="16196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Specifies where to end the grid item</a:t>
                      </a:r>
                    </a:p>
                  </a:txBody>
                  <a:tcPr marL="16196" marR="16196" marT="16196" marB="16196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03931378"/>
                  </a:ext>
                </a:extLst>
              </a:tr>
              <a:tr h="295027"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>
                          <a:effectLst/>
                          <a:hlinkClick r:id="rId18"/>
                        </a:rPr>
                        <a:t>grid-row-start</a:t>
                      </a:r>
                      <a:endParaRPr lang="en-IN" sz="1400">
                        <a:effectLst/>
                      </a:endParaRPr>
                    </a:p>
                  </a:txBody>
                  <a:tcPr marL="32392" marR="16196" marT="16196" marB="16196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Specifies where to start the grid item</a:t>
                      </a:r>
                    </a:p>
                  </a:txBody>
                  <a:tcPr marL="16196" marR="16196" marT="16196" marB="16196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045330385"/>
                  </a:ext>
                </a:extLst>
              </a:tr>
              <a:tr h="536412"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>
                          <a:effectLst/>
                          <a:hlinkClick r:id="rId19"/>
                        </a:rPr>
                        <a:t>grid-template</a:t>
                      </a:r>
                      <a:endParaRPr lang="en-IN" sz="1400">
                        <a:effectLst/>
                      </a:endParaRPr>
                    </a:p>
                  </a:txBody>
                  <a:tcPr marL="32392" marR="16196" marT="16196" marB="16196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A shorthand property for the </a:t>
                      </a:r>
                      <a:r>
                        <a:rPr lang="en-US" sz="1400" i="1">
                          <a:effectLst/>
                        </a:rPr>
                        <a:t>grid-template-rows</a:t>
                      </a:r>
                      <a:r>
                        <a:rPr lang="en-US" sz="1400">
                          <a:effectLst/>
                        </a:rPr>
                        <a:t>, </a:t>
                      </a:r>
                      <a:r>
                        <a:rPr lang="en-US" sz="1400" i="1">
                          <a:effectLst/>
                        </a:rPr>
                        <a:t>grid-template-columns</a:t>
                      </a:r>
                      <a:r>
                        <a:rPr lang="en-US" sz="1400">
                          <a:effectLst/>
                        </a:rPr>
                        <a:t> and </a:t>
                      </a:r>
                      <a:r>
                        <a:rPr lang="en-US" sz="1400" i="1">
                          <a:effectLst/>
                        </a:rPr>
                        <a:t>grid-areas</a:t>
                      </a:r>
                      <a:r>
                        <a:rPr lang="en-US" sz="1400">
                          <a:effectLst/>
                        </a:rPr>
                        <a:t> properties</a:t>
                      </a:r>
                    </a:p>
                  </a:txBody>
                  <a:tcPr marL="16196" marR="16196" marT="16196" marB="16196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996862304"/>
                  </a:ext>
                </a:extLst>
              </a:tr>
              <a:tr h="415720"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>
                          <a:effectLst/>
                          <a:hlinkClick r:id="rId20"/>
                        </a:rPr>
                        <a:t>grid-template-areas</a:t>
                      </a:r>
                      <a:endParaRPr lang="en-IN" sz="1400">
                        <a:effectLst/>
                      </a:endParaRPr>
                    </a:p>
                  </a:txBody>
                  <a:tcPr marL="32392" marR="16196" marT="16196" marB="16196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Specifies how to display columns and rows, using named grid items</a:t>
                      </a:r>
                    </a:p>
                  </a:txBody>
                  <a:tcPr marL="16196" marR="16196" marT="16196" marB="16196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419685040"/>
                  </a:ext>
                </a:extLst>
              </a:tr>
              <a:tr h="415720"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>
                          <a:effectLst/>
                          <a:hlinkClick r:id="rId21"/>
                        </a:rPr>
                        <a:t>grid-template-columns</a:t>
                      </a:r>
                      <a:endParaRPr lang="en-IN" sz="1400">
                        <a:effectLst/>
                      </a:endParaRPr>
                    </a:p>
                  </a:txBody>
                  <a:tcPr marL="32392" marR="16196" marT="16196" marB="16196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Specifies the size of the columns, and how many columns in a grid layout</a:t>
                      </a:r>
                    </a:p>
                  </a:txBody>
                  <a:tcPr marL="16196" marR="16196" marT="16196" marB="16196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902326916"/>
                  </a:ext>
                </a:extLst>
              </a:tr>
              <a:tr h="295027"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>
                          <a:effectLst/>
                          <a:hlinkClick r:id="rId22"/>
                        </a:rPr>
                        <a:t>grid-template-rows</a:t>
                      </a:r>
                      <a:endParaRPr lang="en-IN" sz="1400">
                        <a:effectLst/>
                      </a:endParaRPr>
                    </a:p>
                  </a:txBody>
                  <a:tcPr marL="32392" marR="16196" marT="16196" marB="16196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Specifies the size of the rows in a grid layout</a:t>
                      </a:r>
                    </a:p>
                  </a:txBody>
                  <a:tcPr marL="16196" marR="16196" marT="16196" marB="16196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498063162"/>
                  </a:ext>
                </a:extLst>
              </a:tr>
              <a:tr h="536412"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>
                          <a:effectLst/>
                          <a:hlinkClick r:id="rId23"/>
                        </a:rPr>
                        <a:t>justify-content</a:t>
                      </a:r>
                      <a:endParaRPr lang="en-IN" sz="1400">
                        <a:effectLst/>
                      </a:endParaRPr>
                    </a:p>
                  </a:txBody>
                  <a:tcPr marL="32392" marR="16196" marT="16196" marB="16196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Horizontally aligns the whole grid inside the container (when total grid size is smaller than container)</a:t>
                      </a:r>
                    </a:p>
                  </a:txBody>
                  <a:tcPr marL="16196" marR="16196" marT="16196" marB="16196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071740242"/>
                  </a:ext>
                </a:extLst>
              </a:tr>
              <a:tr h="295027"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>
                          <a:effectLst/>
                          <a:hlinkClick r:id="rId24"/>
                        </a:rPr>
                        <a:t>justify-self</a:t>
                      </a:r>
                      <a:endParaRPr lang="en-IN" sz="1400">
                        <a:effectLst/>
                      </a:endParaRPr>
                    </a:p>
                  </a:txBody>
                  <a:tcPr marL="32392" marR="16196" marT="16196" marB="16196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Aligns the content for a specific grid item along the row axis</a:t>
                      </a:r>
                    </a:p>
                  </a:txBody>
                  <a:tcPr marL="16196" marR="16196" marT="16196" marB="16196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545905532"/>
                  </a:ext>
                </a:extLst>
              </a:tr>
              <a:tr h="415720"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>
                          <a:effectLst/>
                          <a:hlinkClick r:id="rId25"/>
                        </a:rPr>
                        <a:t>place-self</a:t>
                      </a:r>
                      <a:endParaRPr lang="en-IN" sz="1400">
                        <a:effectLst/>
                      </a:endParaRPr>
                    </a:p>
                  </a:txBody>
                  <a:tcPr marL="32392" marR="16196" marT="16196" marB="16196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A shorthand property for the </a:t>
                      </a:r>
                      <a:r>
                        <a:rPr lang="en-US" sz="1400" i="1">
                          <a:effectLst/>
                        </a:rPr>
                        <a:t>align-self</a:t>
                      </a:r>
                      <a:r>
                        <a:rPr lang="en-US" sz="1400">
                          <a:effectLst/>
                        </a:rPr>
                        <a:t> and the </a:t>
                      </a:r>
                      <a:r>
                        <a:rPr lang="en-US" sz="1400" i="1">
                          <a:effectLst/>
                        </a:rPr>
                        <a:t>justify-self</a:t>
                      </a:r>
                      <a:r>
                        <a:rPr lang="en-US" sz="1400">
                          <a:effectLst/>
                        </a:rPr>
                        <a:t> properties</a:t>
                      </a:r>
                    </a:p>
                  </a:txBody>
                  <a:tcPr marL="16196" marR="16196" marT="16196" marB="16196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91719"/>
                  </a:ext>
                </a:extLst>
              </a:tr>
              <a:tr h="415720"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>
                          <a:effectLst/>
                          <a:hlinkClick r:id="rId26"/>
                        </a:rPr>
                        <a:t>place-content</a:t>
                      </a:r>
                      <a:endParaRPr lang="en-IN" sz="1400">
                        <a:effectLst/>
                      </a:endParaRPr>
                    </a:p>
                  </a:txBody>
                  <a:tcPr marL="32392" marR="16196" marT="16196" marB="16196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A shorthand property for the </a:t>
                      </a:r>
                      <a:r>
                        <a:rPr lang="en-US" sz="1400" i="1">
                          <a:effectLst/>
                        </a:rPr>
                        <a:t>align-content</a:t>
                      </a:r>
                      <a:r>
                        <a:rPr lang="en-US" sz="1400">
                          <a:effectLst/>
                        </a:rPr>
                        <a:t> and the </a:t>
                      </a:r>
                      <a:r>
                        <a:rPr lang="en-US" sz="1400" i="1">
                          <a:effectLst/>
                        </a:rPr>
                        <a:t>justify-content</a:t>
                      </a:r>
                      <a:r>
                        <a:rPr lang="en-US" sz="1400">
                          <a:effectLst/>
                        </a:rPr>
                        <a:t> properties</a:t>
                      </a:r>
                    </a:p>
                  </a:txBody>
                  <a:tcPr marL="16196" marR="16196" marT="16196" marB="16196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36585525"/>
                  </a:ext>
                </a:extLst>
              </a:tr>
              <a:tr h="295027"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>
                          <a:effectLst/>
                          <a:hlinkClick r:id="rId27"/>
                        </a:rPr>
                        <a:t>row-gap</a:t>
                      </a:r>
                      <a:endParaRPr lang="en-IN" sz="1400">
                        <a:effectLst/>
                      </a:endParaRPr>
                    </a:p>
                  </a:txBody>
                  <a:tcPr marL="32392" marR="16196" marT="16196" marB="16196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Specifies the gap between the grid rows</a:t>
                      </a:r>
                    </a:p>
                  </a:txBody>
                  <a:tcPr marL="16196" marR="16196" marT="16196" marB="16196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115075508"/>
                  </a:ext>
                </a:extLst>
              </a:tr>
            </a:tbl>
          </a:graphicData>
        </a:graphic>
      </p:graphicFrame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xmlns="" id="{E1216D5C-775D-ACE4-B5F4-0A38611D1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D827D-3A5E-4197-8547-878A82F055BA}" type="slidenum">
              <a:rPr lang="en-IN" smtClean="0"/>
              <a:pPr/>
              <a:t>42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00996559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B4C2EB3-4186-E812-EBEA-99ADE6D27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2688" y="-219075"/>
            <a:ext cx="6894512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Book Antiqua" panose="02040602050305030304" pitchFamily="18" charset="0"/>
              </a:rPr>
              <a:t>Grid-template-columns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9B6BC7FC-651E-1136-97C2-D18E9BFBA73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0" i="0" dirty="0">
                <a:solidFill>
                  <a:srgbClr val="A52A2A"/>
                </a:solidFill>
                <a:effectLst/>
                <a:latin typeface="Times New Roman" pitchFamily="18" charset="0"/>
                <a:cs typeface="Times New Roman" pitchFamily="18" charset="0"/>
              </a:rPr>
              <a:t>.grid-container </a:t>
            </a:r>
            <a:r>
              <a:rPr lang="en-IN" b="0" i="0" dirty="0"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{</a:t>
            </a:r>
            <a:r>
              <a:rPr lang="en-IN" b="0" i="0" dirty="0"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b="0" i="0" dirty="0"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</a:br>
            <a:r>
              <a:rPr lang="en-IN" b="0" i="0" dirty="0"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  <a:t>  display</a:t>
            </a:r>
            <a:r>
              <a:rPr lang="en-IN" b="0" i="0" dirty="0"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IN" b="0" i="0" dirty="0">
                <a:solidFill>
                  <a:srgbClr val="0000CD"/>
                </a:solidFill>
                <a:effectLst/>
                <a:latin typeface="Times New Roman" pitchFamily="18" charset="0"/>
                <a:cs typeface="Times New Roman" pitchFamily="18" charset="0"/>
              </a:rPr>
              <a:t> grid</a:t>
            </a:r>
            <a:r>
              <a:rPr lang="en-IN" b="0" i="0" dirty="0"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;</a:t>
            </a:r>
            <a:r>
              <a:rPr lang="en-IN" b="0" i="0" dirty="0"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b="0" i="0" dirty="0"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</a:br>
            <a:r>
              <a:rPr lang="en-IN" b="0" i="0" dirty="0"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  <a:t>  grid-template-columns</a:t>
            </a:r>
            <a:r>
              <a:rPr lang="en-IN" b="0" i="0" dirty="0"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IN" b="0" i="0" dirty="0">
                <a:solidFill>
                  <a:srgbClr val="0000CD"/>
                </a:solidFill>
                <a:effectLst/>
                <a:latin typeface="Times New Roman" pitchFamily="18" charset="0"/>
                <a:cs typeface="Times New Roman" pitchFamily="18" charset="0"/>
              </a:rPr>
              <a:t> auto </a:t>
            </a:r>
            <a:r>
              <a:rPr lang="en-IN" b="0" i="0" dirty="0" err="1">
                <a:solidFill>
                  <a:srgbClr val="0000CD"/>
                </a:solidFill>
                <a:effectLst/>
                <a:latin typeface="Times New Roman" pitchFamily="18" charset="0"/>
                <a:cs typeface="Times New Roman" pitchFamily="18" charset="0"/>
              </a:rPr>
              <a:t>auto</a:t>
            </a:r>
            <a:r>
              <a:rPr lang="en-IN" b="0" i="0" dirty="0">
                <a:solidFill>
                  <a:srgbClr val="0000CD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b="0" i="0" dirty="0" err="1">
                <a:solidFill>
                  <a:srgbClr val="0000CD"/>
                </a:solidFill>
                <a:effectLst/>
                <a:latin typeface="Times New Roman" pitchFamily="18" charset="0"/>
                <a:cs typeface="Times New Roman" pitchFamily="18" charset="0"/>
              </a:rPr>
              <a:t>auto</a:t>
            </a:r>
            <a:r>
              <a:rPr lang="en-IN" b="0" i="0" dirty="0">
                <a:solidFill>
                  <a:srgbClr val="0000CD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b="0" i="0" dirty="0" err="1">
                <a:solidFill>
                  <a:srgbClr val="0000CD"/>
                </a:solidFill>
                <a:effectLst/>
                <a:latin typeface="Times New Roman" pitchFamily="18" charset="0"/>
                <a:cs typeface="Times New Roman" pitchFamily="18" charset="0"/>
              </a:rPr>
              <a:t>auto</a:t>
            </a:r>
            <a:r>
              <a:rPr lang="en-IN" b="0" i="0" dirty="0"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;</a:t>
            </a:r>
            <a:r>
              <a:rPr lang="en-IN" b="0" i="0" dirty="0"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b="0" i="0" dirty="0"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</a:br>
            <a:r>
              <a:rPr lang="en-IN" b="0" i="0" dirty="0"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}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66623A55-52F0-1AFD-429D-A79FCA907362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0" i="0" dirty="0"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grid-template-columns: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none|auto|max-content|min-content|minmax</a:t>
            </a:r>
            <a:r>
              <a:rPr lang="en-IN" b="0" i="0" dirty="0"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()|</a:t>
            </a:r>
            <a:r>
              <a:rPr lang="en-IN" b="0" i="1" dirty="0" err="1"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length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|</a:t>
            </a:r>
            <a:r>
              <a:rPr lang="en-IN" b="0" i="1" dirty="0" err="1"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percentage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|fit-content</a:t>
            </a:r>
            <a:r>
              <a:rPr lang="en-IN" b="0" i="0" dirty="0"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()|repeat()|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subgrid|initial|inherit</a:t>
            </a:r>
            <a:r>
              <a:rPr lang="en-IN" b="0" i="0" dirty="0"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;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xmlns="" id="{F11A4FBF-942C-155A-4821-2100282C7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D827D-3A5E-4197-8547-878A82F055BA}" type="slidenum">
              <a:rPr lang="en-IN" smtClean="0"/>
              <a:pPr/>
              <a:t>43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90522033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EE23FCD-4F19-93D7-1585-A28294367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IN" sz="4000" b="1" dirty="0">
                <a:latin typeface="Book Antiqua" panose="02040602050305030304" pitchFamily="18" charset="0"/>
                <a:cs typeface="Segoe UI" panose="020B0502040204020203" pitchFamily="34" charset="0"/>
              </a:rPr>
              <a:t>ANIMATION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D0F0E1D-A3BF-2531-645B-B71D9C5DA6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An animation lets an element gradually change from one style to another.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You can change as many CSS properties you want, as many times as you want.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To use CSS animation, you must first specify some keyframes for the animation.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Keyframes hold what styles the element will have at certain times.</a:t>
            </a:r>
          </a:p>
          <a:p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Times New Roman" pitchFamily="18" charset="0"/>
                <a:cs typeface="Times New Roman" pitchFamily="18" charset="0"/>
              </a:rPr>
              <a:t>@keyframes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 rule, the animation will gradually change from the current style to the new style at certain times.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algn="l"/>
            <a:endParaRPr lang="en-US" b="0" i="0" dirty="0">
              <a:solidFill>
                <a:srgbClr val="000000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D827D-3A5E-4197-8547-878A82F055BA}" type="slidenum">
              <a:rPr lang="en-IN" smtClean="0"/>
              <a:pPr/>
              <a:t>44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17573113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56BC7EC-7406-0ADC-E8B0-058DBFC34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effectLst/>
                <a:latin typeface="Book Antiqua" panose="02040602050305030304" pitchFamily="18" charset="0"/>
                <a:cs typeface="Segoe UI" panose="020B0502040204020203" pitchFamily="34" charset="0"/>
              </a:rPr>
              <a:t>CSS Animation Properties</a:t>
            </a:r>
            <a:br>
              <a:rPr kumimoji="0" lang="en-US" altLang="en-US" sz="4000" b="1" i="0" u="none" strike="noStrike" cap="none" normalizeH="0" baseline="0" dirty="0">
                <a:ln>
                  <a:noFill/>
                </a:ln>
                <a:effectLst/>
                <a:latin typeface="Book Antiqua" panose="02040602050305030304" pitchFamily="18" charset="0"/>
                <a:cs typeface="Segoe UI" panose="020B0502040204020203" pitchFamily="34" charset="0"/>
              </a:rPr>
            </a:br>
            <a:endParaRPr lang="en-IN" sz="1800" b="1" dirty="0">
              <a:latin typeface="Book Antiqua" panose="0204060205030503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xmlns="" id="{D8EE0F07-4A69-0DDA-05DE-F75AC2B2EB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2818518258"/>
              </p:ext>
            </p:extLst>
          </p:nvPr>
        </p:nvGraphicFramePr>
        <p:xfrm>
          <a:off x="558800" y="1733989"/>
          <a:ext cx="11511280" cy="4758886"/>
        </p:xfrm>
        <a:graphic>
          <a:graphicData uri="http://schemas.openxmlformats.org/drawingml/2006/table">
            <a:tbl>
              <a:tblPr/>
              <a:tblGrid>
                <a:gridCol w="2860047">
                  <a:extLst>
                    <a:ext uri="{9D8B030D-6E8A-4147-A177-3AD203B41FA5}">
                      <a16:colId xmlns:a16="http://schemas.microsoft.com/office/drawing/2014/main" xmlns="" val="744320751"/>
                    </a:ext>
                  </a:extLst>
                </a:gridCol>
                <a:gridCol w="8651233">
                  <a:extLst>
                    <a:ext uri="{9D8B030D-6E8A-4147-A177-3AD203B41FA5}">
                      <a16:colId xmlns:a16="http://schemas.microsoft.com/office/drawing/2014/main" xmlns="" val="3405622723"/>
                    </a:ext>
                  </a:extLst>
                </a:gridCol>
              </a:tblGrid>
              <a:tr h="242779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1" dirty="0">
                          <a:effectLst/>
                          <a:latin typeface="Book Antiqua" panose="02040602050305030304" pitchFamily="18" charset="0"/>
                        </a:rPr>
                        <a:t>Property</a:t>
                      </a:r>
                    </a:p>
                  </a:txBody>
                  <a:tcPr marL="74701" marR="37351" marT="37351" marB="37351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1" dirty="0">
                          <a:effectLst/>
                          <a:latin typeface="Book Antiqua" panose="02040602050305030304" pitchFamily="18" charset="0"/>
                        </a:rPr>
                        <a:t>Description</a:t>
                      </a:r>
                    </a:p>
                  </a:txBody>
                  <a:tcPr marL="37351" marR="37351" marT="37351" marB="37351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504757641"/>
                  </a:ext>
                </a:extLst>
              </a:tr>
              <a:tr h="242779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dirty="0">
                          <a:effectLst/>
                          <a:latin typeface="Book Antiqua" panose="02040602050305030304" pitchFamily="18" charset="0"/>
                        </a:rPr>
                        <a:t>@keyframes</a:t>
                      </a:r>
                    </a:p>
                  </a:txBody>
                  <a:tcPr marL="74701" marR="37351" marT="37351" marB="37351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dirty="0">
                          <a:effectLst/>
                          <a:latin typeface="Book Antiqua" panose="02040602050305030304" pitchFamily="18" charset="0"/>
                        </a:rPr>
                        <a:t>Specifies the animation code</a:t>
                      </a:r>
                    </a:p>
                  </a:txBody>
                  <a:tcPr marL="37351" marR="37351" marT="37351" marB="37351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15054849"/>
                  </a:ext>
                </a:extLst>
              </a:tr>
              <a:tr h="410856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dirty="0">
                          <a:effectLst/>
                          <a:latin typeface="Book Antiqua" panose="02040602050305030304" pitchFamily="18" charset="0"/>
                        </a:rPr>
                        <a:t>animation</a:t>
                      </a:r>
                    </a:p>
                  </a:txBody>
                  <a:tcPr marL="74701" marR="37351" marT="37351" marB="37351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  <a:latin typeface="Book Antiqua" panose="02040602050305030304" pitchFamily="18" charset="0"/>
                        </a:rPr>
                        <a:t>A shorthand property for setting all the animation properties</a:t>
                      </a:r>
                    </a:p>
                  </a:txBody>
                  <a:tcPr marL="37351" marR="37351" marT="37351" marB="37351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03930130"/>
                  </a:ext>
                </a:extLst>
              </a:tr>
              <a:tr h="242779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dirty="0">
                          <a:effectLst/>
                          <a:latin typeface="Book Antiqua" panose="02040602050305030304" pitchFamily="18" charset="0"/>
                        </a:rPr>
                        <a:t>animation-delay</a:t>
                      </a:r>
                    </a:p>
                  </a:txBody>
                  <a:tcPr marL="74701" marR="37351" marT="37351" marB="37351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  <a:latin typeface="Book Antiqua" panose="02040602050305030304" pitchFamily="18" charset="0"/>
                        </a:rPr>
                        <a:t>Specifies a delay for the start of an animation</a:t>
                      </a:r>
                    </a:p>
                  </a:txBody>
                  <a:tcPr marL="37351" marR="37351" marT="37351" marB="37351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225682777"/>
                  </a:ext>
                </a:extLst>
              </a:tr>
              <a:tr h="578933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dirty="0">
                          <a:effectLst/>
                          <a:latin typeface="Book Antiqua" panose="02040602050305030304" pitchFamily="18" charset="0"/>
                        </a:rPr>
                        <a:t>animation-direction</a:t>
                      </a:r>
                    </a:p>
                  </a:txBody>
                  <a:tcPr marL="74701" marR="37351" marT="37351" marB="37351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  <a:latin typeface="Book Antiqua" panose="02040602050305030304" pitchFamily="18" charset="0"/>
                        </a:rPr>
                        <a:t>Specifies whether an animation should be played forwards, backwards or in alternate cycles</a:t>
                      </a:r>
                    </a:p>
                  </a:txBody>
                  <a:tcPr marL="37351" marR="37351" marT="37351" marB="37351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588409233"/>
                  </a:ext>
                </a:extLst>
              </a:tr>
              <a:tr h="410856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dirty="0">
                          <a:effectLst/>
                          <a:latin typeface="Book Antiqua" panose="02040602050305030304" pitchFamily="18" charset="0"/>
                        </a:rPr>
                        <a:t>animation-duration</a:t>
                      </a:r>
                    </a:p>
                  </a:txBody>
                  <a:tcPr marL="74701" marR="37351" marT="37351" marB="37351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  <a:latin typeface="Book Antiqua" panose="02040602050305030304" pitchFamily="18" charset="0"/>
                        </a:rPr>
                        <a:t>Specifies how long time an animation should take to complete one cycle</a:t>
                      </a:r>
                    </a:p>
                  </a:txBody>
                  <a:tcPr marL="37351" marR="37351" marT="37351" marB="37351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928255096"/>
                  </a:ext>
                </a:extLst>
              </a:tr>
              <a:tr h="578933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dirty="0">
                          <a:effectLst/>
                          <a:latin typeface="Book Antiqua" panose="02040602050305030304" pitchFamily="18" charset="0"/>
                        </a:rPr>
                        <a:t>animation-fill-mode</a:t>
                      </a:r>
                    </a:p>
                  </a:txBody>
                  <a:tcPr marL="74701" marR="37351" marT="37351" marB="37351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  <a:latin typeface="Book Antiqua" panose="02040602050305030304" pitchFamily="18" charset="0"/>
                        </a:rPr>
                        <a:t>Specifies a style for the element when the animation is not playing (before it starts, after it ends, or both)</a:t>
                      </a:r>
                    </a:p>
                  </a:txBody>
                  <a:tcPr marL="37351" marR="37351" marT="37351" marB="37351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037633722"/>
                  </a:ext>
                </a:extLst>
              </a:tr>
              <a:tr h="410856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dirty="0">
                          <a:effectLst/>
                          <a:latin typeface="Book Antiqua" panose="02040602050305030304" pitchFamily="18" charset="0"/>
                        </a:rPr>
                        <a:t>animation-iteration-count</a:t>
                      </a:r>
                    </a:p>
                  </a:txBody>
                  <a:tcPr marL="74701" marR="37351" marT="37351" marB="37351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  <a:latin typeface="Book Antiqua" panose="02040602050305030304" pitchFamily="18" charset="0"/>
                        </a:rPr>
                        <a:t>Specifies the number of times an animation should be played</a:t>
                      </a:r>
                    </a:p>
                  </a:txBody>
                  <a:tcPr marL="37351" marR="37351" marT="37351" marB="37351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182874840"/>
                  </a:ext>
                </a:extLst>
              </a:tr>
              <a:tr h="410856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dirty="0">
                          <a:effectLst/>
                          <a:latin typeface="Book Antiqua" panose="02040602050305030304" pitchFamily="18" charset="0"/>
                        </a:rPr>
                        <a:t>animation-name</a:t>
                      </a:r>
                    </a:p>
                  </a:txBody>
                  <a:tcPr marL="74701" marR="37351" marT="37351" marB="37351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  <a:latin typeface="Book Antiqua" panose="02040602050305030304" pitchFamily="18" charset="0"/>
                        </a:rPr>
                        <a:t>Specifies the name of the @keyframes animation</a:t>
                      </a:r>
                    </a:p>
                  </a:txBody>
                  <a:tcPr marL="37351" marR="37351" marT="37351" marB="37351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658467942"/>
                  </a:ext>
                </a:extLst>
              </a:tr>
              <a:tr h="410856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dirty="0">
                          <a:effectLst/>
                          <a:latin typeface="Book Antiqua" panose="02040602050305030304" pitchFamily="18" charset="0"/>
                        </a:rPr>
                        <a:t>animation-play-state</a:t>
                      </a:r>
                    </a:p>
                  </a:txBody>
                  <a:tcPr marL="74701" marR="37351" marT="37351" marB="37351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  <a:latin typeface="Book Antiqua" panose="02040602050305030304" pitchFamily="18" charset="0"/>
                        </a:rPr>
                        <a:t>Specifies whether the animation is running or paused</a:t>
                      </a:r>
                    </a:p>
                  </a:txBody>
                  <a:tcPr marL="37351" marR="37351" marT="37351" marB="37351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292641"/>
                  </a:ext>
                </a:extLst>
              </a:tr>
              <a:tr h="410856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dirty="0">
                          <a:effectLst/>
                          <a:latin typeface="Book Antiqua" panose="02040602050305030304" pitchFamily="18" charset="0"/>
                        </a:rPr>
                        <a:t>animation-timing-function</a:t>
                      </a:r>
                    </a:p>
                  </a:txBody>
                  <a:tcPr marL="74701" marR="37351" marT="37351" marB="37351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  <a:latin typeface="Book Antiqua" panose="02040602050305030304" pitchFamily="18" charset="0"/>
                        </a:rPr>
                        <a:t>Specifies the speed curve of the animation</a:t>
                      </a:r>
                    </a:p>
                  </a:txBody>
                  <a:tcPr marL="37351" marR="37351" marT="37351" marB="37351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892715014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xmlns="" id="{331702EF-0A66-B013-9207-9885A9C5C2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398"/>
            <a:ext cx="65" cy="4084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65067" rIns="0" bIns="65067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7089F667-5F9D-2084-7EBA-2955C02830CD}"/>
              </a:ext>
            </a:extLst>
          </p:cNvPr>
          <p:cNvSpPr txBox="1"/>
          <p:nvPr/>
        </p:nvSpPr>
        <p:spPr>
          <a:xfrm>
            <a:off x="838200" y="1205052"/>
            <a:ext cx="99212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The following table lists the @keyframes rule and all the CSS animation properties:</a:t>
            </a:r>
            <a:endParaRPr lang="en-IN" sz="2000" dirty="0">
              <a:latin typeface="Book Antiqua" panose="0204060205030503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D827D-3A5E-4197-8547-878A82F055BA}" type="slidenum">
              <a:rPr lang="en-IN" smtClean="0"/>
              <a:pPr/>
              <a:t>45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18835092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E26CD24E-2993-57D7-76B0-C34E89F7A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latin typeface="Book Antiqua" panose="02040602050305030304" pitchFamily="18" charset="0"/>
              </a:rPr>
              <a:t>Animation delay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DF2F63E1-480F-E2ED-E46E-95802F782E3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A52A2A"/>
                </a:solidFill>
                <a:effectLst/>
                <a:latin typeface="Times New Roman" pitchFamily="18" charset="0"/>
                <a:cs typeface="Times New Roman" pitchFamily="18" charset="0"/>
              </a:rPr>
              <a:t>div 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{</a:t>
            </a:r>
            <a:r>
              <a:rPr lang="en-US" b="0" i="0" dirty="0"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b="0" i="0" dirty="0"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  <a:t>  width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b="0" i="0" dirty="0">
                <a:solidFill>
                  <a:srgbClr val="0000CD"/>
                </a:solidFill>
                <a:effectLst/>
                <a:latin typeface="Times New Roman" pitchFamily="18" charset="0"/>
                <a:cs typeface="Times New Roman" pitchFamily="18" charset="0"/>
              </a:rPr>
              <a:t> 100px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;</a:t>
            </a:r>
            <a:r>
              <a:rPr lang="en-US" b="0" i="0" dirty="0"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b="0" i="0" dirty="0"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  <a:t>  height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b="0" i="0" dirty="0">
                <a:solidFill>
                  <a:srgbClr val="0000CD"/>
                </a:solidFill>
                <a:effectLst/>
                <a:latin typeface="Times New Roman" pitchFamily="18" charset="0"/>
                <a:cs typeface="Times New Roman" pitchFamily="18" charset="0"/>
              </a:rPr>
              <a:t> 100px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;</a:t>
            </a:r>
            <a:r>
              <a:rPr lang="en-US" b="0" i="0" dirty="0"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b="0" i="0" dirty="0"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  <a:t>  position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b="0" i="0" dirty="0">
                <a:solidFill>
                  <a:srgbClr val="0000CD"/>
                </a:solidFill>
                <a:effectLst/>
                <a:latin typeface="Times New Roman" pitchFamily="18" charset="0"/>
                <a:cs typeface="Times New Roman" pitchFamily="18" charset="0"/>
              </a:rPr>
              <a:t> relative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;</a:t>
            </a:r>
            <a:r>
              <a:rPr lang="en-US" b="0" i="0" dirty="0"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b="0" i="0" dirty="0"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  <a:t>  background-color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b="0" i="0" dirty="0">
                <a:solidFill>
                  <a:srgbClr val="0000CD"/>
                </a:solidFill>
                <a:effectLst/>
                <a:latin typeface="Times New Roman" pitchFamily="18" charset="0"/>
                <a:cs typeface="Times New Roman" pitchFamily="18" charset="0"/>
              </a:rPr>
              <a:t> red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;</a:t>
            </a:r>
            <a:r>
              <a:rPr lang="en-US" b="0" i="0" dirty="0"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b="0" i="0" dirty="0"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  <a:t>  animation-name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b="0" i="0" dirty="0">
                <a:solidFill>
                  <a:srgbClr val="0000CD"/>
                </a:solidFill>
                <a:effectLst/>
                <a:latin typeface="Times New Roman" pitchFamily="18" charset="0"/>
                <a:cs typeface="Times New Roman" pitchFamily="18" charset="0"/>
              </a:rPr>
              <a:t> example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;</a:t>
            </a:r>
            <a:r>
              <a:rPr lang="en-US" b="0" i="0" dirty="0"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b="0" i="0" dirty="0"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  <a:t>  animation-duration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b="0" i="0" dirty="0">
                <a:solidFill>
                  <a:srgbClr val="0000CD"/>
                </a:solidFill>
                <a:effectLst/>
                <a:latin typeface="Times New Roman" pitchFamily="18" charset="0"/>
                <a:cs typeface="Times New Roman" pitchFamily="18" charset="0"/>
              </a:rPr>
              <a:t> 4s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;</a:t>
            </a:r>
            <a:r>
              <a:rPr lang="en-US" b="0" i="0" dirty="0"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b="0" i="0" dirty="0"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  <a:t>  animation-delay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b="0" i="0" dirty="0">
                <a:solidFill>
                  <a:srgbClr val="0000CD"/>
                </a:solidFill>
                <a:effectLst/>
                <a:latin typeface="Times New Roman" pitchFamily="18" charset="0"/>
                <a:cs typeface="Times New Roman" pitchFamily="18" charset="0"/>
              </a:rPr>
              <a:t> 2s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;</a:t>
            </a:r>
            <a:r>
              <a:rPr lang="en-US" b="0" i="0" dirty="0"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b="0" i="0" dirty="0"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}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xmlns="" id="{49E3D0F4-8430-248D-C78B-B22A73549592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6261100" y="2072381"/>
            <a:ext cx="51943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The 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Times New Roman" pitchFamily="18" charset="0"/>
                <a:cs typeface="Times New Roman" pitchFamily="18" charset="0"/>
              </a:rPr>
              <a:t>animation-delay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 property specifies a delay for the start of an animation.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D827D-3A5E-4197-8547-878A82F055BA}" type="slidenum">
              <a:rPr lang="en-IN" smtClean="0"/>
              <a:pPr/>
              <a:t>46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69013493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CFE08F75-1871-4411-9643-60516B5B5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solidFill>
                  <a:srgbClr val="C00000"/>
                </a:solidFill>
                <a:latin typeface="Book Antiqua" panose="02040602050305030304" pitchFamily="18" charset="0"/>
              </a:rPr>
              <a:t>Animation-iteration-count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CE33464E-B70F-C6CA-3209-FEEB4BB41D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7040" y="1825625"/>
            <a:ext cx="587248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div 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 width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 100px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 height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 100px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 position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 relative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 background-color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 red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 animation-name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 example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 animation-duration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 4s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 animation-iteration-count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 3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dirty="0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xmlns="" id="{C7117509-639F-881E-D372-A17959BE666F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animation-iteration-count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property specifies the number of times an animation should run.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D827D-3A5E-4197-8547-878A82F055BA}" type="slidenum">
              <a:rPr lang="en-IN" smtClean="0"/>
              <a:pPr/>
              <a:t>47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39130215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B8A928C-C3F0-437C-55AF-DA8B348E7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solidFill>
                  <a:srgbClr val="C00000"/>
                </a:solidFill>
                <a:latin typeface="Book Antiqua" panose="02040602050305030304" pitchFamily="18" charset="0"/>
              </a:rPr>
              <a:t>Animation-direction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0B941DB-E114-AF57-80BD-1E27561224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22E0577A-9455-53FA-37F5-8D19576450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AA313A70-0FEF-9496-7892-C50679716E08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/>
          </a:bodyPr>
          <a:lstStyle/>
          <a:p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div 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 width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 100px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 height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 100px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 position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 relative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 background-color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 red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 animation-name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 example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 animation-duration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 4s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 animation-direction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 reverse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xmlns="" id="{141A0E04-121D-E9A8-3875-E712C3A3D597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546538" y="2122448"/>
            <a:ext cx="5549462" cy="39703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The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Book Antiqua" panose="02040602050305030304" pitchFamily="18" charset="0"/>
              </a:rPr>
              <a:t>animation-direction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 property specifies whether an animation should be played forwards, backwards or in alternate cycles.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 Antiqua" panose="0204060205030503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The animation-direction property can have the following values: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 Antiqua" panose="0204060205030503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Book Antiqua" panose="02040602050305030304" pitchFamily="18" charset="0"/>
              </a:rPr>
              <a:t>normal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 - The animation is played as normal (forwards). This is default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Book Antiqua" panose="02040602050305030304" pitchFamily="18" charset="0"/>
              </a:rPr>
              <a:t>reverse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 - The animation is played in reverse direction (backwards)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Book Antiqua" panose="02040602050305030304" pitchFamily="18" charset="0"/>
              </a:rPr>
              <a:t>alternate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- The animation is played forwards first, then backwards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Book Antiqua" panose="02040602050305030304" pitchFamily="18" charset="0"/>
              </a:rPr>
              <a:t>alternate-reverse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 - The animation is played backwards first, then forwards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 Antiqua" panose="02040602050305030304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D827D-3A5E-4197-8547-878A82F055BA}" type="slidenum">
              <a:rPr lang="en-IN" smtClean="0"/>
              <a:pPr/>
              <a:t>48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40988749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80F6D01-CE6D-CB73-34C0-64076683A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C00000"/>
                </a:solidFill>
                <a:latin typeface="Book Antiqua" panose="02040602050305030304" pitchFamily="18" charset="0"/>
              </a:rPr>
              <a:t>SVG-Animation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810A02A3-3CFD-0673-3ABE-8614E6443B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Book Antiqua" panose="02040602050305030304" pitchFamily="18" charset="0"/>
                <a:cs typeface="Segoe UI" panose="020B0502040204020203" pitchFamily="34" charset="0"/>
              </a:rPr>
              <a:t>SVG &lt;animate&gt;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xmlns="" id="{BEAC083C-35F2-F8DB-6C96-580FB1E8E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D827D-3A5E-4197-8547-878A82F055BA}" type="slidenum">
              <a:rPr lang="en-IN" smtClean="0"/>
              <a:pPr/>
              <a:t>49</a:t>
            </a:fld>
            <a:endParaRPr lang="en-IN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xmlns="" id="{9E6272BB-0B23-29D7-2210-AC5BBED99461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839789" y="3050566"/>
            <a:ext cx="5032692" cy="25936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5067" rIns="0" bIns="65067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The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Book Antiqua" panose="02040602050305030304" pitchFamily="18" charset="0"/>
              </a:rPr>
              <a:t>&lt;animate&gt;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 element animates an attribute of an element.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 Antiqua" panose="0204060205030503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The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Book Antiqua" panose="02040602050305030304" pitchFamily="18" charset="0"/>
              </a:rPr>
              <a:t>&lt;animate&gt;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 element should be nested inside the target element.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 Antiqua" panose="0204060205030503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In this example, we create a red circle. We animate the cx attribute from 50 to 90%. This means that the circle will go from left to right: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 Antiqua" panose="02040602050305030304" pitchFamily="18" charset="0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xmlns="" id="{7163D85E-491D-78F0-2639-0D04EF7AD3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xmlns="" id="{E29AEA26-EBAA-6F74-0AB2-0EA0408706FB}"/>
              </a:ext>
            </a:extLst>
          </p:cNvPr>
          <p:cNvSpPr>
            <a:spLocks noGrp="1" noChangeArrowheads="1"/>
          </p:cNvSpPr>
          <p:nvPr>
            <p:ph sz="quarter" idx="4"/>
          </p:nvPr>
        </p:nvSpPr>
        <p:spPr bwMode="auto">
          <a:xfrm>
            <a:off x="6172200" y="3070100"/>
            <a:ext cx="5032692" cy="2554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SVG elements can be animated.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 Antiqua" panose="0204060205030503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In SVG, we have four animation elements which sets or animates SVG graphics: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 Antiqua" panose="0204060205030503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Book Antiqua" panose="02040602050305030304" pitchFamily="18" charset="0"/>
              </a:rPr>
              <a:t>&lt;set&gt;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Book Antiqua" panose="0204060205030503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Book Antiqua" panose="02040602050305030304" pitchFamily="18" charset="0"/>
              </a:rPr>
              <a:t>&lt;animate&gt;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Book Antiqua" panose="0204060205030503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Book Antiqua" panose="02040602050305030304" pitchFamily="18" charset="0"/>
              </a:rPr>
              <a:t>&lt;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Book Antiqua" panose="02040602050305030304" pitchFamily="18" charset="0"/>
              </a:rPr>
              <a:t>animateTransform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Book Antiqua" panose="02040602050305030304" pitchFamily="18" charset="0"/>
              </a:rPr>
              <a:t>&gt;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Book Antiqua" panose="0204060205030503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Book Antiqua" panose="02040602050305030304" pitchFamily="18" charset="0"/>
              </a:rPr>
              <a:t>&lt;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Book Antiqua" panose="02040602050305030304" pitchFamily="18" charset="0"/>
              </a:rPr>
              <a:t>animateMotion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Book Antiqua" panose="02040602050305030304" pitchFamily="18" charset="0"/>
              </a:rPr>
              <a:t>&gt;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Book Antiqua" panose="0204060205030503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99063668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009FA758-98E9-5269-235B-80CFB7BC0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D827D-3A5E-4197-8547-878A82F055BA}" type="slidenum">
              <a:rPr lang="en-IN" smtClean="0"/>
              <a:pPr/>
              <a:t>50</a:t>
            </a:fld>
            <a:endParaRPr lang="en-IN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xmlns="" id="{07BED7B4-9BDF-B2D6-2F2A-6E9A86FD47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274119"/>
            <a:ext cx="8497839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lnSpc>
                <a:spcPct val="100000"/>
              </a:lnSpc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The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Times New Roman" pitchFamily="18" charset="0"/>
                <a:cs typeface="Times New Roman" pitchFamily="18" charset="0"/>
              </a:rPr>
              <a:t>&lt;set&gt;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 element sets the value of an attribute for a specified duration.</a:t>
            </a:r>
          </a:p>
          <a:p>
            <a:pPr marL="0" indent="0">
              <a:lnSpc>
                <a:spcPct val="100000"/>
              </a:lnSpc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The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Times New Roman" pitchFamily="18" charset="0"/>
                <a:cs typeface="Times New Roman" pitchFamily="18" charset="0"/>
              </a:rPr>
              <a:t>&lt;animate&gt;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 element animates an attribute of an element.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ct val="100000"/>
              </a:lnSpc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The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Times New Roman" pitchFamily="18" charset="0"/>
                <a:cs typeface="Times New Roman" pitchFamily="18" charset="0"/>
              </a:rPr>
              <a:t>&lt;animate&gt;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 element should be nested inside the target element.</a:t>
            </a:r>
          </a:p>
          <a:p>
            <a:pPr marL="0" indent="0">
              <a:lnSpc>
                <a:spcPct val="100000"/>
              </a:lnSpc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The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Times New Roman" pitchFamily="18" charset="0"/>
                <a:cs typeface="Times New Roman" pitchFamily="18" charset="0"/>
              </a:rPr>
              <a:t>&lt;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Times New Roman" pitchFamily="18" charset="0"/>
                <a:cs typeface="Times New Roman" pitchFamily="18" charset="0"/>
              </a:rPr>
              <a:t>animateMotion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Times New Roman" pitchFamily="18" charset="0"/>
                <a:cs typeface="Times New Roman" pitchFamily="18" charset="0"/>
              </a:rPr>
              <a:t>&gt;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 element sets how an element moves along a motion path.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ct val="100000"/>
              </a:lnSpc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The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Times New Roman" pitchFamily="18" charset="0"/>
                <a:cs typeface="Times New Roman" pitchFamily="18" charset="0"/>
              </a:rPr>
              <a:t>&lt;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Times New Roman" pitchFamily="18" charset="0"/>
                <a:cs typeface="Times New Roman" pitchFamily="18" charset="0"/>
              </a:rPr>
              <a:t>animateMotion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Times New Roman" pitchFamily="18" charset="0"/>
                <a:cs typeface="Times New Roman" pitchFamily="18" charset="0"/>
              </a:rPr>
              <a:t>&gt;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 element should be nested inside the target element.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ct val="100000"/>
              </a:lnSpc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xmlns="" id="{37052CC2-9014-1A54-6325-84965B1C9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xmlns="" id="{01F07CB6-2CF3-A224-E8D3-7C98558775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xmlns="" id="{AB49B251-45F5-B352-1562-91485AA0E0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1BF26B17-5BD1-DB90-51E1-BC1415A39C60}"/>
              </a:ext>
            </a:extLst>
          </p:cNvPr>
          <p:cNvSpPr txBox="1"/>
          <p:nvPr/>
        </p:nvSpPr>
        <p:spPr>
          <a:xfrm>
            <a:off x="990600" y="3547517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svg</a:t>
            </a:r>
            <a:r>
              <a:rPr lang="en-IN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width</a:t>
            </a: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="200"</a:t>
            </a:r>
            <a:r>
              <a:rPr lang="en-IN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height</a:t>
            </a: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="100"</a:t>
            </a:r>
            <a:r>
              <a:rPr lang="en-IN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xmlns</a:t>
            </a: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="http://www.w3.org/2000/svg"&gt;</a:t>
            </a:r>
            <a:r>
              <a:rPr lang="en-IN" dirty="0"/>
              <a:t/>
            </a:r>
            <a:br>
              <a:rPr lang="en-IN" dirty="0"/>
            </a:b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circle</a:t>
            </a:r>
            <a:r>
              <a:rPr lang="en-IN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cx</a:t>
            </a: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="50"</a:t>
            </a:r>
            <a:r>
              <a:rPr lang="en-IN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cy</a:t>
            </a: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="50"</a:t>
            </a:r>
            <a:r>
              <a:rPr lang="en-IN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r</a:t>
            </a: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="25"</a:t>
            </a:r>
            <a:r>
              <a:rPr lang="en-IN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style</a:t>
            </a: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en-IN" b="0" i="0" dirty="0" err="1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fill:red</a:t>
            </a: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;"&gt;</a:t>
            </a:r>
            <a:r>
              <a:rPr lang="en-IN" dirty="0"/>
              <a:t/>
            </a:r>
            <a:br>
              <a:rPr lang="en-IN" dirty="0"/>
            </a:b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1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1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en-IN" b="1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1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attributeName</a:t>
            </a:r>
            <a:r>
              <a:rPr lang="en-IN" b="1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="r"</a:t>
            </a:r>
            <a:r>
              <a:rPr lang="en-IN" b="1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to</a:t>
            </a:r>
            <a:r>
              <a:rPr lang="en-IN" b="1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="50"</a:t>
            </a:r>
            <a:r>
              <a:rPr lang="en-IN" b="1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begin</a:t>
            </a:r>
            <a:r>
              <a:rPr lang="en-IN" b="1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="3s"</a:t>
            </a:r>
            <a:r>
              <a:rPr lang="en-IN" b="1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/</a:t>
            </a:r>
            <a:r>
              <a:rPr lang="en-IN" b="1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1" dirty="0"/>
              <a:t/>
            </a:r>
            <a:br>
              <a:rPr lang="en-IN" b="1" dirty="0"/>
            </a:br>
            <a:r>
              <a:rPr lang="en-IN" b="1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1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IN" b="1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svg</a:t>
            </a:r>
            <a:r>
              <a:rPr lang="en-IN" b="1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xmlns="" val="425446528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xmlns="" id="{A13ACA57-3695-901D-4EF1-7FD08AAF9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D827D-3A5E-4197-8547-878A82F055BA}" type="slidenum">
              <a:rPr lang="en-IN" smtClean="0"/>
              <a:pPr/>
              <a:t>51</a:t>
            </a:fld>
            <a:endParaRPr lang="en-IN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xmlns="" id="{326E9EDD-6D85-F9A0-E6E8-3EECA7C7F012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839788" y="2777710"/>
            <a:ext cx="4545011" cy="313932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The 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Book Antiqua" panose="02040602050305030304" pitchFamily="18" charset="0"/>
              </a:rPr>
              <a:t>attributeName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 attribute defines which attribute to animate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The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Book Antiqua" panose="02040602050305030304" pitchFamily="18" charset="0"/>
              </a:rPr>
              <a:t>begin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 attribute defines when the animation should start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The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Book Antiqua" panose="02040602050305030304" pitchFamily="18" charset="0"/>
              </a:rPr>
              <a:t>dur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 attribute defines the duration of the animation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The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Book Antiqua" panose="02040602050305030304" pitchFamily="18" charset="0"/>
              </a:rPr>
              <a:t>from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 attribute defines the starting value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The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Book Antiqua" panose="02040602050305030304" pitchFamily="18" charset="0"/>
              </a:rPr>
              <a:t>to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 attribute defines the ending value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The 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Book Antiqua" panose="02040602050305030304" pitchFamily="18" charset="0"/>
              </a:rPr>
              <a:t>repeatCount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 attribute defines how many times the animation should play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xmlns="" id="{68FE4275-B746-79C5-15E0-88170682F635}"/>
              </a:ext>
            </a:extLst>
          </p:cNvPr>
          <p:cNvSpPr txBox="1">
            <a:spLocks/>
          </p:cNvSpPr>
          <p:nvPr/>
        </p:nvSpPr>
        <p:spPr>
          <a:xfrm>
            <a:off x="5588000" y="2176780"/>
            <a:ext cx="6319520" cy="368458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0000CD"/>
                </a:solidFill>
                <a:latin typeface="Book Antiqua" panose="02040602050305030304" pitchFamily="18" charset="0"/>
              </a:rPr>
              <a:t>&lt;</a:t>
            </a:r>
            <a:r>
              <a:rPr lang="en-US" dirty="0" err="1">
                <a:solidFill>
                  <a:srgbClr val="A52A2A"/>
                </a:solidFill>
                <a:latin typeface="Book Antiqua" panose="02040602050305030304" pitchFamily="18" charset="0"/>
              </a:rPr>
              <a:t>svg</a:t>
            </a:r>
            <a:r>
              <a:rPr lang="en-US" dirty="0">
                <a:solidFill>
                  <a:srgbClr val="FF0000"/>
                </a:solidFill>
                <a:latin typeface="Book Antiqua" panose="02040602050305030304" pitchFamily="18" charset="0"/>
              </a:rPr>
              <a:t> width</a:t>
            </a:r>
            <a:r>
              <a:rPr lang="en-US" dirty="0">
                <a:solidFill>
                  <a:srgbClr val="0000CD"/>
                </a:solidFill>
                <a:latin typeface="Book Antiqua" panose="02040602050305030304" pitchFamily="18" charset="0"/>
              </a:rPr>
              <a:t>="100%"</a:t>
            </a:r>
            <a:r>
              <a:rPr lang="en-US" dirty="0">
                <a:solidFill>
                  <a:srgbClr val="FF0000"/>
                </a:solidFill>
                <a:latin typeface="Book Antiqua" panose="02040602050305030304" pitchFamily="18" charset="0"/>
              </a:rPr>
              <a:t> height</a:t>
            </a:r>
            <a:r>
              <a:rPr lang="en-US" dirty="0">
                <a:solidFill>
                  <a:srgbClr val="0000CD"/>
                </a:solidFill>
                <a:latin typeface="Book Antiqua" panose="02040602050305030304" pitchFamily="18" charset="0"/>
              </a:rPr>
              <a:t>="100"</a:t>
            </a:r>
            <a:r>
              <a:rPr lang="en-US" dirty="0">
                <a:solidFill>
                  <a:srgbClr val="FF0000"/>
                </a:solidFill>
                <a:latin typeface="Book Antiqua" panose="02040602050305030304" pitchFamily="18" charset="0"/>
              </a:rPr>
              <a:t> </a:t>
            </a:r>
            <a:r>
              <a:rPr lang="en-US" dirty="0" err="1">
                <a:solidFill>
                  <a:srgbClr val="FF0000"/>
                </a:solidFill>
                <a:latin typeface="Book Antiqua" panose="02040602050305030304" pitchFamily="18" charset="0"/>
              </a:rPr>
              <a:t>xmlns</a:t>
            </a:r>
            <a:r>
              <a:rPr lang="en-US" dirty="0">
                <a:solidFill>
                  <a:srgbClr val="0000CD"/>
                </a:solidFill>
                <a:latin typeface="Book Antiqua" panose="02040602050305030304" pitchFamily="18" charset="0"/>
              </a:rPr>
              <a:t>="http://www.w3.org/2000/svg"&gt;</a:t>
            </a:r>
            <a:r>
              <a:rPr lang="en-US" dirty="0">
                <a:latin typeface="Book Antiqua" panose="02040602050305030304" pitchFamily="18" charset="0"/>
              </a:rPr>
              <a:t/>
            </a:r>
            <a:br>
              <a:rPr lang="en-US" dirty="0">
                <a:latin typeface="Book Antiqua" panose="02040602050305030304" pitchFamily="18" charset="0"/>
              </a:rPr>
            </a:br>
            <a:r>
              <a:rPr lang="en-US" dirty="0">
                <a:solidFill>
                  <a:srgbClr val="000000"/>
                </a:solidFill>
                <a:latin typeface="Book Antiqua" panose="02040602050305030304" pitchFamily="18" charset="0"/>
              </a:rPr>
              <a:t>  </a:t>
            </a:r>
            <a:r>
              <a:rPr lang="en-US" dirty="0">
                <a:solidFill>
                  <a:srgbClr val="0000CD"/>
                </a:solidFill>
                <a:latin typeface="Book Antiqua" panose="02040602050305030304" pitchFamily="18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Book Antiqua" panose="02040602050305030304" pitchFamily="18" charset="0"/>
              </a:rPr>
              <a:t>circle</a:t>
            </a:r>
            <a:r>
              <a:rPr lang="en-US" dirty="0">
                <a:solidFill>
                  <a:srgbClr val="FF0000"/>
                </a:solidFill>
                <a:latin typeface="Book Antiqua" panose="02040602050305030304" pitchFamily="18" charset="0"/>
              </a:rPr>
              <a:t> cx</a:t>
            </a:r>
            <a:r>
              <a:rPr lang="en-US" dirty="0">
                <a:solidFill>
                  <a:srgbClr val="0000CD"/>
                </a:solidFill>
                <a:latin typeface="Book Antiqua" panose="02040602050305030304" pitchFamily="18" charset="0"/>
              </a:rPr>
              <a:t>="50"</a:t>
            </a:r>
            <a:r>
              <a:rPr lang="en-US" dirty="0">
                <a:solidFill>
                  <a:srgbClr val="FF0000"/>
                </a:solidFill>
                <a:latin typeface="Book Antiqua" panose="02040602050305030304" pitchFamily="18" charset="0"/>
              </a:rPr>
              <a:t> cy</a:t>
            </a:r>
            <a:r>
              <a:rPr lang="en-US" dirty="0">
                <a:solidFill>
                  <a:srgbClr val="0000CD"/>
                </a:solidFill>
                <a:latin typeface="Book Antiqua" panose="02040602050305030304" pitchFamily="18" charset="0"/>
              </a:rPr>
              <a:t>="50"</a:t>
            </a:r>
            <a:r>
              <a:rPr lang="en-US" dirty="0">
                <a:solidFill>
                  <a:srgbClr val="FF0000"/>
                </a:solidFill>
                <a:latin typeface="Book Antiqua" panose="02040602050305030304" pitchFamily="18" charset="0"/>
              </a:rPr>
              <a:t> r</a:t>
            </a:r>
            <a:r>
              <a:rPr lang="en-US" dirty="0">
                <a:solidFill>
                  <a:srgbClr val="0000CD"/>
                </a:solidFill>
                <a:latin typeface="Book Antiqua" panose="02040602050305030304" pitchFamily="18" charset="0"/>
              </a:rPr>
              <a:t>="50"</a:t>
            </a:r>
            <a:r>
              <a:rPr lang="en-US" dirty="0">
                <a:solidFill>
                  <a:srgbClr val="FF0000"/>
                </a:solidFill>
                <a:latin typeface="Book Antiqua" panose="02040602050305030304" pitchFamily="18" charset="0"/>
              </a:rPr>
              <a:t> style</a:t>
            </a:r>
            <a:r>
              <a:rPr lang="en-US" dirty="0">
                <a:solidFill>
                  <a:srgbClr val="0000CD"/>
                </a:solidFill>
                <a:latin typeface="Book Antiqua" panose="02040602050305030304" pitchFamily="18" charset="0"/>
              </a:rPr>
              <a:t>="</a:t>
            </a:r>
            <a:r>
              <a:rPr lang="en-US" dirty="0" err="1">
                <a:solidFill>
                  <a:srgbClr val="0000CD"/>
                </a:solidFill>
                <a:latin typeface="Book Antiqua" panose="02040602050305030304" pitchFamily="18" charset="0"/>
              </a:rPr>
              <a:t>fill:red</a:t>
            </a:r>
            <a:r>
              <a:rPr lang="en-US" dirty="0">
                <a:solidFill>
                  <a:srgbClr val="0000CD"/>
                </a:solidFill>
                <a:latin typeface="Book Antiqua" panose="02040602050305030304" pitchFamily="18" charset="0"/>
              </a:rPr>
              <a:t>;"&gt;</a:t>
            </a:r>
            <a:r>
              <a:rPr lang="en-US" dirty="0">
                <a:latin typeface="Book Antiqua" panose="02040602050305030304" pitchFamily="18" charset="0"/>
              </a:rPr>
              <a:t/>
            </a:r>
            <a:br>
              <a:rPr lang="en-US" dirty="0">
                <a:latin typeface="Book Antiqua" panose="02040602050305030304" pitchFamily="18" charset="0"/>
              </a:rPr>
            </a:br>
            <a:r>
              <a:rPr lang="en-US" dirty="0">
                <a:solidFill>
                  <a:srgbClr val="000000"/>
                </a:solidFill>
                <a:latin typeface="Book Antiqua" panose="02040602050305030304" pitchFamily="18" charset="0"/>
              </a:rPr>
              <a:t>    </a:t>
            </a:r>
            <a:r>
              <a:rPr lang="en-US" dirty="0">
                <a:solidFill>
                  <a:srgbClr val="0000CD"/>
                </a:solidFill>
                <a:latin typeface="Book Antiqua" panose="02040602050305030304" pitchFamily="18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Book Antiqua" panose="02040602050305030304" pitchFamily="18" charset="0"/>
              </a:rPr>
              <a:t>animate</a:t>
            </a:r>
            <a:r>
              <a:rPr lang="en-US" dirty="0">
                <a:solidFill>
                  <a:srgbClr val="FF0000"/>
                </a:solidFill>
                <a:latin typeface="Book Antiqua" panose="02040602050305030304" pitchFamily="18" charset="0"/>
              </a:rPr>
              <a:t/>
            </a:r>
            <a:br>
              <a:rPr lang="en-US" dirty="0">
                <a:solidFill>
                  <a:srgbClr val="FF0000"/>
                </a:solidFill>
                <a:latin typeface="Book Antiqua" panose="02040602050305030304" pitchFamily="18" charset="0"/>
              </a:rPr>
            </a:br>
            <a:r>
              <a:rPr lang="en-US" dirty="0">
                <a:solidFill>
                  <a:srgbClr val="FF0000"/>
                </a:solidFill>
                <a:latin typeface="Book Antiqua" panose="02040602050305030304" pitchFamily="18" charset="0"/>
              </a:rPr>
              <a:t>      </a:t>
            </a:r>
            <a:r>
              <a:rPr lang="en-US" dirty="0" err="1">
                <a:solidFill>
                  <a:srgbClr val="FF0000"/>
                </a:solidFill>
                <a:latin typeface="Book Antiqua" panose="02040602050305030304" pitchFamily="18" charset="0"/>
              </a:rPr>
              <a:t>attributeName</a:t>
            </a:r>
            <a:r>
              <a:rPr lang="en-US" dirty="0">
                <a:solidFill>
                  <a:srgbClr val="0000CD"/>
                </a:solidFill>
                <a:latin typeface="Book Antiqua" panose="02040602050305030304" pitchFamily="18" charset="0"/>
              </a:rPr>
              <a:t>="cx"</a:t>
            </a:r>
            <a:r>
              <a:rPr lang="en-US" dirty="0">
                <a:solidFill>
                  <a:srgbClr val="FF0000"/>
                </a:solidFill>
                <a:latin typeface="Book Antiqua" panose="02040602050305030304" pitchFamily="18" charset="0"/>
              </a:rPr>
              <a:t/>
            </a:r>
            <a:br>
              <a:rPr lang="en-US" dirty="0">
                <a:solidFill>
                  <a:srgbClr val="FF0000"/>
                </a:solidFill>
                <a:latin typeface="Book Antiqua" panose="02040602050305030304" pitchFamily="18" charset="0"/>
              </a:rPr>
            </a:br>
            <a:r>
              <a:rPr lang="en-US" dirty="0">
                <a:solidFill>
                  <a:srgbClr val="FF0000"/>
                </a:solidFill>
                <a:latin typeface="Book Antiqua" panose="02040602050305030304" pitchFamily="18" charset="0"/>
              </a:rPr>
              <a:t>      begin</a:t>
            </a:r>
            <a:r>
              <a:rPr lang="en-US" dirty="0">
                <a:solidFill>
                  <a:srgbClr val="0000CD"/>
                </a:solidFill>
                <a:latin typeface="Book Antiqua" panose="02040602050305030304" pitchFamily="18" charset="0"/>
              </a:rPr>
              <a:t>="0s"</a:t>
            </a:r>
            <a:r>
              <a:rPr lang="en-US" dirty="0">
                <a:solidFill>
                  <a:srgbClr val="FF0000"/>
                </a:solidFill>
                <a:latin typeface="Book Antiqua" panose="02040602050305030304" pitchFamily="18" charset="0"/>
              </a:rPr>
              <a:t/>
            </a:r>
            <a:br>
              <a:rPr lang="en-US" dirty="0">
                <a:solidFill>
                  <a:srgbClr val="FF0000"/>
                </a:solidFill>
                <a:latin typeface="Book Antiqua" panose="02040602050305030304" pitchFamily="18" charset="0"/>
              </a:rPr>
            </a:br>
            <a:r>
              <a:rPr lang="en-US" dirty="0">
                <a:solidFill>
                  <a:srgbClr val="FF0000"/>
                </a:solidFill>
                <a:latin typeface="Book Antiqua" panose="02040602050305030304" pitchFamily="18" charset="0"/>
              </a:rPr>
              <a:t>      dur</a:t>
            </a:r>
            <a:r>
              <a:rPr lang="en-US" dirty="0">
                <a:solidFill>
                  <a:srgbClr val="0000CD"/>
                </a:solidFill>
                <a:latin typeface="Book Antiqua" panose="02040602050305030304" pitchFamily="18" charset="0"/>
              </a:rPr>
              <a:t>="8s"</a:t>
            </a:r>
            <a:r>
              <a:rPr lang="en-US" dirty="0">
                <a:solidFill>
                  <a:srgbClr val="FF0000"/>
                </a:solidFill>
                <a:latin typeface="Book Antiqua" panose="02040602050305030304" pitchFamily="18" charset="0"/>
              </a:rPr>
              <a:t/>
            </a:r>
            <a:br>
              <a:rPr lang="en-US" dirty="0">
                <a:solidFill>
                  <a:srgbClr val="FF0000"/>
                </a:solidFill>
                <a:latin typeface="Book Antiqua" panose="02040602050305030304" pitchFamily="18" charset="0"/>
              </a:rPr>
            </a:br>
            <a:r>
              <a:rPr lang="en-US" dirty="0">
                <a:solidFill>
                  <a:srgbClr val="FF0000"/>
                </a:solidFill>
                <a:latin typeface="Book Antiqua" panose="02040602050305030304" pitchFamily="18" charset="0"/>
              </a:rPr>
              <a:t>      from</a:t>
            </a:r>
            <a:r>
              <a:rPr lang="en-US" dirty="0">
                <a:solidFill>
                  <a:srgbClr val="0000CD"/>
                </a:solidFill>
                <a:latin typeface="Book Antiqua" panose="02040602050305030304" pitchFamily="18" charset="0"/>
              </a:rPr>
              <a:t>="50"</a:t>
            </a:r>
            <a:r>
              <a:rPr lang="en-US" dirty="0">
                <a:solidFill>
                  <a:srgbClr val="FF0000"/>
                </a:solidFill>
                <a:latin typeface="Book Antiqua" panose="02040602050305030304" pitchFamily="18" charset="0"/>
              </a:rPr>
              <a:t/>
            </a:r>
            <a:br>
              <a:rPr lang="en-US" dirty="0">
                <a:solidFill>
                  <a:srgbClr val="FF0000"/>
                </a:solidFill>
                <a:latin typeface="Book Antiqua" panose="02040602050305030304" pitchFamily="18" charset="0"/>
              </a:rPr>
            </a:br>
            <a:r>
              <a:rPr lang="en-US" dirty="0">
                <a:solidFill>
                  <a:srgbClr val="FF0000"/>
                </a:solidFill>
                <a:latin typeface="Book Antiqua" panose="02040602050305030304" pitchFamily="18" charset="0"/>
              </a:rPr>
              <a:t>      to</a:t>
            </a:r>
            <a:r>
              <a:rPr lang="en-US" dirty="0">
                <a:solidFill>
                  <a:srgbClr val="0000CD"/>
                </a:solidFill>
                <a:latin typeface="Book Antiqua" panose="02040602050305030304" pitchFamily="18" charset="0"/>
              </a:rPr>
              <a:t>="90%"</a:t>
            </a:r>
            <a:r>
              <a:rPr lang="en-US" dirty="0">
                <a:solidFill>
                  <a:srgbClr val="FF0000"/>
                </a:solidFill>
                <a:latin typeface="Book Antiqua" panose="02040602050305030304" pitchFamily="18" charset="0"/>
              </a:rPr>
              <a:t/>
            </a:r>
            <a:br>
              <a:rPr lang="en-US" dirty="0">
                <a:solidFill>
                  <a:srgbClr val="FF0000"/>
                </a:solidFill>
                <a:latin typeface="Book Antiqua" panose="02040602050305030304" pitchFamily="18" charset="0"/>
              </a:rPr>
            </a:br>
            <a:r>
              <a:rPr lang="en-US" dirty="0">
                <a:solidFill>
                  <a:srgbClr val="FF0000"/>
                </a:solidFill>
                <a:latin typeface="Book Antiqua" panose="02040602050305030304" pitchFamily="18" charset="0"/>
              </a:rPr>
              <a:t>      </a:t>
            </a:r>
            <a:r>
              <a:rPr lang="en-US" b="1" dirty="0" err="1">
                <a:solidFill>
                  <a:srgbClr val="FF0000"/>
                </a:solidFill>
                <a:latin typeface="Book Antiqua" panose="02040602050305030304" pitchFamily="18" charset="0"/>
              </a:rPr>
              <a:t>repeatCount</a:t>
            </a:r>
            <a:r>
              <a:rPr lang="en-US" b="1" dirty="0">
                <a:solidFill>
                  <a:srgbClr val="0000CD"/>
                </a:solidFill>
                <a:latin typeface="Book Antiqua" panose="02040602050305030304" pitchFamily="18" charset="0"/>
              </a:rPr>
              <a:t>="indefinite"</a:t>
            </a:r>
            <a:r>
              <a:rPr lang="en-US" b="1" dirty="0">
                <a:solidFill>
                  <a:srgbClr val="FF0000"/>
                </a:solidFill>
                <a:latin typeface="Book Antiqua" panose="02040602050305030304" pitchFamily="18" charset="0"/>
              </a:rPr>
              <a:t> /</a:t>
            </a:r>
            <a:r>
              <a:rPr lang="en-US" b="1" dirty="0">
                <a:solidFill>
                  <a:srgbClr val="0000CD"/>
                </a:solidFill>
                <a:latin typeface="Book Antiqua" panose="02040602050305030304" pitchFamily="18" charset="0"/>
              </a:rPr>
              <a:t>&gt;</a:t>
            </a:r>
            <a:r>
              <a:rPr lang="en-US" dirty="0">
                <a:latin typeface="Book Antiqua" panose="02040602050305030304" pitchFamily="18" charset="0"/>
              </a:rPr>
              <a:t/>
            </a:r>
            <a:br>
              <a:rPr lang="en-US" dirty="0">
                <a:latin typeface="Book Antiqua" panose="02040602050305030304" pitchFamily="18" charset="0"/>
              </a:rPr>
            </a:br>
            <a:r>
              <a:rPr lang="en-US" dirty="0">
                <a:solidFill>
                  <a:srgbClr val="000000"/>
                </a:solidFill>
                <a:latin typeface="Book Antiqua" panose="02040602050305030304" pitchFamily="18" charset="0"/>
              </a:rPr>
              <a:t>  </a:t>
            </a:r>
            <a:r>
              <a:rPr lang="en-US" dirty="0">
                <a:solidFill>
                  <a:srgbClr val="0000CD"/>
                </a:solidFill>
                <a:latin typeface="Book Antiqua" panose="02040602050305030304" pitchFamily="18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Book Antiqua" panose="02040602050305030304" pitchFamily="18" charset="0"/>
              </a:rPr>
              <a:t>/circle</a:t>
            </a:r>
            <a:r>
              <a:rPr lang="en-US" dirty="0">
                <a:solidFill>
                  <a:srgbClr val="0000CD"/>
                </a:solidFill>
                <a:latin typeface="Book Antiqua" panose="02040602050305030304" pitchFamily="18" charset="0"/>
              </a:rPr>
              <a:t>&gt;</a:t>
            </a:r>
            <a:r>
              <a:rPr lang="en-US" dirty="0">
                <a:latin typeface="Book Antiqua" panose="02040602050305030304" pitchFamily="18" charset="0"/>
              </a:rPr>
              <a:t/>
            </a:r>
            <a:br>
              <a:rPr lang="en-US" dirty="0">
                <a:latin typeface="Book Antiqua" panose="02040602050305030304" pitchFamily="18" charset="0"/>
              </a:rPr>
            </a:br>
            <a:r>
              <a:rPr lang="en-US" dirty="0">
                <a:solidFill>
                  <a:srgbClr val="0000CD"/>
                </a:solidFill>
                <a:latin typeface="Book Antiqua" panose="02040602050305030304" pitchFamily="18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Book Antiqua" panose="02040602050305030304" pitchFamily="18" charset="0"/>
              </a:rPr>
              <a:t>/</a:t>
            </a:r>
            <a:r>
              <a:rPr lang="en-US" dirty="0" err="1">
                <a:solidFill>
                  <a:srgbClr val="A52A2A"/>
                </a:solidFill>
                <a:latin typeface="Book Antiqua" panose="02040602050305030304" pitchFamily="18" charset="0"/>
              </a:rPr>
              <a:t>svg</a:t>
            </a:r>
            <a:r>
              <a:rPr lang="en-US" dirty="0">
                <a:solidFill>
                  <a:srgbClr val="0000CD"/>
                </a:solidFill>
                <a:latin typeface="Book Antiqua" panose="02040602050305030304" pitchFamily="18" charset="0"/>
              </a:rPr>
              <a:t>&gt;</a:t>
            </a:r>
            <a:endParaRPr lang="en-IN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70387283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378ECECF-35F2-D72F-B469-6C94089EAD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svg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width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="100%"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height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="100"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xmlns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="http://www.w3.org/2000/svg"&gt;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circle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cx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="50"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cy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="50"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r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="50"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style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en-US" b="0" i="0" dirty="0" err="1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fill:red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;"&gt;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animate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     </a:t>
            </a:r>
            <a:r>
              <a:rPr lang="en-US" b="0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attributeName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="cx"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     begin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="0s"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     dur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="8s"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     from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="50"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     to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="90%"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     fill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="freeze"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/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/circle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svg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xmlns="" id="{D1C1F499-3CFD-1B4A-E97E-4844F5527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D827D-3A5E-4197-8547-878A82F055BA}" type="slidenum">
              <a:rPr lang="en-IN" smtClean="0"/>
              <a:pPr/>
              <a:t>52</a:t>
            </a:fld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0609351-B099-F3CB-0B22-15E902B66131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838200" y="615950"/>
            <a:ext cx="5157788" cy="823912"/>
          </a:xfrm>
        </p:spPr>
        <p:txBody>
          <a:bodyPr/>
          <a:lstStyle/>
          <a:p>
            <a:r>
              <a:rPr lang="en-IN" dirty="0">
                <a:solidFill>
                  <a:srgbClr val="C00000"/>
                </a:solidFill>
                <a:latin typeface="Book Antiqua" panose="02040602050305030304" pitchFamily="18" charset="0"/>
              </a:rPr>
              <a:t>To freeze</a:t>
            </a:r>
          </a:p>
        </p:txBody>
      </p:sp>
    </p:spTree>
    <p:extLst>
      <p:ext uri="{BB962C8B-B14F-4D97-AF65-F5344CB8AC3E}">
        <p14:creationId xmlns:p14="http://schemas.microsoft.com/office/powerpoint/2010/main" xmlns="" val="328904214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1AF54F4-8B7B-E9B4-9727-A5A74FB70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C00000"/>
                </a:solidFill>
                <a:latin typeface="Book Antiqua" panose="02040602050305030304" pitchFamily="18" charset="0"/>
              </a:rPr>
              <a:t>Animation Transform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54AD823-D295-45CD-8D26-6400F429C0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0915E1FA-6336-DBAB-77CD-F1918D0A1AB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 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animateTransform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element animates the 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transform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attribute on the target element.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 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animateTransform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element should be nested inside the target element.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D6389183-BA51-31E4-D05D-D106F4851B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D6AD022B-6DBB-30F4-9A38-8853DBD92787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svg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width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="200"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height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="180"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xmlns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="http://www.w3.org/2000/svg"&gt;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rect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x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="30"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y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="30"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height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="110"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width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="110"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style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en-US" b="0" i="0" dirty="0" err="1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stroke:green;fill:red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"&gt;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animateTransform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     </a:t>
            </a:r>
            <a:r>
              <a:rPr lang="en-US" b="0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attributeName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="transform"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     begin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="0s"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     dur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="10s"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     type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="rotate"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     from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="0 85 85"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     to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="360 85 85"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     </a:t>
            </a:r>
            <a:r>
              <a:rPr lang="en-US" b="0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repeatCount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="indefinite"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/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rect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svg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xmlns="" id="{585ED4A7-2DAD-7E4F-A06B-3030E51E5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D827D-3A5E-4197-8547-878A82F055BA}" type="slidenum">
              <a:rPr lang="en-IN" smtClean="0"/>
              <a:pPr/>
              <a:t>53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6194909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5688CF9-69C7-9EBA-60D8-0978EC4CC5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83215"/>
            <a:ext cx="5157787" cy="823912"/>
          </a:xfrm>
        </p:spPr>
        <p:txBody>
          <a:bodyPr>
            <a:normAutofit/>
          </a:bodyPr>
          <a:lstStyle/>
          <a:p>
            <a:r>
              <a:rPr lang="en-IN" sz="3200" dirty="0">
                <a:solidFill>
                  <a:srgbClr val="C00000"/>
                </a:solidFill>
                <a:latin typeface="Book Antiqua" panose="02040602050305030304" pitchFamily="18" charset="0"/>
              </a:rPr>
              <a:t>Animate Motion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D8E24013-0FCD-366C-16B6-66BF657CF5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842000" y="1869440"/>
            <a:ext cx="5513388" cy="432022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b="0" i="0" dirty="0">
                <a:solidFill>
                  <a:srgbClr val="0000CD"/>
                </a:solidFill>
                <a:effectLst/>
                <a:latin typeface="Book Antiqua" panose="02040602050305030304" pitchFamily="18" charset="0"/>
              </a:rPr>
              <a:t>&lt;</a:t>
            </a:r>
            <a:r>
              <a:rPr lang="en-IN" b="0" i="0" dirty="0" err="1">
                <a:solidFill>
                  <a:srgbClr val="A52A2A"/>
                </a:solidFill>
                <a:effectLst/>
                <a:latin typeface="Book Antiqua" panose="02040602050305030304" pitchFamily="18" charset="0"/>
              </a:rPr>
              <a:t>svg</a:t>
            </a:r>
            <a:r>
              <a:rPr lang="en-IN" b="0" i="0" dirty="0">
                <a:solidFill>
                  <a:srgbClr val="FF0000"/>
                </a:solidFill>
                <a:effectLst/>
                <a:latin typeface="Book Antiqua" panose="02040602050305030304" pitchFamily="18" charset="0"/>
              </a:rPr>
              <a:t> width</a:t>
            </a:r>
            <a:r>
              <a:rPr lang="en-IN" b="0" i="0" dirty="0">
                <a:solidFill>
                  <a:srgbClr val="0000CD"/>
                </a:solidFill>
                <a:effectLst/>
                <a:latin typeface="Book Antiqua" panose="02040602050305030304" pitchFamily="18" charset="0"/>
              </a:rPr>
              <a:t>="100%"</a:t>
            </a:r>
            <a:r>
              <a:rPr lang="en-IN" b="0" i="0" dirty="0">
                <a:solidFill>
                  <a:srgbClr val="FF0000"/>
                </a:solidFill>
                <a:effectLst/>
                <a:latin typeface="Book Antiqua" panose="02040602050305030304" pitchFamily="18" charset="0"/>
              </a:rPr>
              <a:t> height</a:t>
            </a:r>
            <a:r>
              <a:rPr lang="en-IN" b="0" i="0" dirty="0">
                <a:solidFill>
                  <a:srgbClr val="0000CD"/>
                </a:solidFill>
                <a:effectLst/>
                <a:latin typeface="Book Antiqua" panose="02040602050305030304" pitchFamily="18" charset="0"/>
              </a:rPr>
              <a:t>="150"</a:t>
            </a:r>
            <a:r>
              <a:rPr lang="en-IN" b="0" i="0" dirty="0">
                <a:solidFill>
                  <a:srgbClr val="FF0000"/>
                </a:solidFill>
                <a:effectLst/>
                <a:latin typeface="Book Antiqua" panose="02040602050305030304" pitchFamily="18" charset="0"/>
              </a:rPr>
              <a:t> </a:t>
            </a:r>
            <a:r>
              <a:rPr lang="en-IN" b="0" i="0" dirty="0" err="1">
                <a:solidFill>
                  <a:srgbClr val="FF0000"/>
                </a:solidFill>
                <a:effectLst/>
                <a:latin typeface="Book Antiqua" panose="02040602050305030304" pitchFamily="18" charset="0"/>
              </a:rPr>
              <a:t>xmlns</a:t>
            </a:r>
            <a:r>
              <a:rPr lang="en-IN" b="0" i="0" dirty="0">
                <a:solidFill>
                  <a:srgbClr val="0000CD"/>
                </a:solidFill>
                <a:effectLst/>
                <a:latin typeface="Book Antiqua" panose="02040602050305030304" pitchFamily="18" charset="0"/>
              </a:rPr>
              <a:t>="http://www.w3.org/2000/svg"&gt;</a:t>
            </a:r>
            <a:r>
              <a:rPr lang="en-IN" dirty="0">
                <a:latin typeface="Book Antiqua" panose="02040602050305030304" pitchFamily="18" charset="0"/>
              </a:rPr>
              <a:t/>
            </a:r>
            <a:br>
              <a:rPr lang="en-IN" dirty="0">
                <a:latin typeface="Book Antiqua" panose="02040602050305030304" pitchFamily="18" charset="0"/>
              </a:rPr>
            </a:br>
            <a:r>
              <a:rPr lang="en-IN" b="0" i="0" dirty="0"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  </a:t>
            </a:r>
            <a:r>
              <a:rPr lang="en-IN" b="0" i="0" dirty="0">
                <a:solidFill>
                  <a:srgbClr val="0000CD"/>
                </a:solidFill>
                <a:effectLst/>
                <a:latin typeface="Book Antiqua" panose="02040602050305030304" pitchFamily="18" charset="0"/>
              </a:rPr>
              <a:t>&lt;</a:t>
            </a:r>
            <a:r>
              <a:rPr lang="en-IN" b="0" i="0" dirty="0" err="1">
                <a:solidFill>
                  <a:srgbClr val="A52A2A"/>
                </a:solidFill>
                <a:effectLst/>
                <a:latin typeface="Book Antiqua" panose="02040602050305030304" pitchFamily="18" charset="0"/>
              </a:rPr>
              <a:t>rect</a:t>
            </a:r>
            <a:r>
              <a:rPr lang="en-IN" b="0" i="0" dirty="0">
                <a:solidFill>
                  <a:srgbClr val="FF0000"/>
                </a:solidFill>
                <a:effectLst/>
                <a:latin typeface="Book Antiqua" panose="02040602050305030304" pitchFamily="18" charset="0"/>
              </a:rPr>
              <a:t> x</a:t>
            </a:r>
            <a:r>
              <a:rPr lang="en-IN" b="0" i="0" dirty="0">
                <a:solidFill>
                  <a:srgbClr val="0000CD"/>
                </a:solidFill>
                <a:effectLst/>
                <a:latin typeface="Book Antiqua" panose="02040602050305030304" pitchFamily="18" charset="0"/>
              </a:rPr>
              <a:t>="45"</a:t>
            </a:r>
            <a:r>
              <a:rPr lang="en-IN" b="0" i="0" dirty="0">
                <a:solidFill>
                  <a:srgbClr val="FF0000"/>
                </a:solidFill>
                <a:effectLst/>
                <a:latin typeface="Book Antiqua" panose="02040602050305030304" pitchFamily="18" charset="0"/>
              </a:rPr>
              <a:t> y</a:t>
            </a:r>
            <a:r>
              <a:rPr lang="en-IN" b="0" i="0" dirty="0">
                <a:solidFill>
                  <a:srgbClr val="0000CD"/>
                </a:solidFill>
                <a:effectLst/>
                <a:latin typeface="Book Antiqua" panose="02040602050305030304" pitchFamily="18" charset="0"/>
              </a:rPr>
              <a:t>="18"</a:t>
            </a:r>
            <a:r>
              <a:rPr lang="en-IN" b="0" i="0" dirty="0">
                <a:solidFill>
                  <a:srgbClr val="FF0000"/>
                </a:solidFill>
                <a:effectLst/>
                <a:latin typeface="Book Antiqua" panose="02040602050305030304" pitchFamily="18" charset="0"/>
              </a:rPr>
              <a:t> width</a:t>
            </a:r>
            <a:r>
              <a:rPr lang="en-IN" b="0" i="0" dirty="0">
                <a:solidFill>
                  <a:srgbClr val="0000CD"/>
                </a:solidFill>
                <a:effectLst/>
                <a:latin typeface="Book Antiqua" panose="02040602050305030304" pitchFamily="18" charset="0"/>
              </a:rPr>
              <a:t>="155"</a:t>
            </a:r>
            <a:r>
              <a:rPr lang="en-IN" b="0" i="0" dirty="0">
                <a:solidFill>
                  <a:srgbClr val="FF0000"/>
                </a:solidFill>
                <a:effectLst/>
                <a:latin typeface="Book Antiqua" panose="02040602050305030304" pitchFamily="18" charset="0"/>
              </a:rPr>
              <a:t> height</a:t>
            </a:r>
            <a:r>
              <a:rPr lang="en-IN" b="0" i="0" dirty="0">
                <a:solidFill>
                  <a:srgbClr val="0000CD"/>
                </a:solidFill>
                <a:effectLst/>
                <a:latin typeface="Book Antiqua" panose="02040602050305030304" pitchFamily="18" charset="0"/>
              </a:rPr>
              <a:t>="45"</a:t>
            </a:r>
            <a:r>
              <a:rPr lang="en-IN" b="0" i="0" dirty="0">
                <a:solidFill>
                  <a:srgbClr val="FF0000"/>
                </a:solidFill>
                <a:effectLst/>
                <a:latin typeface="Book Antiqua" panose="02040602050305030304" pitchFamily="18" charset="0"/>
              </a:rPr>
              <a:t> style</a:t>
            </a:r>
            <a:r>
              <a:rPr lang="en-IN" b="0" i="0" dirty="0">
                <a:solidFill>
                  <a:srgbClr val="0000CD"/>
                </a:solidFill>
                <a:effectLst/>
                <a:latin typeface="Book Antiqua" panose="02040602050305030304" pitchFamily="18" charset="0"/>
              </a:rPr>
              <a:t>="</a:t>
            </a:r>
            <a:r>
              <a:rPr lang="en-IN" b="0" i="0" dirty="0" err="1">
                <a:solidFill>
                  <a:srgbClr val="0000CD"/>
                </a:solidFill>
                <a:effectLst/>
                <a:latin typeface="Book Antiqua" panose="02040602050305030304" pitchFamily="18" charset="0"/>
              </a:rPr>
              <a:t>stroke:green;fill:none</a:t>
            </a:r>
            <a:r>
              <a:rPr lang="en-IN" b="0" i="0" dirty="0">
                <a:solidFill>
                  <a:srgbClr val="0000CD"/>
                </a:solidFill>
                <a:effectLst/>
                <a:latin typeface="Book Antiqua" panose="02040602050305030304" pitchFamily="18" charset="0"/>
              </a:rPr>
              <a:t>;"&gt;</a:t>
            </a:r>
            <a:r>
              <a:rPr lang="en-IN" dirty="0">
                <a:latin typeface="Book Antiqua" panose="02040602050305030304" pitchFamily="18" charset="0"/>
              </a:rPr>
              <a:t/>
            </a:r>
            <a:br>
              <a:rPr lang="en-IN" dirty="0">
                <a:latin typeface="Book Antiqua" panose="02040602050305030304" pitchFamily="18" charset="0"/>
              </a:rPr>
            </a:br>
            <a:r>
              <a:rPr lang="en-IN" b="0" i="0" dirty="0"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    </a:t>
            </a:r>
            <a:r>
              <a:rPr lang="en-IN" b="0" i="0" dirty="0">
                <a:solidFill>
                  <a:srgbClr val="0000CD"/>
                </a:solidFill>
                <a:effectLst/>
                <a:latin typeface="Book Antiqua" panose="02040602050305030304" pitchFamily="18" charset="0"/>
              </a:rPr>
              <a:t>&lt;</a:t>
            </a:r>
            <a:r>
              <a:rPr lang="en-IN" b="0" i="0" dirty="0" err="1">
                <a:solidFill>
                  <a:srgbClr val="A52A2A"/>
                </a:solidFill>
                <a:effectLst/>
                <a:latin typeface="Book Antiqua" panose="02040602050305030304" pitchFamily="18" charset="0"/>
              </a:rPr>
              <a:t>animateMotion</a:t>
            </a:r>
            <a:r>
              <a:rPr lang="en-IN" b="0" i="0" dirty="0">
                <a:solidFill>
                  <a:srgbClr val="FF0000"/>
                </a:solidFill>
                <a:effectLst/>
                <a:latin typeface="Book Antiqua" panose="02040602050305030304" pitchFamily="18" charset="0"/>
              </a:rPr>
              <a:t/>
            </a:r>
            <a:br>
              <a:rPr lang="en-IN" b="0" i="0" dirty="0">
                <a:solidFill>
                  <a:srgbClr val="FF0000"/>
                </a:solidFill>
                <a:effectLst/>
                <a:latin typeface="Book Antiqua" panose="02040602050305030304" pitchFamily="18" charset="0"/>
              </a:rPr>
            </a:br>
            <a:r>
              <a:rPr lang="en-IN" b="0" i="0" dirty="0">
                <a:solidFill>
                  <a:srgbClr val="FF0000"/>
                </a:solidFill>
                <a:effectLst/>
                <a:latin typeface="Book Antiqua" panose="02040602050305030304" pitchFamily="18" charset="0"/>
              </a:rPr>
              <a:t>      path</a:t>
            </a:r>
            <a:r>
              <a:rPr lang="en-IN" b="0" i="0" dirty="0">
                <a:solidFill>
                  <a:srgbClr val="0000CD"/>
                </a:solidFill>
                <a:effectLst/>
                <a:latin typeface="Book Antiqua" panose="02040602050305030304" pitchFamily="18" charset="0"/>
              </a:rPr>
              <a:t>="M0,0 q60,100 100,0 q60,-20 100,0"</a:t>
            </a:r>
            <a:r>
              <a:rPr lang="en-IN" b="0" i="0" dirty="0">
                <a:solidFill>
                  <a:srgbClr val="FF0000"/>
                </a:solidFill>
                <a:effectLst/>
                <a:latin typeface="Book Antiqua" panose="02040602050305030304" pitchFamily="18" charset="0"/>
              </a:rPr>
              <a:t/>
            </a:r>
            <a:br>
              <a:rPr lang="en-IN" b="0" i="0" dirty="0">
                <a:solidFill>
                  <a:srgbClr val="FF0000"/>
                </a:solidFill>
                <a:effectLst/>
                <a:latin typeface="Book Antiqua" panose="02040602050305030304" pitchFamily="18" charset="0"/>
              </a:rPr>
            </a:br>
            <a:r>
              <a:rPr lang="en-IN" b="0" i="0" dirty="0">
                <a:solidFill>
                  <a:srgbClr val="FF0000"/>
                </a:solidFill>
                <a:effectLst/>
                <a:latin typeface="Book Antiqua" panose="02040602050305030304" pitchFamily="18" charset="0"/>
              </a:rPr>
              <a:t>      begin</a:t>
            </a:r>
            <a:r>
              <a:rPr lang="en-IN" b="0" i="0" dirty="0">
                <a:solidFill>
                  <a:srgbClr val="0000CD"/>
                </a:solidFill>
                <a:effectLst/>
                <a:latin typeface="Book Antiqua" panose="02040602050305030304" pitchFamily="18" charset="0"/>
              </a:rPr>
              <a:t>="0s"</a:t>
            </a:r>
            <a:r>
              <a:rPr lang="en-IN" b="0" i="0" dirty="0">
                <a:solidFill>
                  <a:srgbClr val="FF0000"/>
                </a:solidFill>
                <a:effectLst/>
                <a:latin typeface="Book Antiqua" panose="02040602050305030304" pitchFamily="18" charset="0"/>
              </a:rPr>
              <a:t/>
            </a:r>
            <a:br>
              <a:rPr lang="en-IN" b="0" i="0" dirty="0">
                <a:solidFill>
                  <a:srgbClr val="FF0000"/>
                </a:solidFill>
                <a:effectLst/>
                <a:latin typeface="Book Antiqua" panose="02040602050305030304" pitchFamily="18" charset="0"/>
              </a:rPr>
            </a:br>
            <a:r>
              <a:rPr lang="en-IN" b="0" i="0" dirty="0">
                <a:solidFill>
                  <a:srgbClr val="FF0000"/>
                </a:solidFill>
                <a:effectLst/>
                <a:latin typeface="Book Antiqua" panose="02040602050305030304" pitchFamily="18" charset="0"/>
              </a:rPr>
              <a:t>      dur</a:t>
            </a:r>
            <a:r>
              <a:rPr lang="en-IN" b="0" i="0" dirty="0">
                <a:solidFill>
                  <a:srgbClr val="0000CD"/>
                </a:solidFill>
                <a:effectLst/>
                <a:latin typeface="Book Antiqua" panose="02040602050305030304" pitchFamily="18" charset="0"/>
              </a:rPr>
              <a:t>="10s"</a:t>
            </a:r>
            <a:r>
              <a:rPr lang="en-IN" b="0" i="0" dirty="0">
                <a:solidFill>
                  <a:srgbClr val="FF0000"/>
                </a:solidFill>
                <a:effectLst/>
                <a:latin typeface="Book Antiqua" panose="02040602050305030304" pitchFamily="18" charset="0"/>
              </a:rPr>
              <a:t/>
            </a:r>
            <a:br>
              <a:rPr lang="en-IN" b="0" i="0" dirty="0">
                <a:solidFill>
                  <a:srgbClr val="FF0000"/>
                </a:solidFill>
                <a:effectLst/>
                <a:latin typeface="Book Antiqua" panose="02040602050305030304" pitchFamily="18" charset="0"/>
              </a:rPr>
            </a:br>
            <a:r>
              <a:rPr lang="en-IN" b="0" i="0" dirty="0">
                <a:solidFill>
                  <a:srgbClr val="FF0000"/>
                </a:solidFill>
                <a:effectLst/>
                <a:latin typeface="Book Antiqua" panose="02040602050305030304" pitchFamily="18" charset="0"/>
              </a:rPr>
              <a:t>      </a:t>
            </a:r>
            <a:r>
              <a:rPr lang="en-IN" b="0" i="0" dirty="0" err="1">
                <a:solidFill>
                  <a:srgbClr val="FF0000"/>
                </a:solidFill>
                <a:effectLst/>
                <a:latin typeface="Book Antiqua" panose="02040602050305030304" pitchFamily="18" charset="0"/>
              </a:rPr>
              <a:t>repeatCount</a:t>
            </a:r>
            <a:r>
              <a:rPr lang="en-IN" b="0" i="0" dirty="0">
                <a:solidFill>
                  <a:srgbClr val="0000CD"/>
                </a:solidFill>
                <a:effectLst/>
                <a:latin typeface="Book Antiqua" panose="02040602050305030304" pitchFamily="18" charset="0"/>
              </a:rPr>
              <a:t>="indefinite"</a:t>
            </a:r>
            <a:r>
              <a:rPr lang="en-IN" b="0" i="0" dirty="0">
                <a:solidFill>
                  <a:srgbClr val="FF0000"/>
                </a:solidFill>
                <a:effectLst/>
                <a:latin typeface="Book Antiqua" panose="02040602050305030304" pitchFamily="18" charset="0"/>
              </a:rPr>
              <a:t> /</a:t>
            </a:r>
            <a:r>
              <a:rPr lang="en-IN" b="0" i="0" dirty="0">
                <a:solidFill>
                  <a:srgbClr val="0000CD"/>
                </a:solidFill>
                <a:effectLst/>
                <a:latin typeface="Book Antiqua" panose="02040602050305030304" pitchFamily="18" charset="0"/>
              </a:rPr>
              <a:t>&gt;</a:t>
            </a:r>
            <a:r>
              <a:rPr lang="en-IN" dirty="0">
                <a:latin typeface="Book Antiqua" panose="02040602050305030304" pitchFamily="18" charset="0"/>
              </a:rPr>
              <a:t/>
            </a:r>
            <a:br>
              <a:rPr lang="en-IN" dirty="0">
                <a:latin typeface="Book Antiqua" panose="02040602050305030304" pitchFamily="18" charset="0"/>
              </a:rPr>
            </a:br>
            <a:r>
              <a:rPr lang="en-IN" b="0" i="0" dirty="0"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  </a:t>
            </a:r>
            <a:r>
              <a:rPr lang="en-IN" b="0" i="0" dirty="0">
                <a:solidFill>
                  <a:srgbClr val="0000CD"/>
                </a:solidFill>
                <a:effectLst/>
                <a:latin typeface="Book Antiqua" panose="02040602050305030304" pitchFamily="18" charset="0"/>
              </a:rPr>
              <a:t>&lt;</a:t>
            </a:r>
            <a:r>
              <a:rPr lang="en-IN" b="0" i="0" dirty="0">
                <a:solidFill>
                  <a:srgbClr val="A52A2A"/>
                </a:solidFill>
                <a:effectLst/>
                <a:latin typeface="Book Antiqua" panose="02040602050305030304" pitchFamily="18" charset="0"/>
              </a:rPr>
              <a:t>/</a:t>
            </a:r>
            <a:r>
              <a:rPr lang="en-IN" b="0" i="0" dirty="0" err="1">
                <a:solidFill>
                  <a:srgbClr val="A52A2A"/>
                </a:solidFill>
                <a:effectLst/>
                <a:latin typeface="Book Antiqua" panose="02040602050305030304" pitchFamily="18" charset="0"/>
              </a:rPr>
              <a:t>rect</a:t>
            </a:r>
            <a:r>
              <a:rPr lang="en-IN" b="0" i="0" dirty="0">
                <a:solidFill>
                  <a:srgbClr val="0000CD"/>
                </a:solidFill>
                <a:effectLst/>
                <a:latin typeface="Book Antiqua" panose="02040602050305030304" pitchFamily="18" charset="0"/>
              </a:rPr>
              <a:t>&gt;</a:t>
            </a:r>
            <a:r>
              <a:rPr lang="en-IN" dirty="0">
                <a:latin typeface="Book Antiqua" panose="02040602050305030304" pitchFamily="18" charset="0"/>
              </a:rPr>
              <a:t/>
            </a:r>
            <a:br>
              <a:rPr lang="en-IN" dirty="0">
                <a:latin typeface="Book Antiqua" panose="02040602050305030304" pitchFamily="18" charset="0"/>
              </a:rPr>
            </a:br>
            <a:r>
              <a:rPr lang="en-IN" b="0" i="0" dirty="0"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  </a:t>
            </a:r>
            <a:r>
              <a:rPr lang="en-IN" b="0" i="0" dirty="0">
                <a:solidFill>
                  <a:srgbClr val="0000CD"/>
                </a:solidFill>
                <a:effectLst/>
                <a:latin typeface="Book Antiqua" panose="02040602050305030304" pitchFamily="18" charset="0"/>
              </a:rPr>
              <a:t>&lt;</a:t>
            </a:r>
            <a:r>
              <a:rPr lang="en-IN" b="0" i="0" dirty="0">
                <a:solidFill>
                  <a:srgbClr val="A52A2A"/>
                </a:solidFill>
                <a:effectLst/>
                <a:latin typeface="Book Antiqua" panose="02040602050305030304" pitchFamily="18" charset="0"/>
              </a:rPr>
              <a:t>text</a:t>
            </a:r>
            <a:r>
              <a:rPr lang="en-IN" b="0" i="0" dirty="0">
                <a:solidFill>
                  <a:srgbClr val="FF0000"/>
                </a:solidFill>
                <a:effectLst/>
                <a:latin typeface="Book Antiqua" panose="02040602050305030304" pitchFamily="18" charset="0"/>
              </a:rPr>
              <a:t> x</a:t>
            </a:r>
            <a:r>
              <a:rPr lang="en-IN" b="0" i="0" dirty="0">
                <a:solidFill>
                  <a:srgbClr val="0000CD"/>
                </a:solidFill>
                <a:effectLst/>
                <a:latin typeface="Book Antiqua" panose="02040602050305030304" pitchFamily="18" charset="0"/>
              </a:rPr>
              <a:t>="50"</a:t>
            </a:r>
            <a:r>
              <a:rPr lang="en-IN" b="0" i="0" dirty="0">
                <a:solidFill>
                  <a:srgbClr val="FF0000"/>
                </a:solidFill>
                <a:effectLst/>
                <a:latin typeface="Book Antiqua" panose="02040602050305030304" pitchFamily="18" charset="0"/>
              </a:rPr>
              <a:t> y</a:t>
            </a:r>
            <a:r>
              <a:rPr lang="en-IN" b="0" i="0" dirty="0">
                <a:solidFill>
                  <a:srgbClr val="0000CD"/>
                </a:solidFill>
                <a:effectLst/>
                <a:latin typeface="Book Antiqua" panose="02040602050305030304" pitchFamily="18" charset="0"/>
              </a:rPr>
              <a:t>="50"</a:t>
            </a:r>
            <a:r>
              <a:rPr lang="en-IN" b="0" i="0" dirty="0">
                <a:solidFill>
                  <a:srgbClr val="FF0000"/>
                </a:solidFill>
                <a:effectLst/>
                <a:latin typeface="Book Antiqua" panose="02040602050305030304" pitchFamily="18" charset="0"/>
              </a:rPr>
              <a:t> style</a:t>
            </a:r>
            <a:r>
              <a:rPr lang="en-IN" b="0" i="0" dirty="0">
                <a:solidFill>
                  <a:srgbClr val="0000CD"/>
                </a:solidFill>
                <a:effectLst/>
                <a:latin typeface="Book Antiqua" panose="02040602050305030304" pitchFamily="18" charset="0"/>
              </a:rPr>
              <a:t>="font-family:Verdana;font-size:32"&gt;</a:t>
            </a:r>
            <a:r>
              <a:rPr lang="en-IN" b="0" i="0" dirty="0"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It's SVG!</a:t>
            </a:r>
            <a:r>
              <a:rPr lang="en-IN" dirty="0">
                <a:latin typeface="Book Antiqua" panose="02040602050305030304" pitchFamily="18" charset="0"/>
              </a:rPr>
              <a:t/>
            </a:r>
            <a:br>
              <a:rPr lang="en-IN" dirty="0">
                <a:latin typeface="Book Antiqua" panose="02040602050305030304" pitchFamily="18" charset="0"/>
              </a:rPr>
            </a:br>
            <a:r>
              <a:rPr lang="en-IN" b="0" i="0" dirty="0"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    </a:t>
            </a:r>
            <a:r>
              <a:rPr lang="en-IN" b="0" i="0" dirty="0">
                <a:solidFill>
                  <a:srgbClr val="0000CD"/>
                </a:solidFill>
                <a:effectLst/>
                <a:latin typeface="Book Antiqua" panose="02040602050305030304" pitchFamily="18" charset="0"/>
              </a:rPr>
              <a:t>&lt;</a:t>
            </a:r>
            <a:r>
              <a:rPr lang="en-IN" b="0" i="0" dirty="0" err="1">
                <a:solidFill>
                  <a:srgbClr val="A52A2A"/>
                </a:solidFill>
                <a:effectLst/>
                <a:latin typeface="Book Antiqua" panose="02040602050305030304" pitchFamily="18" charset="0"/>
              </a:rPr>
              <a:t>animateMotion</a:t>
            </a:r>
            <a:r>
              <a:rPr lang="en-IN" b="0" i="0" dirty="0">
                <a:solidFill>
                  <a:srgbClr val="FF0000"/>
                </a:solidFill>
                <a:effectLst/>
                <a:latin typeface="Book Antiqua" panose="02040602050305030304" pitchFamily="18" charset="0"/>
              </a:rPr>
              <a:t/>
            </a:r>
            <a:br>
              <a:rPr lang="en-IN" b="0" i="0" dirty="0">
                <a:solidFill>
                  <a:srgbClr val="FF0000"/>
                </a:solidFill>
                <a:effectLst/>
                <a:latin typeface="Book Antiqua" panose="02040602050305030304" pitchFamily="18" charset="0"/>
              </a:rPr>
            </a:br>
            <a:r>
              <a:rPr lang="en-IN" b="0" i="0" dirty="0">
                <a:solidFill>
                  <a:srgbClr val="FF0000"/>
                </a:solidFill>
                <a:effectLst/>
                <a:latin typeface="Book Antiqua" panose="02040602050305030304" pitchFamily="18" charset="0"/>
              </a:rPr>
              <a:t>      path</a:t>
            </a:r>
            <a:r>
              <a:rPr lang="en-IN" b="0" i="0" dirty="0">
                <a:solidFill>
                  <a:srgbClr val="0000CD"/>
                </a:solidFill>
                <a:effectLst/>
                <a:latin typeface="Book Antiqua" panose="02040602050305030304" pitchFamily="18" charset="0"/>
              </a:rPr>
              <a:t>="M0,0 q60,100 100,0 q60,-20 100,0"</a:t>
            </a:r>
            <a:r>
              <a:rPr lang="en-IN" b="0" i="0" dirty="0">
                <a:solidFill>
                  <a:srgbClr val="FF0000"/>
                </a:solidFill>
                <a:effectLst/>
                <a:latin typeface="Book Antiqua" panose="02040602050305030304" pitchFamily="18" charset="0"/>
              </a:rPr>
              <a:t/>
            </a:r>
            <a:br>
              <a:rPr lang="en-IN" b="0" i="0" dirty="0">
                <a:solidFill>
                  <a:srgbClr val="FF0000"/>
                </a:solidFill>
                <a:effectLst/>
                <a:latin typeface="Book Antiqua" panose="02040602050305030304" pitchFamily="18" charset="0"/>
              </a:rPr>
            </a:br>
            <a:r>
              <a:rPr lang="en-IN" b="0" i="0" dirty="0">
                <a:solidFill>
                  <a:srgbClr val="FF0000"/>
                </a:solidFill>
                <a:effectLst/>
                <a:latin typeface="Book Antiqua" panose="02040602050305030304" pitchFamily="18" charset="0"/>
              </a:rPr>
              <a:t>      begin</a:t>
            </a:r>
            <a:r>
              <a:rPr lang="en-IN" b="0" i="0" dirty="0">
                <a:solidFill>
                  <a:srgbClr val="0000CD"/>
                </a:solidFill>
                <a:effectLst/>
                <a:latin typeface="Book Antiqua" panose="02040602050305030304" pitchFamily="18" charset="0"/>
              </a:rPr>
              <a:t>="0s"</a:t>
            </a:r>
            <a:r>
              <a:rPr lang="en-IN" b="0" i="0" dirty="0">
                <a:solidFill>
                  <a:srgbClr val="FF0000"/>
                </a:solidFill>
                <a:effectLst/>
                <a:latin typeface="Book Antiqua" panose="02040602050305030304" pitchFamily="18" charset="0"/>
              </a:rPr>
              <a:t/>
            </a:r>
            <a:br>
              <a:rPr lang="en-IN" b="0" i="0" dirty="0">
                <a:solidFill>
                  <a:srgbClr val="FF0000"/>
                </a:solidFill>
                <a:effectLst/>
                <a:latin typeface="Book Antiqua" panose="02040602050305030304" pitchFamily="18" charset="0"/>
              </a:rPr>
            </a:br>
            <a:r>
              <a:rPr lang="en-IN" b="0" i="0" dirty="0">
                <a:solidFill>
                  <a:srgbClr val="FF0000"/>
                </a:solidFill>
                <a:effectLst/>
                <a:latin typeface="Book Antiqua" panose="02040602050305030304" pitchFamily="18" charset="0"/>
              </a:rPr>
              <a:t>      dur</a:t>
            </a:r>
            <a:r>
              <a:rPr lang="en-IN" b="0" i="0" dirty="0">
                <a:solidFill>
                  <a:srgbClr val="0000CD"/>
                </a:solidFill>
                <a:effectLst/>
                <a:latin typeface="Book Antiqua" panose="02040602050305030304" pitchFamily="18" charset="0"/>
              </a:rPr>
              <a:t>="10s"</a:t>
            </a:r>
            <a:r>
              <a:rPr lang="en-IN" b="0" i="0" dirty="0">
                <a:solidFill>
                  <a:srgbClr val="FF0000"/>
                </a:solidFill>
                <a:effectLst/>
                <a:latin typeface="Book Antiqua" panose="02040602050305030304" pitchFamily="18" charset="0"/>
              </a:rPr>
              <a:t/>
            </a:r>
            <a:br>
              <a:rPr lang="en-IN" b="0" i="0" dirty="0">
                <a:solidFill>
                  <a:srgbClr val="FF0000"/>
                </a:solidFill>
                <a:effectLst/>
                <a:latin typeface="Book Antiqua" panose="02040602050305030304" pitchFamily="18" charset="0"/>
              </a:rPr>
            </a:br>
            <a:r>
              <a:rPr lang="en-IN" b="0" i="0" dirty="0">
                <a:solidFill>
                  <a:srgbClr val="FF0000"/>
                </a:solidFill>
                <a:effectLst/>
                <a:latin typeface="Book Antiqua" panose="02040602050305030304" pitchFamily="18" charset="0"/>
              </a:rPr>
              <a:t>      </a:t>
            </a:r>
            <a:r>
              <a:rPr lang="en-IN" b="0" i="0" dirty="0" err="1">
                <a:solidFill>
                  <a:srgbClr val="FF0000"/>
                </a:solidFill>
                <a:effectLst/>
                <a:latin typeface="Book Antiqua" panose="02040602050305030304" pitchFamily="18" charset="0"/>
              </a:rPr>
              <a:t>repeatCount</a:t>
            </a:r>
            <a:r>
              <a:rPr lang="en-IN" b="0" i="0" dirty="0">
                <a:solidFill>
                  <a:srgbClr val="0000CD"/>
                </a:solidFill>
                <a:effectLst/>
                <a:latin typeface="Book Antiqua" panose="02040602050305030304" pitchFamily="18" charset="0"/>
              </a:rPr>
              <a:t>="indefinite"</a:t>
            </a:r>
            <a:r>
              <a:rPr lang="en-IN" b="0" i="0" dirty="0">
                <a:solidFill>
                  <a:srgbClr val="FF0000"/>
                </a:solidFill>
                <a:effectLst/>
                <a:latin typeface="Book Antiqua" panose="02040602050305030304" pitchFamily="18" charset="0"/>
              </a:rPr>
              <a:t> /</a:t>
            </a:r>
            <a:r>
              <a:rPr lang="en-IN" b="0" i="0" dirty="0">
                <a:solidFill>
                  <a:srgbClr val="0000CD"/>
                </a:solidFill>
                <a:effectLst/>
                <a:latin typeface="Book Antiqua" panose="02040602050305030304" pitchFamily="18" charset="0"/>
              </a:rPr>
              <a:t>&gt;</a:t>
            </a:r>
            <a:r>
              <a:rPr lang="en-IN" dirty="0">
                <a:latin typeface="Book Antiqua" panose="02040602050305030304" pitchFamily="18" charset="0"/>
              </a:rPr>
              <a:t/>
            </a:r>
            <a:br>
              <a:rPr lang="en-IN" dirty="0">
                <a:latin typeface="Book Antiqua" panose="02040602050305030304" pitchFamily="18" charset="0"/>
              </a:rPr>
            </a:br>
            <a:r>
              <a:rPr lang="en-IN" b="0" i="0" dirty="0">
                <a:solidFill>
                  <a:srgbClr val="0000CD"/>
                </a:solidFill>
                <a:effectLst/>
                <a:latin typeface="Book Antiqua" panose="02040602050305030304" pitchFamily="18" charset="0"/>
              </a:rPr>
              <a:t>&lt;</a:t>
            </a:r>
            <a:r>
              <a:rPr lang="en-IN" b="0" i="0" dirty="0">
                <a:solidFill>
                  <a:srgbClr val="A52A2A"/>
                </a:solidFill>
                <a:effectLst/>
                <a:latin typeface="Book Antiqua" panose="02040602050305030304" pitchFamily="18" charset="0"/>
              </a:rPr>
              <a:t>/text</a:t>
            </a:r>
            <a:r>
              <a:rPr lang="en-IN" b="0" i="0" dirty="0">
                <a:solidFill>
                  <a:srgbClr val="0000CD"/>
                </a:solidFill>
                <a:effectLst/>
                <a:latin typeface="Book Antiqua" panose="02040602050305030304" pitchFamily="18" charset="0"/>
              </a:rPr>
              <a:t>&gt;</a:t>
            </a:r>
            <a:r>
              <a:rPr lang="en-IN" dirty="0">
                <a:latin typeface="Book Antiqua" panose="02040602050305030304" pitchFamily="18" charset="0"/>
              </a:rPr>
              <a:t/>
            </a:r>
            <a:br>
              <a:rPr lang="en-IN" dirty="0">
                <a:latin typeface="Book Antiqua" panose="02040602050305030304" pitchFamily="18" charset="0"/>
              </a:rPr>
            </a:br>
            <a:r>
              <a:rPr lang="en-IN" b="0" i="0" dirty="0">
                <a:solidFill>
                  <a:srgbClr val="0000CD"/>
                </a:solidFill>
                <a:effectLst/>
                <a:latin typeface="Book Antiqua" panose="02040602050305030304" pitchFamily="18" charset="0"/>
              </a:rPr>
              <a:t>&lt;</a:t>
            </a:r>
            <a:r>
              <a:rPr lang="en-IN" b="0" i="0" dirty="0">
                <a:solidFill>
                  <a:srgbClr val="A52A2A"/>
                </a:solidFill>
                <a:effectLst/>
                <a:latin typeface="Book Antiqua" panose="02040602050305030304" pitchFamily="18" charset="0"/>
              </a:rPr>
              <a:t>/</a:t>
            </a:r>
            <a:r>
              <a:rPr lang="en-IN" b="0" i="0" dirty="0" err="1">
                <a:solidFill>
                  <a:srgbClr val="A52A2A"/>
                </a:solidFill>
                <a:effectLst/>
                <a:latin typeface="Book Antiqua" panose="02040602050305030304" pitchFamily="18" charset="0"/>
              </a:rPr>
              <a:t>svg</a:t>
            </a:r>
            <a:r>
              <a:rPr lang="en-IN" b="0" i="0" dirty="0">
                <a:solidFill>
                  <a:srgbClr val="0000CD"/>
                </a:solidFill>
                <a:effectLst/>
                <a:latin typeface="Book Antiqua" panose="02040602050305030304" pitchFamily="18" charset="0"/>
              </a:rPr>
              <a:t>&gt;</a:t>
            </a:r>
            <a:endParaRPr lang="en-IN" dirty="0">
              <a:latin typeface="Book Antiqua" panose="0204060205030503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xmlns="" id="{B5B976F8-C03E-61E4-95D7-AC06FA91B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D827D-3A5E-4197-8547-878A82F055BA}" type="slidenum">
              <a:rPr lang="en-IN" smtClean="0"/>
              <a:pPr/>
              <a:t>54</a:t>
            </a:fld>
            <a:endParaRPr lang="en-IN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xmlns="" id="{89550367-512A-6304-CA34-04AD293B819D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678180" y="1056194"/>
            <a:ext cx="4869180" cy="34778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animateMotion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element sets how an element moves along a motion path.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>
              <a:lnSpc>
                <a:spcPct val="100000"/>
              </a:lnSpc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animateMotion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element should be nested inside the target element.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>
              <a:lnSpc>
                <a:spcPct val="100000"/>
              </a:lnSpc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In this example, we create a rectangle and a text. Both elements have an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animateMotion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element with the same path: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xmlns="" id="{6156CFB8-7EB4-7EE8-4A21-426E2946DC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291" y="4660379"/>
            <a:ext cx="5432108" cy="15696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The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Book Antiqua" panose="02040602050305030304" pitchFamily="18" charset="0"/>
              </a:rPr>
              <a:t>path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 attribute defines the path of the animation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The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Book Antiqua" panose="02040602050305030304" pitchFamily="18" charset="0"/>
              </a:rPr>
              <a:t>begin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 attribute defines when the animation should start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The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Book Antiqua" panose="02040602050305030304" pitchFamily="18" charset="0"/>
              </a:rPr>
              <a:t>dur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 attribute defines the duration of the animation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The 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Book Antiqua" panose="02040602050305030304" pitchFamily="18" charset="0"/>
              </a:rPr>
              <a:t>repeatCount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 attribute defines how many times the animation should play</a:t>
            </a:r>
          </a:p>
        </p:txBody>
      </p:sp>
    </p:spTree>
    <p:extLst>
      <p:ext uri="{BB962C8B-B14F-4D97-AF65-F5344CB8AC3E}">
        <p14:creationId xmlns:p14="http://schemas.microsoft.com/office/powerpoint/2010/main" xmlns="" val="260953932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E0FC78E-F16D-4EDD-8BF8-40F9088A6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Book Antiqua" panose="02040602050305030304" pitchFamily="18" charset="0"/>
                <a:cs typeface="Segoe UI" panose="020B0502040204020203" pitchFamily="34" charset="0"/>
              </a:rPr>
              <a:t>SVG Transformations</a:t>
            </a:r>
            <a:endParaRPr lang="en-IN" b="1" dirty="0">
              <a:solidFill>
                <a:srgbClr val="C00000"/>
              </a:solidFill>
              <a:latin typeface="Book Antiqua" panose="02040602050305030304" pitchFamily="18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xmlns="" id="{2BCFEFB3-5841-19FC-637B-7964049AB2E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73491"/>
            <a:ext cx="10515600" cy="425561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5067" rIns="0" bIns="65067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SVG elements can be manipulated using transform functions.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 Antiqua" panose="0204060205030503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The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Book Antiqua" panose="02040602050305030304" pitchFamily="18" charset="0"/>
              </a:rPr>
              <a:t>transform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 attribute can be used with any SVG element.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 Antiqua" panose="0204060205030503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The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Book Antiqua" panose="02040602050305030304" pitchFamily="18" charset="0"/>
              </a:rPr>
              <a:t>transform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 attribute defines a list of transform functions that can be applied to an element and the element's children: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 Antiqua" panose="0204060205030503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Book Antiqua" panose="02040602050305030304" pitchFamily="18" charset="0"/>
              </a:rPr>
              <a:t>translate()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Book Antiqua" panose="0204060205030503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Book Antiqua" panose="02040602050305030304" pitchFamily="18" charset="0"/>
              </a:rPr>
              <a:t>scale()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Book Antiqua" panose="0204060205030503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Book Antiqua" panose="02040602050305030304" pitchFamily="18" charset="0"/>
              </a:rPr>
              <a:t>rotate()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Book Antiqua" panose="0204060205030503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Book Antiqua" panose="02040602050305030304" pitchFamily="18" charset="0"/>
              </a:rPr>
              <a:t>skewX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Book Antiqua" panose="02040602050305030304" pitchFamily="18" charset="0"/>
              </a:rPr>
              <a:t>()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Book Antiqua" panose="0204060205030503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Book Antiqua" panose="02040602050305030304" pitchFamily="18" charset="0"/>
              </a:rPr>
              <a:t>skewY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Book Antiqua" panose="02040602050305030304" pitchFamily="18" charset="0"/>
              </a:rPr>
              <a:t>()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Book Antiqua" panose="0204060205030503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Book Antiqua" panose="02040602050305030304" pitchFamily="18" charset="0"/>
              </a:rPr>
              <a:t>matrix()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Book Antiqua" panose="0204060205030503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 Antiqua" panose="0204060205030503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xmlns="" id="{4FC301F9-61A3-04D4-1E6B-35842AD9A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D827D-3A5E-4197-8547-878A82F055BA}" type="slidenum">
              <a:rPr lang="en-IN" smtClean="0"/>
              <a:pPr/>
              <a:t>55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526136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xmlns="" id="{8B996CDF-261B-29D9-9997-24CCD89FC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C00000"/>
                </a:solidFill>
                <a:latin typeface="Book Antiqua" panose="02040602050305030304" pitchFamily="18" charset="0"/>
                <a:cs typeface="Segoe UI" panose="020B0502040204020203" pitchFamily="34" charset="0"/>
              </a:rPr>
              <a:t>Scale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xmlns="" id="{70459B01-600F-53ED-635F-CEF678264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svg</a:t>
            </a:r>
            <a:r>
              <a:rPr lang="en-IN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width</a:t>
            </a: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="200"</a:t>
            </a:r>
            <a:r>
              <a:rPr lang="en-IN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height</a:t>
            </a: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="100"</a:t>
            </a:r>
            <a:r>
              <a:rPr lang="en-IN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xmlns</a:t>
            </a: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="http://www.w3.org/2000/svg"&gt;</a:t>
            </a:r>
            <a:r>
              <a:rPr lang="en-IN" dirty="0"/>
              <a:t/>
            </a:r>
            <a:br>
              <a:rPr lang="en-IN" dirty="0"/>
            </a:b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circle</a:t>
            </a:r>
            <a:r>
              <a:rPr lang="en-IN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cx</a:t>
            </a: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="25"</a:t>
            </a:r>
            <a:r>
              <a:rPr lang="en-IN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cy</a:t>
            </a: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="25"</a:t>
            </a:r>
            <a:r>
              <a:rPr lang="en-IN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r</a:t>
            </a: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="20"</a:t>
            </a:r>
            <a:r>
              <a:rPr lang="en-IN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fill</a:t>
            </a: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="yellow"</a:t>
            </a:r>
            <a:r>
              <a:rPr lang="en-IN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/</a:t>
            </a: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dirty="0"/>
              <a:t/>
            </a:r>
            <a:br>
              <a:rPr lang="en-IN" dirty="0"/>
            </a:b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circle</a:t>
            </a:r>
            <a:r>
              <a:rPr lang="en-IN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cx</a:t>
            </a: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="50"</a:t>
            </a:r>
            <a:r>
              <a:rPr lang="en-IN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cy</a:t>
            </a: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="25"</a:t>
            </a:r>
            <a:r>
              <a:rPr lang="en-IN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r</a:t>
            </a: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="20"</a:t>
            </a:r>
            <a:r>
              <a:rPr lang="en-IN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fill</a:t>
            </a: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="red"</a:t>
            </a:r>
            <a:r>
              <a:rPr lang="en-IN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transform</a:t>
            </a: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="scale(2,1)"</a:t>
            </a:r>
            <a:r>
              <a:rPr lang="en-IN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/</a:t>
            </a: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dirty="0"/>
              <a:t/>
            </a:r>
            <a:br>
              <a:rPr lang="en-IN" dirty="0"/>
            </a:b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IN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svg</a:t>
            </a: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endParaRPr lang="en-IN" dirty="0">
              <a:solidFill>
                <a:srgbClr val="0000CD"/>
              </a:solidFill>
              <a:latin typeface="Consolas" panose="020B0609020204030204" pitchFamily="49" charset="0"/>
            </a:endParaRPr>
          </a:p>
          <a:p>
            <a:endParaRPr lang="en-IN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xmlns="" id="{843C3DD1-83CA-FA79-080F-C640542F3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D827D-3A5E-4197-8547-878A82F055BA}" type="slidenum">
              <a:rPr lang="en-IN" smtClean="0"/>
              <a:pPr/>
              <a:t>56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30483149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1963240-8CC9-3B90-F8B5-982E0376D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C00000"/>
                </a:solidFill>
                <a:latin typeface="Book Antiqua" panose="02040602050305030304" pitchFamily="18" charset="0"/>
                <a:cs typeface="Segoe UI" panose="020B0502040204020203" pitchFamily="34" charset="0"/>
              </a:rPr>
              <a:t>Rotate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8DFB73E-786A-1904-364D-2D0D6831BF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svg</a:t>
            </a:r>
            <a:r>
              <a:rPr lang="en-IN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width</a:t>
            </a: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="200"</a:t>
            </a:r>
            <a:r>
              <a:rPr lang="en-IN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height</a:t>
            </a: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="100"</a:t>
            </a:r>
            <a:r>
              <a:rPr lang="en-IN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xmlns</a:t>
            </a: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="http://www.w3.org/2000/svg"&gt;</a:t>
            </a:r>
            <a:r>
              <a:rPr lang="en-IN" dirty="0"/>
              <a:t/>
            </a:r>
            <a:br>
              <a:rPr lang="en-IN" dirty="0"/>
            </a:b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rect</a:t>
            </a:r>
            <a:r>
              <a:rPr lang="en-IN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x</a:t>
            </a: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="50"</a:t>
            </a:r>
            <a:r>
              <a:rPr lang="en-IN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y</a:t>
            </a: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="5"</a:t>
            </a:r>
            <a:r>
              <a:rPr lang="en-IN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width</a:t>
            </a: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="40"</a:t>
            </a:r>
            <a:r>
              <a:rPr lang="en-IN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height</a:t>
            </a: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="40"</a:t>
            </a:r>
            <a:r>
              <a:rPr lang="en-IN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fill</a:t>
            </a: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="blue"</a:t>
            </a:r>
            <a:r>
              <a:rPr lang="en-IN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transform</a:t>
            </a: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="rotate(45)"</a:t>
            </a:r>
            <a:r>
              <a:rPr lang="en-IN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/</a:t>
            </a: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dirty="0"/>
              <a:t/>
            </a:r>
            <a:br>
              <a:rPr lang="en-IN" dirty="0"/>
            </a:b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IN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svg</a:t>
            </a: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9C5BC666-0809-F91A-0411-4E1241DB1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D827D-3A5E-4197-8547-878A82F055BA}" type="slidenum">
              <a:rPr lang="en-IN" smtClean="0"/>
              <a:pPr/>
              <a:t>57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41453255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8AD9053-0F2D-AFD8-DB85-D8BF703BC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>
                <a:solidFill>
                  <a:srgbClr val="C00000"/>
                </a:solidFill>
                <a:latin typeface="Book Antiqua" panose="02040602050305030304" pitchFamily="18" charset="0"/>
                <a:cs typeface="Segoe UI" panose="020B0502040204020203" pitchFamily="34" charset="0"/>
              </a:rPr>
              <a:t>SkewX</a:t>
            </a:r>
            <a:endParaRPr lang="en-IN" b="1" dirty="0">
              <a:solidFill>
                <a:srgbClr val="C00000"/>
              </a:solidFill>
              <a:latin typeface="Book Antiqua" panose="02040602050305030304" pitchFamily="18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93515A2-2C67-B464-E272-D97E085354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svg</a:t>
            </a:r>
            <a:r>
              <a:rPr lang="en-IN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width</a:t>
            </a: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="200"</a:t>
            </a:r>
            <a:r>
              <a:rPr lang="en-IN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height</a:t>
            </a: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="50"</a:t>
            </a:r>
            <a:r>
              <a:rPr lang="en-IN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xmlns</a:t>
            </a: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="http://www.w3.org/2000/svg"&gt;</a:t>
            </a:r>
            <a:r>
              <a:rPr lang="en-IN" dirty="0"/>
              <a:t/>
            </a:r>
            <a:br>
              <a:rPr lang="en-IN" dirty="0"/>
            </a:b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rect</a:t>
            </a:r>
            <a:r>
              <a:rPr lang="en-IN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x</a:t>
            </a: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="5"</a:t>
            </a:r>
            <a:r>
              <a:rPr lang="en-IN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y</a:t>
            </a: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="5"</a:t>
            </a:r>
            <a:r>
              <a:rPr lang="en-IN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width</a:t>
            </a: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="40"</a:t>
            </a:r>
            <a:r>
              <a:rPr lang="en-IN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height</a:t>
            </a: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="40"</a:t>
            </a:r>
            <a:r>
              <a:rPr lang="en-IN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fill</a:t>
            </a: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="blue"</a:t>
            </a:r>
            <a:r>
              <a:rPr lang="en-IN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transform</a:t>
            </a: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en-IN" b="0" i="0" dirty="0" err="1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skewX</a:t>
            </a: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(30)"</a:t>
            </a:r>
            <a:r>
              <a:rPr lang="en-IN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/</a:t>
            </a: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dirty="0"/>
              <a:t/>
            </a:r>
            <a:br>
              <a:rPr lang="en-IN" dirty="0"/>
            </a:b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IN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svg</a:t>
            </a: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BFA0A5DC-12D4-4EBE-5195-9E28C0869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D827D-3A5E-4197-8547-878A82F055BA}" type="slidenum">
              <a:rPr lang="en-IN" smtClean="0"/>
              <a:pPr/>
              <a:t>58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96033471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EE6B5A3-49C7-7B4F-95EA-DD7A3898E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>
                <a:solidFill>
                  <a:srgbClr val="C00000"/>
                </a:solidFill>
                <a:latin typeface="Book Antiqua" panose="02040602050305030304" pitchFamily="18" charset="0"/>
                <a:cs typeface="Segoe UI" panose="020B0502040204020203" pitchFamily="34" charset="0"/>
              </a:rPr>
              <a:t>SkewY</a:t>
            </a:r>
            <a:endParaRPr lang="en-IN" b="1" dirty="0">
              <a:solidFill>
                <a:srgbClr val="C00000"/>
              </a:solidFill>
              <a:latin typeface="Book Antiqua" panose="02040602050305030304" pitchFamily="18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602C0EF-D10B-91DE-758D-CEA82FCF43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svg</a:t>
            </a:r>
            <a:r>
              <a:rPr lang="en-IN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width</a:t>
            </a: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="200"</a:t>
            </a:r>
            <a:r>
              <a:rPr lang="en-IN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height</a:t>
            </a: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="50"</a:t>
            </a:r>
            <a:r>
              <a:rPr lang="en-IN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xmlns</a:t>
            </a: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="http://www.w3.org/2000/svg"&gt;</a:t>
            </a:r>
            <a:r>
              <a:rPr lang="en-IN" dirty="0"/>
              <a:t/>
            </a:r>
            <a:br>
              <a:rPr lang="en-IN" dirty="0"/>
            </a:b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rect</a:t>
            </a:r>
            <a:r>
              <a:rPr lang="en-IN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x</a:t>
            </a: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="5"</a:t>
            </a:r>
            <a:r>
              <a:rPr lang="en-IN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y</a:t>
            </a: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="5"</a:t>
            </a:r>
            <a:r>
              <a:rPr lang="en-IN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width</a:t>
            </a: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="40"</a:t>
            </a:r>
            <a:r>
              <a:rPr lang="en-IN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height</a:t>
            </a: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="40"</a:t>
            </a:r>
            <a:r>
              <a:rPr lang="en-IN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fill</a:t>
            </a: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="blue"</a:t>
            </a:r>
            <a:r>
              <a:rPr lang="en-IN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transform</a:t>
            </a: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en-IN" b="0" i="0" dirty="0" err="1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skewY</a:t>
            </a: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(30)"</a:t>
            </a:r>
            <a:r>
              <a:rPr lang="en-IN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/</a:t>
            </a: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dirty="0"/>
              <a:t/>
            </a:r>
            <a:br>
              <a:rPr lang="en-IN" dirty="0"/>
            </a:b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IN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svg</a:t>
            </a: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666052C0-154A-DE8F-37E6-2D436860E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D827D-3A5E-4197-8547-878A82F055BA}" type="slidenum">
              <a:rPr lang="en-IN" smtClean="0"/>
              <a:pPr/>
              <a:t>59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6082503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1523</TotalTime>
  <Words>3255</Words>
  <Application>Microsoft Office PowerPoint</Application>
  <PresentationFormat>Custom</PresentationFormat>
  <Paragraphs>821</Paragraphs>
  <Slides>59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0" baseType="lpstr">
      <vt:lpstr>Office Theme</vt:lpstr>
      <vt:lpstr>CSS…</vt:lpstr>
      <vt:lpstr>Position property</vt:lpstr>
      <vt:lpstr>Slide 3</vt:lpstr>
      <vt:lpstr>Slide 4</vt:lpstr>
      <vt:lpstr>Slide 5</vt:lpstr>
      <vt:lpstr>Slide 6</vt:lpstr>
      <vt:lpstr>Slide 7</vt:lpstr>
      <vt:lpstr>CSS Positioning Properties</vt:lpstr>
      <vt:lpstr>CSS Overflow</vt:lpstr>
      <vt:lpstr>Overflow</vt:lpstr>
      <vt:lpstr>overflow: visible (Default)</vt:lpstr>
      <vt:lpstr>overflow: hidden</vt:lpstr>
      <vt:lpstr>overflow: scroll</vt:lpstr>
      <vt:lpstr>overflow: auto</vt:lpstr>
      <vt:lpstr>Direction-Specific Overflow</vt:lpstr>
      <vt:lpstr>Overflow-properties</vt:lpstr>
      <vt:lpstr>CSS Float</vt:lpstr>
      <vt:lpstr>CSS Float-left</vt:lpstr>
      <vt:lpstr>CSS Float - right</vt:lpstr>
      <vt:lpstr>CSS none (default)</vt:lpstr>
      <vt:lpstr>CSS inherit</vt:lpstr>
      <vt:lpstr>Align</vt:lpstr>
      <vt:lpstr>Slide 23</vt:lpstr>
      <vt:lpstr>Opacity</vt:lpstr>
      <vt:lpstr>Slide 25</vt:lpstr>
      <vt:lpstr>Border-radius</vt:lpstr>
      <vt:lpstr>Slide 27</vt:lpstr>
      <vt:lpstr>Slide 28</vt:lpstr>
      <vt:lpstr>Slide 29</vt:lpstr>
      <vt:lpstr>Slide 30</vt:lpstr>
      <vt:lpstr>Slide 31</vt:lpstr>
      <vt:lpstr>Flex box</vt:lpstr>
      <vt:lpstr>Slide 33</vt:lpstr>
      <vt:lpstr>Background-attachment</vt:lpstr>
      <vt:lpstr>Z-Index</vt:lpstr>
      <vt:lpstr>Z-Index</vt:lpstr>
      <vt:lpstr>Pseudo-classes</vt:lpstr>
      <vt:lpstr>Pseudoclass example</vt:lpstr>
      <vt:lpstr>Hovering on div element-pseudoclass</vt:lpstr>
      <vt:lpstr>Multi-Column Properties</vt:lpstr>
      <vt:lpstr>CSS Grid/Flex Layout</vt:lpstr>
      <vt:lpstr>Slide 42</vt:lpstr>
      <vt:lpstr>Grid-template-columns</vt:lpstr>
      <vt:lpstr>ANIMATION</vt:lpstr>
      <vt:lpstr>CSS Animation Properties </vt:lpstr>
      <vt:lpstr>Animation delay</vt:lpstr>
      <vt:lpstr>Animation-iteration-count</vt:lpstr>
      <vt:lpstr>Animation-direction</vt:lpstr>
      <vt:lpstr>SVG-Animation</vt:lpstr>
      <vt:lpstr>Slide 50</vt:lpstr>
      <vt:lpstr>Slide 51</vt:lpstr>
      <vt:lpstr>Slide 52</vt:lpstr>
      <vt:lpstr>Animation Transform</vt:lpstr>
      <vt:lpstr>Slide 54</vt:lpstr>
      <vt:lpstr>SVG Transformations</vt:lpstr>
      <vt:lpstr>Scale</vt:lpstr>
      <vt:lpstr>Rotate</vt:lpstr>
      <vt:lpstr>SkewX</vt:lpstr>
      <vt:lpstr>SkewY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3-CSS</dc:title>
  <dc:creator>Anubha Pearline</dc:creator>
  <cp:lastModifiedBy>HP</cp:lastModifiedBy>
  <cp:revision>132</cp:revision>
  <dcterms:created xsi:type="dcterms:W3CDTF">2025-01-11T04:10:07Z</dcterms:created>
  <dcterms:modified xsi:type="dcterms:W3CDTF">2026-01-12T06:13:51Z</dcterms:modified>
</cp:coreProperties>
</file>